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(V5): Liquid cooling is a business model transformation — not merely a product upgrade. This matters for how TMSBU positions itself: component supplier → thermal system partner. V5 focuses on content accuracy: removing overconfident claims, adding proper source qualifiers, and ensuring every statement can withstand executive and customer scrutiny. Target audience: TMSBU leadership, Delta Group executives, key customers/partners.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(V5): 5 key messages. (1) TREND: Next-gen GPU thermal load moves to 1,000W+ class — air cooling physics increasingly challenged. (2) MARKET: Analyst forecast (Gartner/IDC etc.) suggests 60%+ of new AI DCs adopt liquid cooling by 2026 — not yet a confirmed fact. (3) HYBRID: AIR+LIQUID hybrid architecture becomes the standard approach — not one or the other. (4) OPPORTUNITY: $0.8B-$3.2B is a scenario range, NOT a confirmed addressable market. Each scenario requires TMSBU validation: Conservative (8% SAM share) → $0.8B; Base (14%) → $1.8B; Aggressive (25%) → $3.2B. (5) ACTION: 6-18 month design-in window — customer qualification cycles are long, starting NOW is important but does not guarantee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Inflection (V5): Previous-generation AI racks operated in the tens-of-kW range. GB200 NVL72 pushes into 80–130kW-class liquid-cooled rack architecture. Next-generation platforms (Rubin-era) project 100kW+ to 160kW-class — this is an industry projection, not a confirmed NVIDIA roadmap commitment. Key clarification: '1,000W+ GPU TDP' refers to the next-generation GPU class thermal load — this should be labeled as industry projection. '160kW rack power' is an estimate based on GPU count × GPU TDP + supporting systems — needs internal validation. TAM $39.1B comes from MarketsandMarkets analyst forecast — verify the publication date and assumptions. The key insight for executives: even at the low end of these ranges, liquid cooling shifts from optional to practically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Cooling (V5): Key correction — removed radar chart reference (V4 chart was a bar comparison, not a radar). Core message: The future is NOT air vs. liquid. Liquid cooling handles high-power hotspots (GPU, CPU die-level). Air cooling remains critical for the rest of the system: memory modules, PCB components, power delivery, networking, and storage. This means TMSBU's air-cooling business (fan, heat sink, vapor chamber) does NOT decline with liquid cooling adoption — air-cooling demand per server may actually increase as more non-GPU components need thermal management. Specific numbers for HBM power (kW per module) have been removed — these are application-dependent and vary by GPU architecture. All statements in this slide are qualitative engineering assessments, not quantified performance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(V5): Title changed to 'Chip-to-Rack' for accuracy. Flow revised: Cold Plate → Server Manifold → Rack CDU → Facility Water Loop → Monitoring / Leak Detection. Quick Connector removed from main flow — its primary role is server-to-rack connection and serviceability (hot-swap), not thermal management. All specific numbers removed: thermal resistance values, CDU capacity, leak rates, coolant temperature targets. These are application-dependent. Correct framing: actual CDU capacity, coolant temperatures, connector leak performance, and thermal resistance values all depend on: (1) customer thermal specification, (2) coolant selection (water, dielectric, two-phase), (3) connector qualification standard (Staubli, independent, or OEM-specific), (4) facility water supply strategy (chilled water, cooling tower, heat exchanger). Do not present these as fixed industry benchmarks without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 Mapping (V5): Language corrected. 'CDU + Quick Connector + Manifold = highest value' was too absolute. Correct framing: CDU, manifold, and connector integration represent high-value expansion areas, but TMSBU does not currently have all these capabilities in-house. Options: (1) Build internally — requires thermal engineering investment and time. (2) Partner — with established CDU or connector specialists. (3) Acquire — for faster capability build-out. The choice of path affects timeline and investment requirements. Value ladder progression: NOW (components — existing) → NEXT (module — natural extension) → PHASE 2 (system — capability gap to close) → TARGET (solution — business model transformation). Each layer builds capability and revenue for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Synergy (V5): Two corrections. (1) Removed '唯一' (only/unique) — competitors like Vertiv, Schneider, and nVent have related capabilities. 'Only Delta can...' is an overstatement. Correct framing: Delta has the potential (潛力) to integrate chip-level thermal design with rack-level power, control, and DC infrastructure — but this potential needs to be validated through execution. (2) Changed '護城河' (moat) to '差異化優勢' (differentiated advantage) — 'moat' implies defensibility that has not yet been established. The 4-pillar framework (Power, Thermal, Control, DC Infrastructure) remains valid as a descriptive analysis, not a competitive guarantee. The key message: Delta's multi-pillar presence creates a differentiated positioning vs. pure-play thermal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Opportunity (V5): Major corrections to source labeling. (1) TAM $39.1B: labeled as 'analyst forecast' — this is MarketsandMarkets data, verify publication date and scope (some TAM estimates include facility-wide cooling infrastructure, not just chip-to-rack components). (2) SAM $12.8B: labeled as 'TMSBU estimate' — this is not a third-party figure, it is ~33% of TAM as a rough analytical assumption. (3) SOM $0.8B-$3.2B: labeled as 'scenario-based assumption' — these are NOT confirmed revenue opportunities. They represent theoretical market capture at 3 different share assumptions (8%, 14%, 25%). (4) Removed 'SOM = 14% of SAM based on Delta's current share in server thermal components' — this is an unsupported analytical shortcut. The correct basis: base-case share assumption of 14% of SAM requires validation against (a) TMSBU's actual current share in server thermal components and (b) the actual customer pipeline for liquid cooling products. (5) Aggressive case at 25% labeled: 'Assumes successful system-solution expansion and multiple tier-1 design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Assessment (V5): Three language corrections. (1) 'CDU Capability' — removed specific vendor names (CoolIT, Condair) as potential partners unless they have been specifically scouted and evaluated for AI server rack CDU applications. Correct framing: TMSBU should engage with CDU or liquid cooling specialists. The partner landscape includes multiple established and emerging players — a structured evaluation is needed. (2) 'Leak Reliability' — removed '$500K server damage' specific figure. Correct framing: A leak incident can cause severe damage to high-value AI servers and customer trust risk. The magnitude depends on the specific server configuration and customer SLA. (3) 'China supply chain' — reworded from 'price war' to 'cost-down pressure from China-based suppliers in cold plate and manifold segments.' 'Price war' implies a race to the bottom that may not materialize — cost-down pressure is a more measured way to describe the competitive threat. (4) All other risk items (customer qualification cycle, coolant compatibility, thermal simulation, integration responsibility, global support, talent) remain as documented in the heatmap.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(V5): Two important language corrections. (1) Removed '失去 GB300/Rubin 平台供應商資格' — this is too absolute. In practice, losing a platform does not mean permanent disqualification; it means missing early design-in and reference engagement windows, which has real but not catastrophic consequences. Correct framing: 'Delay may cause TMSBU to miss early design-in and reference engagement windows for GB300/Rubin-class platforms.' This is more accurate and still conveys urgency. (2) Retained the '90-day decision' framing for CDU strategy: the decision of build / partner / acquire must be locked within 90 days. This is a leadership commitment ask, not a guarantee. The 4-lane roadmap (Technology / Customer / Product / Business Model) across 4 phases remains as planned. Note: GB300 does not yet exist as an officially announced NVIDIA product — Rubin is the confirmed next-generation architecture. Treat GB300 as a potential future platform designation.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840480" y="0"/>
            <a:ext cx="5303520" cy="5143500"/>
          </a:xfrm>
          <a:prstGeom prst="rect">
            <a:avLst/>
          </a:prstGeom>
        </p:spPr>
      </p:pic>
      <p:sp>
        <p:nvSpPr>
          <p:cNvPr id="3" name="Shape 0"/>
          <p:cNvSpPr/>
          <p:nvPr/>
        </p:nvSpPr>
        <p:spPr>
          <a:xfrm>
            <a:off x="0" y="0"/>
            <a:ext cx="3840480" cy="5143500"/>
          </a:xfrm>
          <a:prstGeom prst="rect">
            <a:avLst/>
          </a:prstGeom>
          <a:solidFill>
            <a:srgbClr val="000000">
              <a:alpha val="35000"/>
            </a:srgbClr>
          </a:solidFill>
          <a:ln/>
        </p:spPr>
      </p:sp>
      <p:sp>
        <p:nvSpPr>
          <p:cNvPr id="4" name="Shape 1"/>
          <p:cNvSpPr/>
          <p:nvPr/>
        </p:nvSpPr>
        <p:spPr>
          <a:xfrm>
            <a:off x="0" y="0"/>
            <a:ext cx="91440" cy="5143500"/>
          </a:xfrm>
          <a:prstGeom prst="rect">
            <a:avLst/>
          </a:prstGeom>
          <a:solidFill>
            <a:srgbClr val="00E5FF"/>
          </a:solidFill>
          <a:ln/>
        </p:spPr>
      </p:sp>
      <p:sp>
        <p:nvSpPr>
          <p:cNvPr id="5" name="Text 2"/>
          <p:cNvSpPr/>
          <p:nvPr/>
        </p:nvSpPr>
        <p:spPr>
          <a:xfrm>
            <a:off x="320040" y="1005840"/>
            <a:ext cx="3383280" cy="658368"/>
          </a:xfrm>
          <a:prstGeom prst="rect">
            <a:avLst/>
          </a:prstGeom>
          <a:noFill/>
          <a:ln/>
        </p:spPr>
        <p:txBody>
          <a:bodyPr wrap="square" lIns="0" tIns="0" rIns="0" bIns="0" rtlCol="0" anchor="ctr"/>
          <a:lstStyle/>
          <a:p>
            <a:pPr indent="0" marL="0">
              <a:buNone/>
            </a:pPr>
            <a:r>
              <a:rPr lang="en-US" sz="4400" b="1" dirty="0">
                <a:solidFill>
                  <a:srgbClr val="FFFFFF"/>
                </a:solidFill>
              </a:rPr>
              <a:t>AI Server</a:t>
            </a:r>
            <a:endParaRPr lang="en-US" sz="4400" dirty="0"/>
          </a:p>
        </p:txBody>
      </p:sp>
      <p:sp>
        <p:nvSpPr>
          <p:cNvPr id="6" name="Text 3"/>
          <p:cNvSpPr/>
          <p:nvPr/>
        </p:nvSpPr>
        <p:spPr>
          <a:xfrm>
            <a:off x="320040" y="1600200"/>
            <a:ext cx="3383280" cy="658368"/>
          </a:xfrm>
          <a:prstGeom prst="rect">
            <a:avLst/>
          </a:prstGeom>
          <a:noFill/>
          <a:ln/>
        </p:spPr>
        <p:txBody>
          <a:bodyPr wrap="square" lIns="0" tIns="0" rIns="0" bIns="0" rtlCol="0" anchor="ctr"/>
          <a:lstStyle/>
          <a:p>
            <a:pPr indent="0" marL="0">
              <a:buNone/>
            </a:pPr>
            <a:r>
              <a:rPr lang="en-US" sz="4400" b="1" dirty="0">
                <a:solidFill>
                  <a:srgbClr val="00E5FF"/>
                </a:solidFill>
              </a:rPr>
              <a:t>Liquid Cooling</a:t>
            </a:r>
            <a:endParaRPr lang="en-US" sz="4400" dirty="0"/>
          </a:p>
        </p:txBody>
      </p:sp>
      <p:sp>
        <p:nvSpPr>
          <p:cNvPr id="7" name="Text 4"/>
          <p:cNvSpPr/>
          <p:nvPr/>
        </p:nvSpPr>
        <p:spPr>
          <a:xfrm>
            <a:off x="320040" y="2176272"/>
            <a:ext cx="3383280" cy="548640"/>
          </a:xfrm>
          <a:prstGeom prst="rect">
            <a:avLst/>
          </a:prstGeom>
          <a:noFill/>
          <a:ln/>
        </p:spPr>
        <p:txBody>
          <a:bodyPr wrap="square" lIns="0" tIns="0" rIns="0" bIns="0" rtlCol="0" anchor="ctr"/>
          <a:lstStyle/>
          <a:p>
            <a:pPr indent="0" marL="0">
              <a:buNone/>
            </a:pPr>
            <a:r>
              <a:rPr lang="en-US" sz="3000" b="1" dirty="0">
                <a:solidFill>
                  <a:srgbClr val="FFFFFF"/>
                </a:solidFill>
              </a:rPr>
              <a:t>Strategic Roadmap</a:t>
            </a:r>
            <a:endParaRPr lang="en-US" sz="3000" dirty="0"/>
          </a:p>
        </p:txBody>
      </p:sp>
      <p:sp>
        <p:nvSpPr>
          <p:cNvPr id="8" name="Text 5"/>
          <p:cNvSpPr/>
          <p:nvPr/>
        </p:nvSpPr>
        <p:spPr>
          <a:xfrm>
            <a:off x="320040" y="2834640"/>
            <a:ext cx="3383280" cy="320040"/>
          </a:xfrm>
          <a:prstGeom prst="rect">
            <a:avLst/>
          </a:prstGeom>
          <a:noFill/>
          <a:ln/>
        </p:spPr>
        <p:txBody>
          <a:bodyPr wrap="square" lIns="0" tIns="0" rIns="0" bIns="0" rtlCol="0" anchor="ctr"/>
          <a:lstStyle/>
          <a:p>
            <a:pPr indent="0" marL="0">
              <a:buNone/>
            </a:pPr>
            <a:r>
              <a:rPr lang="en-US" sz="1600" dirty="0">
                <a:solidFill>
                  <a:srgbClr val="9CA3AF"/>
                </a:solidFill>
              </a:rPr>
              <a:t>TMSBU Commercial Opportunity Analysis</a:t>
            </a:r>
            <a:endParaRPr lang="en-US" sz="1600" dirty="0"/>
          </a:p>
        </p:txBody>
      </p:sp>
      <p:sp>
        <p:nvSpPr>
          <p:cNvPr id="9" name="Shape 6"/>
          <p:cNvSpPr/>
          <p:nvPr/>
        </p:nvSpPr>
        <p:spPr>
          <a:xfrm>
            <a:off x="0" y="4617720"/>
            <a:ext cx="3840480" cy="525780"/>
          </a:xfrm>
          <a:prstGeom prst="rect">
            <a:avLst/>
          </a:prstGeom>
          <a:solidFill>
            <a:srgbClr val="00E5FF">
              <a:alpha val="15000"/>
            </a:srgbClr>
          </a:solidFill>
          <a:ln/>
        </p:spPr>
      </p:sp>
      <p:sp>
        <p:nvSpPr>
          <p:cNvPr id="10" name="Text 7"/>
          <p:cNvSpPr/>
          <p:nvPr/>
        </p:nvSpPr>
        <p:spPr>
          <a:xfrm>
            <a:off x="320040" y="4663440"/>
            <a:ext cx="3383280" cy="411480"/>
          </a:xfrm>
          <a:prstGeom prst="rect">
            <a:avLst/>
          </a:prstGeom>
          <a:noFill/>
          <a:ln/>
        </p:spPr>
        <p:txBody>
          <a:bodyPr wrap="square" lIns="0" tIns="0" rIns="0" bIns="0" rtlCol="0" anchor="ctr"/>
          <a:lstStyle/>
          <a:p>
            <a:pPr indent="0" marL="0">
              <a:buNone/>
            </a:pPr>
            <a:r>
              <a:rPr lang="en-US" sz="1000" b="1" dirty="0">
                <a:solidFill>
                  <a:srgbClr val="00E5FF"/>
                </a:solidFill>
              </a:rPr>
              <a:t>Delta Electronics  ·  TMSBU  ·  Confidential  ·  2026</a:t>
            </a:r>
            <a:endParaRPr lang="en-US" sz="1000" dirty="0"/>
          </a:p>
        </p:txBody>
      </p:sp>
      <p:sp>
        <p:nvSpPr>
          <p:cNvPr id="11" name="Text 8"/>
          <p:cNvSpPr/>
          <p:nvPr/>
        </p:nvSpPr>
        <p:spPr>
          <a:xfrm>
            <a:off x="3246120" y="4709160"/>
            <a:ext cx="502920" cy="347472"/>
          </a:xfrm>
          <a:prstGeom prst="rect">
            <a:avLst/>
          </a:prstGeom>
          <a:solidFill>
            <a:srgbClr val="00E5FF"/>
          </a:solidFill>
          <a:ln/>
        </p:spPr>
        <p:txBody>
          <a:bodyPr wrap="square" lIns="0" tIns="0" rIns="0" bIns="0" rtlCol="0" anchor="ctr"/>
          <a:lstStyle/>
          <a:p>
            <a:pPr algn="ctr" indent="0" marL="0">
              <a:buNone/>
            </a:pPr>
            <a:r>
              <a:rPr lang="en-US" sz="1400" b="1" dirty="0">
                <a:solidFill>
                  <a:srgbClr val="0B0E1A"/>
                </a:solidFill>
              </a:rPr>
              <a:t>V5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E5FF"/>
          </a:solidFill>
          <a:ln w="12700">
            <a:solidFill>
              <a:srgbClr val="00E5FF"/>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02</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Executive Summary</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液冷是商業模式轉型，不是產品升級</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41248"/>
            <a:ext cx="2697480" cy="1444752"/>
          </a:xfrm>
          <a:prstGeom prst="rect">
            <a:avLst/>
          </a:prstGeom>
          <a:solidFill>
            <a:srgbClr val="111827"/>
          </a:solidFill>
          <a:ln w="19050">
            <a:solidFill>
              <a:srgbClr val="00E5FF"/>
            </a:solidFill>
            <a:prstDash val="solid"/>
          </a:ln>
        </p:spPr>
      </p:sp>
      <p:sp>
        <p:nvSpPr>
          <p:cNvPr id="8" name="Shape 6"/>
          <p:cNvSpPr/>
          <p:nvPr/>
        </p:nvSpPr>
        <p:spPr>
          <a:xfrm>
            <a:off x="347472" y="841248"/>
            <a:ext cx="2697480" cy="64008"/>
          </a:xfrm>
          <a:prstGeom prst="rect">
            <a:avLst/>
          </a:prstGeom>
          <a:solidFill>
            <a:srgbClr val="00E5FF"/>
          </a:solidFill>
          <a:ln/>
        </p:spPr>
      </p:sp>
      <p:sp>
        <p:nvSpPr>
          <p:cNvPr id="9" name="Text 7"/>
          <p:cNvSpPr/>
          <p:nvPr/>
        </p:nvSpPr>
        <p:spPr>
          <a:xfrm>
            <a:off x="438912" y="932688"/>
            <a:ext cx="2514600" cy="201168"/>
          </a:xfrm>
          <a:prstGeom prst="rect">
            <a:avLst/>
          </a:prstGeom>
          <a:solidFill>
            <a:srgbClr val="00E5FF"/>
          </a:solidFill>
          <a:ln/>
        </p:spPr>
        <p:txBody>
          <a:bodyPr wrap="square" lIns="0" tIns="0" rIns="0" bIns="0" rtlCol="0" anchor="ctr"/>
          <a:lstStyle/>
          <a:p>
            <a:pPr algn="ctr" indent="0" marL="0">
              <a:buNone/>
            </a:pPr>
            <a:r>
              <a:rPr lang="en-US" sz="900" b="1" dirty="0">
                <a:solidFill>
                  <a:srgbClr val="0B0E1A"/>
                </a:solidFill>
              </a:rPr>
              <a:t>TREND</a:t>
            </a:r>
            <a:endParaRPr lang="en-US" sz="900" dirty="0"/>
          </a:p>
        </p:txBody>
      </p:sp>
      <p:sp>
        <p:nvSpPr>
          <p:cNvPr id="10" name="Text 8"/>
          <p:cNvSpPr/>
          <p:nvPr/>
        </p:nvSpPr>
        <p:spPr>
          <a:xfrm>
            <a:off x="347472" y="1188720"/>
            <a:ext cx="2697480" cy="606796"/>
          </a:xfrm>
          <a:prstGeom prst="rect">
            <a:avLst/>
          </a:prstGeom>
          <a:noFill/>
          <a:ln/>
        </p:spPr>
        <p:txBody>
          <a:bodyPr wrap="square" lIns="0" tIns="0" rIns="0" bIns="0" rtlCol="0" anchor="ctr"/>
          <a:lstStyle/>
          <a:p>
            <a:pPr algn="ctr" indent="0" marL="0">
              <a:buNone/>
            </a:pPr>
            <a:r>
              <a:rPr lang="en-US" sz="3200" b="1" dirty="0">
                <a:solidFill>
                  <a:srgbClr val="00E5FF"/>
                </a:solidFill>
              </a:rPr>
              <a:t>1,000W+</a:t>
            </a:r>
            <a:endParaRPr lang="en-US" sz="3200" dirty="0"/>
          </a:p>
        </p:txBody>
      </p:sp>
      <p:sp>
        <p:nvSpPr>
          <p:cNvPr id="11" name="Text 9"/>
          <p:cNvSpPr/>
          <p:nvPr/>
        </p:nvSpPr>
        <p:spPr>
          <a:xfrm>
            <a:off x="438912" y="1874520"/>
            <a:ext cx="2514600" cy="347472"/>
          </a:xfrm>
          <a:prstGeom prst="rect">
            <a:avLst/>
          </a:prstGeom>
          <a:noFill/>
          <a:ln/>
        </p:spPr>
        <p:txBody>
          <a:bodyPr wrap="square" lIns="0" tIns="0" rIns="0" bIns="0" rtlCol="0" anchor="t"/>
          <a:lstStyle/>
          <a:p>
            <a:pPr algn="ctr" indent="0" marL="0">
              <a:buNone/>
            </a:pPr>
            <a:r>
              <a:rPr lang="en-US" sz="1000" dirty="0">
                <a:solidFill>
                  <a:srgbClr val="9CA3AF"/>
                </a:solidFill>
              </a:rPr>
              <a:t>Next-gen GPU</a:t>
            </a:r>
            <a:endParaRPr lang="en-US" sz="1000" dirty="0"/>
          </a:p>
          <a:p>
            <a:pPr algn="ctr" indent="0" marL="0">
              <a:buNone/>
            </a:pPr>
            <a:r>
              <a:rPr lang="en-US" sz="1000" dirty="0">
                <a:solidFill>
                  <a:srgbClr val="9CA3AF"/>
                </a:solidFill>
              </a:rPr>
              <a:t>thermal load</a:t>
            </a:r>
            <a:endParaRPr lang="en-US" sz="1000" dirty="0"/>
          </a:p>
        </p:txBody>
      </p:sp>
      <p:sp>
        <p:nvSpPr>
          <p:cNvPr id="12" name="Shape 10"/>
          <p:cNvSpPr/>
          <p:nvPr/>
        </p:nvSpPr>
        <p:spPr>
          <a:xfrm>
            <a:off x="3218688" y="841248"/>
            <a:ext cx="2697480" cy="1444752"/>
          </a:xfrm>
          <a:prstGeom prst="rect">
            <a:avLst/>
          </a:prstGeom>
          <a:solidFill>
            <a:srgbClr val="111827"/>
          </a:solidFill>
          <a:ln w="19050">
            <a:solidFill>
              <a:srgbClr val="4FC3F7"/>
            </a:solidFill>
            <a:prstDash val="solid"/>
          </a:ln>
        </p:spPr>
      </p:sp>
      <p:sp>
        <p:nvSpPr>
          <p:cNvPr id="13" name="Shape 11"/>
          <p:cNvSpPr/>
          <p:nvPr/>
        </p:nvSpPr>
        <p:spPr>
          <a:xfrm>
            <a:off x="3218688" y="841248"/>
            <a:ext cx="2697480" cy="64008"/>
          </a:xfrm>
          <a:prstGeom prst="rect">
            <a:avLst/>
          </a:prstGeom>
          <a:solidFill>
            <a:srgbClr val="4FC3F7"/>
          </a:solidFill>
          <a:ln/>
        </p:spPr>
      </p:sp>
      <p:sp>
        <p:nvSpPr>
          <p:cNvPr id="14" name="Text 12"/>
          <p:cNvSpPr/>
          <p:nvPr/>
        </p:nvSpPr>
        <p:spPr>
          <a:xfrm>
            <a:off x="3310128" y="932688"/>
            <a:ext cx="2514600" cy="201168"/>
          </a:xfrm>
          <a:prstGeom prst="rect">
            <a:avLst/>
          </a:prstGeom>
          <a:solidFill>
            <a:srgbClr val="4FC3F7"/>
          </a:solidFill>
          <a:ln/>
        </p:spPr>
        <p:txBody>
          <a:bodyPr wrap="square" lIns="0" tIns="0" rIns="0" bIns="0" rtlCol="0" anchor="ctr"/>
          <a:lstStyle/>
          <a:p>
            <a:pPr algn="ctr" indent="0" marL="0">
              <a:buNone/>
            </a:pPr>
            <a:r>
              <a:rPr lang="en-US" sz="900" b="1" dirty="0">
                <a:solidFill>
                  <a:srgbClr val="0B0E1A"/>
                </a:solidFill>
              </a:rPr>
              <a:t>MARKET</a:t>
            </a:r>
            <a:endParaRPr lang="en-US" sz="900" dirty="0"/>
          </a:p>
        </p:txBody>
      </p:sp>
      <p:sp>
        <p:nvSpPr>
          <p:cNvPr id="15" name="Text 13"/>
          <p:cNvSpPr/>
          <p:nvPr/>
        </p:nvSpPr>
        <p:spPr>
          <a:xfrm>
            <a:off x="3218688" y="1188720"/>
            <a:ext cx="2697480" cy="606796"/>
          </a:xfrm>
          <a:prstGeom prst="rect">
            <a:avLst/>
          </a:prstGeom>
          <a:noFill/>
          <a:ln/>
        </p:spPr>
        <p:txBody>
          <a:bodyPr wrap="square" lIns="0" tIns="0" rIns="0" bIns="0" rtlCol="0" anchor="ctr"/>
          <a:lstStyle/>
          <a:p>
            <a:pPr algn="ctr" indent="0" marL="0">
              <a:buNone/>
            </a:pPr>
            <a:r>
              <a:rPr lang="en-US" sz="3200" b="1" dirty="0">
                <a:solidFill>
                  <a:srgbClr val="4FC3F7"/>
                </a:solidFill>
              </a:rPr>
              <a:t>60%*</a:t>
            </a:r>
            <a:endParaRPr lang="en-US" sz="3200" dirty="0"/>
          </a:p>
        </p:txBody>
      </p:sp>
      <p:sp>
        <p:nvSpPr>
          <p:cNvPr id="16" name="Text 14"/>
          <p:cNvSpPr/>
          <p:nvPr/>
        </p:nvSpPr>
        <p:spPr>
          <a:xfrm>
            <a:off x="3310128" y="1874520"/>
            <a:ext cx="2514600" cy="347472"/>
          </a:xfrm>
          <a:prstGeom prst="rect">
            <a:avLst/>
          </a:prstGeom>
          <a:noFill/>
          <a:ln/>
        </p:spPr>
        <p:txBody>
          <a:bodyPr wrap="square" lIns="0" tIns="0" rIns="0" bIns="0" rtlCol="0" anchor="t"/>
          <a:lstStyle/>
          <a:p>
            <a:pPr algn="ctr" indent="0" marL="0">
              <a:buNone/>
            </a:pPr>
            <a:r>
              <a:rPr lang="en-US" sz="1000" dirty="0">
                <a:solidFill>
                  <a:srgbClr val="9CA3AF"/>
                </a:solidFill>
              </a:rPr>
              <a:t>Liquid cooling adoption</a:t>
            </a:r>
            <a:endParaRPr lang="en-US" sz="1000" dirty="0"/>
          </a:p>
          <a:p>
            <a:pPr algn="ctr" indent="0" marL="0">
              <a:buNone/>
            </a:pPr>
            <a:r>
              <a:rPr lang="en-US" sz="1000" dirty="0">
                <a:solidFill>
                  <a:srgbClr val="9CA3AF"/>
                </a:solidFill>
              </a:rPr>
              <a:t>by 2026</a:t>
            </a:r>
            <a:endParaRPr lang="en-US" sz="1000" dirty="0"/>
          </a:p>
          <a:p>
            <a:pPr algn="ctr" indent="0" marL="0">
              <a:buNone/>
            </a:pPr>
            <a:r>
              <a:rPr lang="en-US" sz="1000" dirty="0">
                <a:solidFill>
                  <a:srgbClr val="9CA3AF"/>
                </a:solidFill>
              </a:rPr>
              <a:t>*Analyst forecast</a:t>
            </a:r>
            <a:endParaRPr lang="en-US" sz="1000" dirty="0"/>
          </a:p>
        </p:txBody>
      </p:sp>
      <p:sp>
        <p:nvSpPr>
          <p:cNvPr id="17" name="Shape 15"/>
          <p:cNvSpPr/>
          <p:nvPr/>
        </p:nvSpPr>
        <p:spPr>
          <a:xfrm>
            <a:off x="6089904" y="841248"/>
            <a:ext cx="2697480" cy="1444752"/>
          </a:xfrm>
          <a:prstGeom prst="rect">
            <a:avLst/>
          </a:prstGeom>
          <a:solidFill>
            <a:srgbClr val="111827"/>
          </a:solidFill>
          <a:ln w="19050">
            <a:solidFill>
              <a:srgbClr val="00E676"/>
            </a:solidFill>
            <a:prstDash val="solid"/>
          </a:ln>
        </p:spPr>
      </p:sp>
      <p:sp>
        <p:nvSpPr>
          <p:cNvPr id="18" name="Shape 16"/>
          <p:cNvSpPr/>
          <p:nvPr/>
        </p:nvSpPr>
        <p:spPr>
          <a:xfrm>
            <a:off x="6089904" y="841248"/>
            <a:ext cx="2697480" cy="64008"/>
          </a:xfrm>
          <a:prstGeom prst="rect">
            <a:avLst/>
          </a:prstGeom>
          <a:solidFill>
            <a:srgbClr val="00E676"/>
          </a:solidFill>
          <a:ln/>
        </p:spPr>
      </p:sp>
      <p:sp>
        <p:nvSpPr>
          <p:cNvPr id="19" name="Text 17"/>
          <p:cNvSpPr/>
          <p:nvPr/>
        </p:nvSpPr>
        <p:spPr>
          <a:xfrm>
            <a:off x="6181344" y="932688"/>
            <a:ext cx="2514600" cy="201168"/>
          </a:xfrm>
          <a:prstGeom prst="rect">
            <a:avLst/>
          </a:prstGeom>
          <a:solidFill>
            <a:srgbClr val="00E676"/>
          </a:solidFill>
          <a:ln/>
        </p:spPr>
        <p:txBody>
          <a:bodyPr wrap="square" lIns="0" tIns="0" rIns="0" bIns="0" rtlCol="0" anchor="ctr"/>
          <a:lstStyle/>
          <a:p>
            <a:pPr algn="ctr" indent="0" marL="0">
              <a:buNone/>
            </a:pPr>
            <a:r>
              <a:rPr lang="en-US" sz="900" b="1" dirty="0">
                <a:solidFill>
                  <a:srgbClr val="0B0E1A"/>
                </a:solidFill>
              </a:rPr>
              <a:t>HYBRID</a:t>
            </a:r>
            <a:endParaRPr lang="en-US" sz="900" dirty="0"/>
          </a:p>
        </p:txBody>
      </p:sp>
      <p:sp>
        <p:nvSpPr>
          <p:cNvPr id="20" name="Text 18"/>
          <p:cNvSpPr/>
          <p:nvPr/>
        </p:nvSpPr>
        <p:spPr>
          <a:xfrm>
            <a:off x="6089904" y="1188720"/>
            <a:ext cx="2697480" cy="606796"/>
          </a:xfrm>
          <a:prstGeom prst="rect">
            <a:avLst/>
          </a:prstGeom>
          <a:noFill/>
          <a:ln/>
        </p:spPr>
        <p:txBody>
          <a:bodyPr wrap="square" lIns="0" tIns="0" rIns="0" bIns="0" rtlCol="0" anchor="ctr"/>
          <a:lstStyle/>
          <a:p>
            <a:pPr algn="ctr" indent="0" marL="0">
              <a:buNone/>
            </a:pPr>
            <a:r>
              <a:rPr lang="en-US" sz="3200" b="1" dirty="0">
                <a:solidFill>
                  <a:srgbClr val="00E676"/>
                </a:solidFill>
              </a:rPr>
              <a:t>AIR + LIQUID</a:t>
            </a:r>
            <a:endParaRPr lang="en-US" sz="3200" dirty="0"/>
          </a:p>
        </p:txBody>
      </p:sp>
      <p:sp>
        <p:nvSpPr>
          <p:cNvPr id="21" name="Text 19"/>
          <p:cNvSpPr/>
          <p:nvPr/>
        </p:nvSpPr>
        <p:spPr>
          <a:xfrm>
            <a:off x="6181344" y="1874520"/>
            <a:ext cx="2514600" cy="347472"/>
          </a:xfrm>
          <a:prstGeom prst="rect">
            <a:avLst/>
          </a:prstGeom>
          <a:noFill/>
          <a:ln/>
        </p:spPr>
        <p:txBody>
          <a:bodyPr wrap="square" lIns="0" tIns="0" rIns="0" bIns="0" rtlCol="0" anchor="t"/>
          <a:lstStyle/>
          <a:p>
            <a:pPr algn="ctr" indent="0" marL="0">
              <a:buNone/>
            </a:pPr>
            <a:r>
              <a:rPr lang="en-US" sz="1000" dirty="0">
                <a:solidFill>
                  <a:srgbClr val="9CA3AF"/>
                </a:solidFill>
              </a:rPr>
              <a:t>Hybrid architecture</a:t>
            </a:r>
            <a:endParaRPr lang="en-US" sz="1000" dirty="0"/>
          </a:p>
          <a:p>
            <a:pPr algn="ctr" indent="0" marL="0">
              <a:buNone/>
            </a:pPr>
            <a:r>
              <a:rPr lang="en-US" sz="1000" dirty="0">
                <a:solidFill>
                  <a:srgbClr val="9CA3AF"/>
                </a:solidFill>
              </a:rPr>
              <a:t>becomes standard</a:t>
            </a:r>
            <a:endParaRPr lang="en-US" sz="1000" dirty="0"/>
          </a:p>
        </p:txBody>
      </p:sp>
      <p:sp>
        <p:nvSpPr>
          <p:cNvPr id="22" name="Shape 20"/>
          <p:cNvSpPr/>
          <p:nvPr/>
        </p:nvSpPr>
        <p:spPr>
          <a:xfrm>
            <a:off x="1783080" y="2423160"/>
            <a:ext cx="2788920" cy="1444752"/>
          </a:xfrm>
          <a:prstGeom prst="rect">
            <a:avLst/>
          </a:prstGeom>
          <a:solidFill>
            <a:srgbClr val="111827"/>
          </a:solidFill>
          <a:ln w="19050">
            <a:solidFill>
              <a:srgbClr val="F59E0B"/>
            </a:solidFill>
            <a:prstDash val="solid"/>
          </a:ln>
        </p:spPr>
      </p:sp>
      <p:sp>
        <p:nvSpPr>
          <p:cNvPr id="23" name="Shape 21"/>
          <p:cNvSpPr/>
          <p:nvPr/>
        </p:nvSpPr>
        <p:spPr>
          <a:xfrm>
            <a:off x="1783080" y="2423160"/>
            <a:ext cx="2788920" cy="64008"/>
          </a:xfrm>
          <a:prstGeom prst="rect">
            <a:avLst/>
          </a:prstGeom>
          <a:solidFill>
            <a:srgbClr val="F59E0B"/>
          </a:solidFill>
          <a:ln/>
        </p:spPr>
      </p:sp>
      <p:sp>
        <p:nvSpPr>
          <p:cNvPr id="24" name="Text 22"/>
          <p:cNvSpPr/>
          <p:nvPr/>
        </p:nvSpPr>
        <p:spPr>
          <a:xfrm>
            <a:off x="1874520" y="2514600"/>
            <a:ext cx="2606040" cy="201168"/>
          </a:xfrm>
          <a:prstGeom prst="rect">
            <a:avLst/>
          </a:prstGeom>
          <a:solidFill>
            <a:srgbClr val="F59E0B"/>
          </a:solidFill>
          <a:ln/>
        </p:spPr>
        <p:txBody>
          <a:bodyPr wrap="square" lIns="0" tIns="0" rIns="0" bIns="0" rtlCol="0" anchor="ctr"/>
          <a:lstStyle/>
          <a:p>
            <a:pPr algn="ctr" indent="0" marL="0">
              <a:buNone/>
            </a:pPr>
            <a:r>
              <a:rPr lang="en-US" sz="900" b="1" dirty="0">
                <a:solidFill>
                  <a:srgbClr val="0B0E1A"/>
                </a:solidFill>
              </a:rPr>
              <a:t>OPPORTUNITY</a:t>
            </a:r>
            <a:endParaRPr lang="en-US" sz="900" dirty="0"/>
          </a:p>
        </p:txBody>
      </p:sp>
      <p:sp>
        <p:nvSpPr>
          <p:cNvPr id="25" name="Text 23"/>
          <p:cNvSpPr/>
          <p:nvPr/>
        </p:nvSpPr>
        <p:spPr>
          <a:xfrm>
            <a:off x="1783080" y="2770632"/>
            <a:ext cx="2788920" cy="606796"/>
          </a:xfrm>
          <a:prstGeom prst="rect">
            <a:avLst/>
          </a:prstGeom>
          <a:noFill/>
          <a:ln/>
        </p:spPr>
        <p:txBody>
          <a:bodyPr wrap="square" lIns="0" tIns="0" rIns="0" bIns="0" rtlCol="0" anchor="ctr"/>
          <a:lstStyle/>
          <a:p>
            <a:pPr algn="ctr" indent="0" marL="0">
              <a:buNone/>
            </a:pPr>
            <a:r>
              <a:rPr lang="en-US" sz="3200" b="1" dirty="0">
                <a:solidFill>
                  <a:srgbClr val="F59E0B"/>
                </a:solidFill>
              </a:rPr>
              <a:t>$0.8B–$3.2B</a:t>
            </a:r>
            <a:endParaRPr lang="en-US" sz="3200" dirty="0"/>
          </a:p>
        </p:txBody>
      </p:sp>
      <p:sp>
        <p:nvSpPr>
          <p:cNvPr id="26" name="Text 24"/>
          <p:cNvSpPr/>
          <p:nvPr/>
        </p:nvSpPr>
        <p:spPr>
          <a:xfrm>
            <a:off x="1874520" y="3456432"/>
            <a:ext cx="2606040" cy="347472"/>
          </a:xfrm>
          <a:prstGeom prst="rect">
            <a:avLst/>
          </a:prstGeom>
          <a:noFill/>
          <a:ln/>
        </p:spPr>
        <p:txBody>
          <a:bodyPr wrap="square" lIns="0" tIns="0" rIns="0" bIns="0" rtlCol="0" anchor="t"/>
          <a:lstStyle/>
          <a:p>
            <a:pPr algn="ctr" indent="0" marL="0">
              <a:buNone/>
            </a:pPr>
            <a:r>
              <a:rPr lang="en-US" sz="1000" dirty="0">
                <a:solidFill>
                  <a:srgbClr val="9CA3AF"/>
                </a:solidFill>
              </a:rPr>
              <a:t>Scenario-based</a:t>
            </a:r>
            <a:endParaRPr lang="en-US" sz="1000" dirty="0"/>
          </a:p>
          <a:p>
            <a:pPr algn="ctr" indent="0" marL="0">
              <a:buNone/>
            </a:pPr>
            <a:r>
              <a:rPr lang="en-US" sz="1000" dirty="0">
                <a:solidFill>
                  <a:srgbClr val="9CA3AF"/>
                </a:solidFill>
              </a:rPr>
              <a:t>TMSBU opportunity</a:t>
            </a:r>
            <a:endParaRPr lang="en-US" sz="1000" dirty="0"/>
          </a:p>
        </p:txBody>
      </p:sp>
      <p:sp>
        <p:nvSpPr>
          <p:cNvPr id="27" name="Shape 25"/>
          <p:cNvSpPr/>
          <p:nvPr/>
        </p:nvSpPr>
        <p:spPr>
          <a:xfrm>
            <a:off x="4754880" y="2423160"/>
            <a:ext cx="2788920" cy="1444752"/>
          </a:xfrm>
          <a:prstGeom prst="rect">
            <a:avLst/>
          </a:prstGeom>
          <a:solidFill>
            <a:srgbClr val="111827"/>
          </a:solidFill>
          <a:ln w="19050">
            <a:solidFill>
              <a:srgbClr val="A855F7"/>
            </a:solidFill>
            <a:prstDash val="solid"/>
          </a:ln>
        </p:spPr>
      </p:sp>
      <p:sp>
        <p:nvSpPr>
          <p:cNvPr id="28" name="Shape 26"/>
          <p:cNvSpPr/>
          <p:nvPr/>
        </p:nvSpPr>
        <p:spPr>
          <a:xfrm>
            <a:off x="4754880" y="2423160"/>
            <a:ext cx="2788920" cy="64008"/>
          </a:xfrm>
          <a:prstGeom prst="rect">
            <a:avLst/>
          </a:prstGeom>
          <a:solidFill>
            <a:srgbClr val="A855F7"/>
          </a:solidFill>
          <a:ln/>
        </p:spPr>
      </p:sp>
      <p:sp>
        <p:nvSpPr>
          <p:cNvPr id="29" name="Text 27"/>
          <p:cNvSpPr/>
          <p:nvPr/>
        </p:nvSpPr>
        <p:spPr>
          <a:xfrm>
            <a:off x="4846320" y="2514600"/>
            <a:ext cx="2606040" cy="201168"/>
          </a:xfrm>
          <a:prstGeom prst="rect">
            <a:avLst/>
          </a:prstGeom>
          <a:solidFill>
            <a:srgbClr val="A855F7"/>
          </a:solidFill>
          <a:ln/>
        </p:spPr>
        <p:txBody>
          <a:bodyPr wrap="square" lIns="0" tIns="0" rIns="0" bIns="0" rtlCol="0" anchor="ctr"/>
          <a:lstStyle/>
          <a:p>
            <a:pPr algn="ctr" indent="0" marL="0">
              <a:buNone/>
            </a:pPr>
            <a:r>
              <a:rPr lang="en-US" sz="900" b="1" dirty="0">
                <a:solidFill>
                  <a:srgbClr val="0B0E1A"/>
                </a:solidFill>
              </a:rPr>
              <a:t>ACTION</a:t>
            </a:r>
            <a:endParaRPr lang="en-US" sz="900" dirty="0"/>
          </a:p>
        </p:txBody>
      </p:sp>
      <p:sp>
        <p:nvSpPr>
          <p:cNvPr id="30" name="Text 28"/>
          <p:cNvSpPr/>
          <p:nvPr/>
        </p:nvSpPr>
        <p:spPr>
          <a:xfrm>
            <a:off x="4754880" y="2770632"/>
            <a:ext cx="2788920" cy="606796"/>
          </a:xfrm>
          <a:prstGeom prst="rect">
            <a:avLst/>
          </a:prstGeom>
          <a:noFill/>
          <a:ln/>
        </p:spPr>
        <p:txBody>
          <a:bodyPr wrap="square" lIns="0" tIns="0" rIns="0" bIns="0" rtlCol="0" anchor="ctr"/>
          <a:lstStyle/>
          <a:p>
            <a:pPr algn="ctr" indent="0" marL="0">
              <a:buNone/>
            </a:pPr>
            <a:r>
              <a:rPr lang="en-US" sz="3200" b="1" dirty="0">
                <a:solidFill>
                  <a:srgbClr val="A855F7"/>
                </a:solidFill>
              </a:rPr>
              <a:t>NOW</a:t>
            </a:r>
            <a:endParaRPr lang="en-US" sz="3200" dirty="0"/>
          </a:p>
        </p:txBody>
      </p:sp>
      <p:sp>
        <p:nvSpPr>
          <p:cNvPr id="31" name="Text 29"/>
          <p:cNvSpPr/>
          <p:nvPr/>
        </p:nvSpPr>
        <p:spPr>
          <a:xfrm>
            <a:off x="4846320" y="3456432"/>
            <a:ext cx="2606040" cy="347472"/>
          </a:xfrm>
          <a:prstGeom prst="rect">
            <a:avLst/>
          </a:prstGeom>
          <a:noFill/>
          <a:ln/>
        </p:spPr>
        <p:txBody>
          <a:bodyPr wrap="square" lIns="0" tIns="0" rIns="0" bIns="0" rtlCol="0" anchor="t"/>
          <a:lstStyle/>
          <a:p>
            <a:pPr algn="ctr" indent="0" marL="0">
              <a:buNone/>
            </a:pPr>
            <a:r>
              <a:rPr lang="en-US" sz="1000" dirty="0">
                <a:solidFill>
                  <a:srgbClr val="9CA3AF"/>
                </a:solidFill>
              </a:rPr>
              <a:t>6–18M design-in window</a:t>
            </a:r>
            <a:endParaRPr lang="en-US" sz="1000" dirty="0"/>
          </a:p>
        </p:txBody>
      </p:sp>
      <p:sp>
        <p:nvSpPr>
          <p:cNvPr id="32" name="Shape 30"/>
          <p:cNvSpPr/>
          <p:nvPr/>
        </p:nvSpPr>
        <p:spPr>
          <a:xfrm>
            <a:off x="347472" y="4005072"/>
            <a:ext cx="8449056" cy="713232"/>
          </a:xfrm>
          <a:prstGeom prst="rect">
            <a:avLst/>
          </a:prstGeom>
          <a:solidFill>
            <a:srgbClr val="00E5FF">
              <a:alpha val="7000"/>
            </a:srgbClr>
          </a:solidFill>
          <a:ln w="10160">
            <a:solidFill>
              <a:srgbClr val="00E5FF"/>
            </a:solidFill>
            <a:prstDash val="solid"/>
          </a:ln>
        </p:spPr>
      </p:sp>
      <p:sp>
        <p:nvSpPr>
          <p:cNvPr id="33" name="Shape 31"/>
          <p:cNvSpPr/>
          <p:nvPr/>
        </p:nvSpPr>
        <p:spPr>
          <a:xfrm>
            <a:off x="347472" y="4005072"/>
            <a:ext cx="54864" cy="713232"/>
          </a:xfrm>
          <a:prstGeom prst="rect">
            <a:avLst/>
          </a:prstGeom>
          <a:solidFill>
            <a:srgbClr val="00E5FF"/>
          </a:solidFill>
          <a:ln/>
        </p:spPr>
      </p:sp>
      <p:sp>
        <p:nvSpPr>
          <p:cNvPr id="34" name="Text 32"/>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00E5FF"/>
                </a:solidFill>
              </a:rPr>
              <a:t>KEY INSIGHTS</a:t>
            </a:r>
            <a:endParaRPr lang="en-US" sz="700" dirty="0"/>
          </a:p>
        </p:txBody>
      </p:sp>
      <p:sp>
        <p:nvSpPr>
          <p:cNvPr id="35" name="Text 33"/>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散熱瓶頸加速浮現：GPU TDP 朝 1,000W+ 發展，傳統風冷實務極限受到挑戰</a:t>
            </a:r>
            <a:endParaRPr lang="en-US" sz="1100" dirty="0"/>
          </a:p>
          <a:p>
            <a:pPr marL="342900" indent="-342900">
              <a:buSzPct val="100000"/>
              <a:buChar char="•"/>
            </a:pPr>
            <a:r>
              <a:rPr lang="en-US" sz="1100" dirty="0">
                <a:solidFill>
                  <a:srgbClr val="9CA3AF"/>
                </a:solidFill>
              </a:rPr>
              <a:t>液冷市場 analyst forecast：2026 年 60%+ 新建 AI 資料中心採用液冷</a:t>
            </a:r>
            <a:endParaRPr lang="en-US" sz="1100" dirty="0"/>
          </a:p>
          <a:p>
            <a:pPr marL="342900" indent="-342900">
              <a:buSzPct val="100000"/>
              <a:buChar char="•"/>
            </a:pPr>
            <a:r>
              <a:rPr lang="en-US" sz="1100" dirty="0">
                <a:solidFill>
                  <a:srgbClr val="9CA3AF"/>
                </a:solidFill>
              </a:rPr>
              <a:t>SOM 為情境假設區間（$0.8B–$3.2B），需與 TMSBU 實際 pipeline 交叉驗證</a:t>
            </a:r>
            <a:endParaRPr lang="en-US" sz="1100" dirty="0"/>
          </a:p>
        </p:txBody>
      </p:sp>
      <p:sp>
        <p:nvSpPr>
          <p:cNvPr id="36" name="Text 34"/>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Sources: Analyst forecast (adoption rate) · NVIDIA public GPU specs · TMSBU scenario analysis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E5FF"/>
          </a:solidFill>
          <a:ln w="12700">
            <a:solidFill>
              <a:srgbClr val="00E5FF"/>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03</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Market Inflection: AI Rack Power Density Drives Thermal Architecture Shift</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AI rack 功率密度快速上升，使傳統風冷架構逐步超過實務可承受範圍</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1719986"/>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1628546"/>
          </a:xfrm>
          <a:prstGeom prst="rect">
            <a:avLst/>
          </a:prstGeom>
        </p:spPr>
      </p:pic>
      <p:sp>
        <p:nvSpPr>
          <p:cNvPr id="9" name="Shape 6"/>
          <p:cNvSpPr/>
          <p:nvPr/>
        </p:nvSpPr>
        <p:spPr>
          <a:xfrm>
            <a:off x="347472" y="2634386"/>
            <a:ext cx="2697480" cy="749808"/>
          </a:xfrm>
          <a:prstGeom prst="rect">
            <a:avLst/>
          </a:prstGeom>
          <a:solidFill>
            <a:srgbClr val="00E5FF">
              <a:alpha val="9000"/>
            </a:srgbClr>
          </a:solidFill>
          <a:ln w="19050">
            <a:solidFill>
              <a:srgbClr val="00E5FF"/>
            </a:solidFill>
            <a:prstDash val="solid"/>
          </a:ln>
        </p:spPr>
      </p:sp>
      <p:sp>
        <p:nvSpPr>
          <p:cNvPr id="10" name="Shape 7"/>
          <p:cNvSpPr/>
          <p:nvPr/>
        </p:nvSpPr>
        <p:spPr>
          <a:xfrm>
            <a:off x="347472" y="2634386"/>
            <a:ext cx="2697480" cy="45720"/>
          </a:xfrm>
          <a:prstGeom prst="rect">
            <a:avLst/>
          </a:prstGeom>
          <a:solidFill>
            <a:srgbClr val="00E5FF"/>
          </a:solidFill>
          <a:ln/>
        </p:spPr>
      </p:sp>
      <p:sp>
        <p:nvSpPr>
          <p:cNvPr id="11" name="Text 8"/>
          <p:cNvSpPr/>
          <p:nvPr/>
        </p:nvSpPr>
        <p:spPr>
          <a:xfrm>
            <a:off x="347472" y="2707538"/>
            <a:ext cx="2697480" cy="384048"/>
          </a:xfrm>
          <a:prstGeom prst="rect">
            <a:avLst/>
          </a:prstGeom>
          <a:noFill/>
          <a:ln/>
        </p:spPr>
        <p:txBody>
          <a:bodyPr wrap="square" lIns="0" tIns="0" rIns="0" bIns="0" rtlCol="0" anchor="ctr"/>
          <a:lstStyle/>
          <a:p>
            <a:pPr algn="ctr" indent="0" marL="0">
              <a:buNone/>
            </a:pPr>
            <a:r>
              <a:rPr lang="en-US" sz="3400" b="1" dirty="0">
                <a:solidFill>
                  <a:srgbClr val="00E5FF"/>
                </a:solidFill>
              </a:rPr>
              <a:t>1,000W+</a:t>
            </a:r>
            <a:endParaRPr lang="en-US" sz="3400" dirty="0"/>
          </a:p>
        </p:txBody>
      </p:sp>
      <p:sp>
        <p:nvSpPr>
          <p:cNvPr id="12" name="Text 9"/>
          <p:cNvSpPr/>
          <p:nvPr/>
        </p:nvSpPr>
        <p:spPr>
          <a:xfrm>
            <a:off x="347472" y="3073298"/>
            <a:ext cx="2697480" cy="274320"/>
          </a:xfrm>
          <a:prstGeom prst="rect">
            <a:avLst/>
          </a:prstGeom>
          <a:noFill/>
          <a:ln/>
        </p:spPr>
        <p:txBody>
          <a:bodyPr wrap="square" lIns="0" tIns="0" rIns="0" bIns="0" rtlCol="0" anchor="ctr"/>
          <a:lstStyle/>
          <a:p>
            <a:pPr algn="ctr" indent="0" marL="0">
              <a:buNone/>
            </a:pPr>
            <a:r>
              <a:rPr lang="en-US" sz="1000" dirty="0">
                <a:solidFill>
                  <a:srgbClr val="9CA3AF"/>
                </a:solidFill>
              </a:rPr>
              <a:t>Next-gen GPU thermal load</a:t>
            </a:r>
            <a:endParaRPr lang="en-US" sz="1000" dirty="0"/>
          </a:p>
          <a:p>
            <a:pPr algn="ctr" indent="0" marL="0">
              <a:buNone/>
            </a:pPr>
            <a:r>
              <a:rPr lang="en-US" sz="1000" dirty="0">
                <a:solidFill>
                  <a:srgbClr val="9CA3AF"/>
                </a:solidFill>
              </a:rPr>
              <a:t>(industry projection)</a:t>
            </a:r>
            <a:endParaRPr lang="en-US" sz="1000" dirty="0"/>
          </a:p>
        </p:txBody>
      </p:sp>
      <p:sp>
        <p:nvSpPr>
          <p:cNvPr id="13" name="Shape 10"/>
          <p:cNvSpPr/>
          <p:nvPr/>
        </p:nvSpPr>
        <p:spPr>
          <a:xfrm>
            <a:off x="3218688" y="2634386"/>
            <a:ext cx="2697480" cy="749808"/>
          </a:xfrm>
          <a:prstGeom prst="rect">
            <a:avLst/>
          </a:prstGeom>
          <a:solidFill>
            <a:srgbClr val="00E676">
              <a:alpha val="9000"/>
            </a:srgbClr>
          </a:solidFill>
          <a:ln w="19050">
            <a:solidFill>
              <a:srgbClr val="00E676"/>
            </a:solidFill>
            <a:prstDash val="solid"/>
          </a:ln>
        </p:spPr>
      </p:sp>
      <p:sp>
        <p:nvSpPr>
          <p:cNvPr id="14" name="Shape 11"/>
          <p:cNvSpPr/>
          <p:nvPr/>
        </p:nvSpPr>
        <p:spPr>
          <a:xfrm>
            <a:off x="3218688" y="2634386"/>
            <a:ext cx="2697480" cy="45720"/>
          </a:xfrm>
          <a:prstGeom prst="rect">
            <a:avLst/>
          </a:prstGeom>
          <a:solidFill>
            <a:srgbClr val="00E676"/>
          </a:solidFill>
          <a:ln/>
        </p:spPr>
      </p:sp>
      <p:sp>
        <p:nvSpPr>
          <p:cNvPr id="15" name="Text 12"/>
          <p:cNvSpPr/>
          <p:nvPr/>
        </p:nvSpPr>
        <p:spPr>
          <a:xfrm>
            <a:off x="3218688" y="2707538"/>
            <a:ext cx="2697480" cy="384048"/>
          </a:xfrm>
          <a:prstGeom prst="rect">
            <a:avLst/>
          </a:prstGeom>
          <a:noFill/>
          <a:ln/>
        </p:spPr>
        <p:txBody>
          <a:bodyPr wrap="square" lIns="0" tIns="0" rIns="0" bIns="0" rtlCol="0" anchor="ctr"/>
          <a:lstStyle/>
          <a:p>
            <a:pPr algn="ctr" indent="0" marL="0">
              <a:buNone/>
            </a:pPr>
            <a:r>
              <a:rPr lang="en-US" sz="3400" b="1" dirty="0">
                <a:solidFill>
                  <a:srgbClr val="00E676"/>
                </a:solidFill>
              </a:rPr>
              <a:t>100kW+</a:t>
            </a:r>
            <a:endParaRPr lang="en-US" sz="3400" dirty="0"/>
          </a:p>
          <a:p>
            <a:pPr algn="ctr" indent="0" marL="0">
              <a:buNone/>
            </a:pPr>
            <a:r>
              <a:rPr lang="en-US" sz="3400" b="1" dirty="0">
                <a:solidFill>
                  <a:srgbClr val="00E676"/>
                </a:solidFill>
              </a:rPr>
              <a:t>to 160kW</a:t>
            </a:r>
            <a:endParaRPr lang="en-US" sz="3400" dirty="0"/>
          </a:p>
        </p:txBody>
      </p:sp>
      <p:sp>
        <p:nvSpPr>
          <p:cNvPr id="16" name="Text 13"/>
          <p:cNvSpPr/>
          <p:nvPr/>
        </p:nvSpPr>
        <p:spPr>
          <a:xfrm>
            <a:off x="3218688" y="3073298"/>
            <a:ext cx="2697480" cy="274320"/>
          </a:xfrm>
          <a:prstGeom prst="rect">
            <a:avLst/>
          </a:prstGeom>
          <a:noFill/>
          <a:ln/>
        </p:spPr>
        <p:txBody>
          <a:bodyPr wrap="square" lIns="0" tIns="0" rIns="0" bIns="0" rtlCol="0" anchor="ctr"/>
          <a:lstStyle/>
          <a:p>
            <a:pPr algn="ctr" indent="0" marL="0">
              <a:buNone/>
            </a:pPr>
            <a:r>
              <a:rPr lang="en-US" sz="1000" dirty="0">
                <a:solidFill>
                  <a:srgbClr val="9CA3AF"/>
                </a:solidFill>
              </a:rPr>
              <a:t>Rack power class estimate</a:t>
            </a:r>
            <a:endParaRPr lang="en-US" sz="1000" dirty="0"/>
          </a:p>
          <a:p>
            <a:pPr algn="ctr" indent="0" marL="0">
              <a:buNone/>
            </a:pPr>
            <a:r>
              <a:rPr lang="en-US" sz="1000" dirty="0">
                <a:solidFill>
                  <a:srgbClr val="9CA3AF"/>
                </a:solidFill>
              </a:rPr>
              <a:t>(needs validation)</a:t>
            </a:r>
            <a:endParaRPr lang="en-US" sz="1000" dirty="0"/>
          </a:p>
        </p:txBody>
      </p:sp>
      <p:sp>
        <p:nvSpPr>
          <p:cNvPr id="17" name="Shape 14"/>
          <p:cNvSpPr/>
          <p:nvPr/>
        </p:nvSpPr>
        <p:spPr>
          <a:xfrm>
            <a:off x="6089904" y="2634386"/>
            <a:ext cx="2697480" cy="749808"/>
          </a:xfrm>
          <a:prstGeom prst="rect">
            <a:avLst/>
          </a:prstGeom>
          <a:solidFill>
            <a:srgbClr val="F59E0B">
              <a:alpha val="9000"/>
            </a:srgbClr>
          </a:solidFill>
          <a:ln w="19050">
            <a:solidFill>
              <a:srgbClr val="F59E0B"/>
            </a:solidFill>
            <a:prstDash val="solid"/>
          </a:ln>
        </p:spPr>
      </p:sp>
      <p:sp>
        <p:nvSpPr>
          <p:cNvPr id="18" name="Shape 15"/>
          <p:cNvSpPr/>
          <p:nvPr/>
        </p:nvSpPr>
        <p:spPr>
          <a:xfrm>
            <a:off x="6089904" y="2634386"/>
            <a:ext cx="2697480" cy="45720"/>
          </a:xfrm>
          <a:prstGeom prst="rect">
            <a:avLst/>
          </a:prstGeom>
          <a:solidFill>
            <a:srgbClr val="F59E0B"/>
          </a:solidFill>
          <a:ln/>
        </p:spPr>
      </p:sp>
      <p:sp>
        <p:nvSpPr>
          <p:cNvPr id="19" name="Text 16"/>
          <p:cNvSpPr/>
          <p:nvPr/>
        </p:nvSpPr>
        <p:spPr>
          <a:xfrm>
            <a:off x="6089904" y="2707538"/>
            <a:ext cx="2697480" cy="384048"/>
          </a:xfrm>
          <a:prstGeom prst="rect">
            <a:avLst/>
          </a:prstGeom>
          <a:noFill/>
          <a:ln/>
        </p:spPr>
        <p:txBody>
          <a:bodyPr wrap="square" lIns="0" tIns="0" rIns="0" bIns="0" rtlCol="0" anchor="ctr"/>
          <a:lstStyle/>
          <a:p>
            <a:pPr algn="ctr" indent="0" marL="0">
              <a:buNone/>
            </a:pPr>
            <a:r>
              <a:rPr lang="en-US" sz="3400" b="1" dirty="0">
                <a:solidFill>
                  <a:srgbClr val="F59E0B"/>
                </a:solidFill>
              </a:rPr>
              <a:t>$39.1B</a:t>
            </a:r>
            <a:endParaRPr lang="en-US" sz="3400" dirty="0"/>
          </a:p>
        </p:txBody>
      </p:sp>
      <p:sp>
        <p:nvSpPr>
          <p:cNvPr id="20" name="Text 17"/>
          <p:cNvSpPr/>
          <p:nvPr/>
        </p:nvSpPr>
        <p:spPr>
          <a:xfrm>
            <a:off x="6089904" y="3073298"/>
            <a:ext cx="2697480" cy="274320"/>
          </a:xfrm>
          <a:prstGeom prst="rect">
            <a:avLst/>
          </a:prstGeom>
          <a:noFill/>
          <a:ln/>
        </p:spPr>
        <p:txBody>
          <a:bodyPr wrap="square" lIns="0" tIns="0" rIns="0" bIns="0" rtlCol="0" anchor="ctr"/>
          <a:lstStyle/>
          <a:p>
            <a:pPr algn="ctr" indent="0" marL="0">
              <a:buNone/>
            </a:pPr>
            <a:r>
              <a:rPr lang="en-US" sz="1000" dirty="0">
                <a:solidFill>
                  <a:srgbClr val="9CA3AF"/>
                </a:solidFill>
              </a:rPr>
              <a:t>Liquid cooling TAM</a:t>
            </a:r>
            <a:endParaRPr lang="en-US" sz="1000" dirty="0"/>
          </a:p>
          <a:p>
            <a:pPr algn="ctr" indent="0" marL="0">
              <a:buNone/>
            </a:pPr>
            <a:r>
              <a:rPr lang="en-US" sz="1000" dirty="0">
                <a:solidFill>
                  <a:srgbClr val="9CA3AF"/>
                </a:solidFill>
              </a:rPr>
              <a:t>(analyst forecast, 2030)</a:t>
            </a:r>
            <a:endParaRPr lang="en-US" sz="1000" dirty="0"/>
          </a:p>
        </p:txBody>
      </p:sp>
      <p:sp>
        <p:nvSpPr>
          <p:cNvPr id="21" name="Shape 18"/>
          <p:cNvSpPr/>
          <p:nvPr/>
        </p:nvSpPr>
        <p:spPr>
          <a:xfrm>
            <a:off x="347472" y="4005072"/>
            <a:ext cx="8449056" cy="713232"/>
          </a:xfrm>
          <a:prstGeom prst="rect">
            <a:avLst/>
          </a:prstGeom>
          <a:solidFill>
            <a:srgbClr val="00E5FF">
              <a:alpha val="7000"/>
            </a:srgbClr>
          </a:solidFill>
          <a:ln w="10160">
            <a:solidFill>
              <a:srgbClr val="00E5FF"/>
            </a:solidFill>
            <a:prstDash val="solid"/>
          </a:ln>
        </p:spPr>
      </p:sp>
      <p:sp>
        <p:nvSpPr>
          <p:cNvPr id="22" name="Shape 19"/>
          <p:cNvSpPr/>
          <p:nvPr/>
        </p:nvSpPr>
        <p:spPr>
          <a:xfrm>
            <a:off x="347472" y="4005072"/>
            <a:ext cx="54864" cy="713232"/>
          </a:xfrm>
          <a:prstGeom prst="rect">
            <a:avLst/>
          </a:prstGeom>
          <a:solidFill>
            <a:srgbClr val="00E5FF"/>
          </a:solidFill>
          <a:ln/>
        </p:spPr>
      </p:sp>
      <p:sp>
        <p:nvSpPr>
          <p:cNvPr id="23" name="Text 20"/>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00E5FF"/>
                </a:solidFill>
              </a:rPr>
              <a:t>KEY INSIGHTS</a:t>
            </a:r>
            <a:endParaRPr lang="en-US" sz="700" dirty="0"/>
          </a:p>
        </p:txBody>
      </p:sp>
      <p:sp>
        <p:nvSpPr>
          <p:cNvPr id="24" name="Text 21"/>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GB200 NVL72 rack 功率進入 80–130kW 等級，推動液冷從選項變為主流方案</a:t>
            </a:r>
            <a:endParaRPr lang="en-US" sz="1100" dirty="0"/>
          </a:p>
          <a:p>
            <a:pPr marL="342900" indent="-342900">
              <a:buSzPct val="100000"/>
              <a:buChar char="•"/>
            </a:pPr>
            <a:r>
              <a:rPr lang="en-US" sz="1100" dirty="0">
                <a:solidFill>
                  <a:srgbClr val="9CA3AF"/>
                </a:solidFill>
              </a:rPr>
              <a:t>下一代 GPU（Rubin-era）功率密度預計挑戰 100kW–160kW 等級，需進一步驗證</a:t>
            </a:r>
            <a:endParaRPr lang="en-US" sz="1100" dirty="0"/>
          </a:p>
          <a:p>
            <a:pPr marL="342900" indent="-342900">
              <a:buSzPct val="100000"/>
              <a:buChar char="•"/>
            </a:pPr>
            <a:r>
              <a:rPr lang="en-US" sz="1100" dirty="0">
                <a:solidFill>
                  <a:srgbClr val="9CA3AF"/>
                </a:solidFill>
              </a:rPr>
              <a:t>散熱瓶頸與散熱解決方案供應商的市佔機會高度相關</a:t>
            </a:r>
            <a:endParaRPr lang="en-US" sz="1100" dirty="0"/>
          </a:p>
        </p:txBody>
      </p:sp>
      <p:sp>
        <p:nvSpPr>
          <p:cNvPr id="25" name="Text 22"/>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Sources: NVIDIA GB200 specs (public) · Analyst forecast TAM (MarketsandMarkets) · Rack power estimates (industry projection, needs internal validation)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FC3F7"/>
          </a:solidFill>
          <a:ln w="12700">
            <a:solidFill>
              <a:srgbClr val="4FC3F7"/>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04</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Why Air Cooling Alone Cannot Keep Pace</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The future is not air vs. liquid — liquid handles hotspots; air remains critical for the rest</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502920"/>
          </a:xfrm>
          <a:prstGeom prst="rect">
            <a:avLst/>
          </a:prstGeom>
          <a:solidFill>
            <a:srgbClr val="4FC3F7">
              <a:alpha val="7000"/>
            </a:srgbClr>
          </a:solidFill>
          <a:ln w="10160">
            <a:solidFill>
              <a:srgbClr val="4FC3F7"/>
            </a:solidFill>
            <a:prstDash val="solid"/>
          </a:ln>
        </p:spPr>
      </p:sp>
      <p:sp>
        <p:nvSpPr>
          <p:cNvPr id="10" name="Shape 7"/>
          <p:cNvSpPr/>
          <p:nvPr/>
        </p:nvSpPr>
        <p:spPr>
          <a:xfrm>
            <a:off x="347472" y="4005072"/>
            <a:ext cx="54864" cy="502920"/>
          </a:xfrm>
          <a:prstGeom prst="rect">
            <a:avLst/>
          </a:prstGeom>
          <a:solidFill>
            <a:srgbClr val="4FC3F7"/>
          </a:solidFill>
          <a:ln/>
        </p:spPr>
      </p:sp>
      <p:sp>
        <p:nvSpPr>
          <p:cNvPr id="11" name="Text 8"/>
          <p:cNvSpPr/>
          <p:nvPr/>
        </p:nvSpPr>
        <p:spPr>
          <a:xfrm>
            <a:off x="475488" y="4005072"/>
            <a:ext cx="8174736" cy="502920"/>
          </a:xfrm>
          <a:prstGeom prst="rect">
            <a:avLst/>
          </a:prstGeom>
          <a:noFill/>
          <a:ln/>
        </p:spPr>
        <p:txBody>
          <a:bodyPr wrap="square" lIns="0" tIns="0" rIns="0" bIns="0" rtlCol="0" anchor="ctr"/>
          <a:lstStyle/>
          <a:p>
            <a:pPr indent="0" marL="0">
              <a:buNone/>
            </a:pPr>
            <a:r>
              <a:rPr lang="en-US" sz="1100" dirty="0">
                <a:solidFill>
                  <a:srgbClr val="9CA3AF"/>
                </a:solidFill>
              </a:rPr>
              <a:t>TMSBU BENEFIT: Advanced air-cooling components remain necessary in liquid-cooled AI servers</a:t>
            </a:r>
            <a:endParaRPr lang="en-US" sz="1100" dirty="0"/>
          </a:p>
        </p:txBody>
      </p:sp>
      <p:sp>
        <p:nvSpPr>
          <p:cNvPr id="12" name="Text 9"/>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TMSBU thermal engineering analysis · NVIDIA GB200 architecture (public specs)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E676"/>
          </a:solidFill>
          <a:ln w="12700">
            <a:solidFill>
              <a:srgbClr val="00E676"/>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05</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Chip-to-Rack Liquid Cooling Architecture</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System value comes from integration: cold plates, manifolds, CDUs, connectors, monitoring</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00E676">
              <a:alpha val="7000"/>
            </a:srgbClr>
          </a:solidFill>
          <a:ln w="10160">
            <a:solidFill>
              <a:srgbClr val="00E676"/>
            </a:solidFill>
            <a:prstDash val="solid"/>
          </a:ln>
        </p:spPr>
      </p:sp>
      <p:sp>
        <p:nvSpPr>
          <p:cNvPr id="10" name="Shape 7"/>
          <p:cNvSpPr/>
          <p:nvPr/>
        </p:nvSpPr>
        <p:spPr>
          <a:xfrm>
            <a:off x="347472" y="4005072"/>
            <a:ext cx="54864" cy="713232"/>
          </a:xfrm>
          <a:prstGeom prst="rect">
            <a:avLst/>
          </a:prstGeom>
          <a:solidFill>
            <a:srgbClr val="00E676"/>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Cold Plate → Server Manifold → Rack CDU → Facility Water Loop → Monitoring / Leak Detection</a:t>
            </a:r>
            <a:endParaRPr lang="en-US" sz="1100" dirty="0"/>
          </a:p>
          <a:p>
            <a:pPr marL="342900" indent="-342900">
              <a:buSzPct val="100000"/>
              <a:buChar char="•"/>
            </a:pPr>
            <a:r>
              <a:rPr lang="en-US" sz="1100" dirty="0">
                <a:solidFill>
                  <a:srgbClr val="9CA3AF"/>
                </a:solidFill>
              </a:rPr>
              <a:t>系統整合複雜度是最高附加價值來源 — 不是單一零件供應</a:t>
            </a:r>
            <a:endParaRPr lang="en-US" sz="1100" dirty="0"/>
          </a:p>
          <a:p>
            <a:pPr marL="342900" indent="-342900">
              <a:buSzPct val="100000"/>
              <a:buChar char="•"/>
            </a:pPr>
            <a:r>
              <a:rPr lang="en-US" sz="1100" dirty="0">
                <a:solidFill>
                  <a:srgbClr val="9CA3AF"/>
                </a:solidFill>
              </a:rPr>
              <a:t>Quick Connector 主要角色是 serviceability（熱插拔、維護），非熱流主節點</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Industry analysis · TMSBU thermal engineering. Specific performance values depend on customer spec and coolant design.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E676"/>
          </a:solidFill>
          <a:ln w="12700">
            <a:solidFill>
              <a:srgbClr val="00E676"/>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06</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TMSBU Portfolio Mapping: From Component to System Solution</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自然擴張路徑：零件 → 模組 → 系統 → 解決方案</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00E676">
              <a:alpha val="7000"/>
            </a:srgbClr>
          </a:solidFill>
          <a:ln w="10160">
            <a:solidFill>
              <a:srgbClr val="00E676"/>
            </a:solidFill>
            <a:prstDash val="solid"/>
          </a:ln>
        </p:spPr>
      </p:sp>
      <p:sp>
        <p:nvSpPr>
          <p:cNvPr id="10" name="Shape 7"/>
          <p:cNvSpPr/>
          <p:nvPr/>
        </p:nvSpPr>
        <p:spPr>
          <a:xfrm>
            <a:off x="347472" y="4005072"/>
            <a:ext cx="54864" cy="713232"/>
          </a:xfrm>
          <a:prstGeom prst="rect">
            <a:avLst/>
          </a:prstGeom>
          <a:solidFill>
            <a:srgbClr val="00E676"/>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CDU、Manifold、Connector 整合是最高價值延伸區，但可透過自研、合作或併購補齊能力</a:t>
            </a:r>
            <a:endParaRPr lang="en-US" sz="1100" dirty="0"/>
          </a:p>
          <a:p>
            <a:pPr marL="342900" indent="-342900">
              <a:buSzPct val="100000"/>
              <a:buChar char="•"/>
            </a:pPr>
            <a:r>
              <a:rPr lang="en-US" sz="1100" dirty="0">
                <a:solidFill>
                  <a:srgbClr val="9CA3AF"/>
                </a:solidFill>
              </a:rPr>
              <a:t>從零件報價升級到系統方案統包報價，改變商業模式與客戶關係</a:t>
            </a:r>
            <a:endParaRPr lang="en-US" sz="1100" dirty="0"/>
          </a:p>
          <a:p>
            <a:pPr marL="342900" indent="-342900">
              <a:buSzPct val="100000"/>
              <a:buChar char="•"/>
            </a:pPr>
            <a:r>
              <a:rPr lang="en-US" sz="1100" dirty="0">
                <a:solidFill>
                  <a:srgbClr val="9CA3AF"/>
                </a:solidFill>
              </a:rPr>
              <a:t>目標：成為客戶不可或缺的 Thermal System Partner</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TMSBU internal product portfolio analysis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A855F7"/>
          </a:solidFill>
          <a:ln w="12700">
            <a:solidFill>
              <a:srgbClr val="A855F7"/>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07</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Delta Group Synergy: Why TMSBU Can Differentiate</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Delta 具備將 chip-level 熱設計，延伸整合至 rack-level power、control 與 data center infrastructure 的潛力</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A855F7">
              <a:alpha val="7000"/>
            </a:srgbClr>
          </a:solidFill>
          <a:ln w="10160">
            <a:solidFill>
              <a:srgbClr val="A855F7"/>
            </a:solidFill>
            <a:prstDash val="solid"/>
          </a:ln>
        </p:spPr>
      </p:sp>
      <p:sp>
        <p:nvSpPr>
          <p:cNvPr id="10" name="Shape 7"/>
          <p:cNvSpPr/>
          <p:nvPr/>
        </p:nvSpPr>
        <p:spPr>
          <a:xfrm>
            <a:off x="347472" y="4005072"/>
            <a:ext cx="54864" cy="713232"/>
          </a:xfrm>
          <a:prstGeom prst="rect">
            <a:avLst/>
          </a:prstGeom>
          <a:solidFill>
            <a:srgbClr val="A855F7"/>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A855F7"/>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Delta 具備將 chip-level 熱設計，延伸整合至 rack-level power、control 與 data center infrastructure 的潛力</a:t>
            </a:r>
            <a:endParaRPr lang="en-US" sz="1100" dirty="0"/>
          </a:p>
          <a:p>
            <a:pPr marL="342900" indent="-342900">
              <a:buSzPct val="100000"/>
              <a:buChar char="•"/>
            </a:pPr>
            <a:r>
              <a:rPr lang="en-US" sz="1100" dirty="0">
                <a:solidFill>
                  <a:srgbClr val="9CA3AF"/>
                </a:solidFill>
              </a:rPr>
              <a:t>相對純散熱供應商，Delta 的集團佈局更難快速被複製</a:t>
            </a:r>
            <a:endParaRPr lang="en-US" sz="1100" dirty="0"/>
          </a:p>
          <a:p>
            <a:pPr marL="342900" indent="-342900">
              <a:buSzPct val="100000"/>
              <a:buChar char="•"/>
            </a:pPr>
            <a:r>
              <a:rPr lang="en-US" sz="1100" dirty="0">
                <a:solidFill>
                  <a:srgbClr val="9CA3AF"/>
                </a:solidFill>
              </a:rPr>
              <a:t>Manufacturing scale + Global support network 支撐 Tier-1 客戶信任</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Delta Electronics public information · TMSBU analysis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A855F7"/>
          </a:solidFill>
          <a:ln w="12700">
            <a:solidFill>
              <a:srgbClr val="A855F7"/>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08</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Market Opportunity: TAM / SAM / SOM</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市場機會顯著，但 TMSBU 可觸及市場需透過 customer pipeline 與 capability readiness 驗證</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A855F7">
              <a:alpha val="7000"/>
            </a:srgbClr>
          </a:solidFill>
          <a:ln w="10160">
            <a:solidFill>
              <a:srgbClr val="A855F7"/>
            </a:solidFill>
            <a:prstDash val="solid"/>
          </a:ln>
        </p:spPr>
      </p:sp>
      <p:sp>
        <p:nvSpPr>
          <p:cNvPr id="10" name="Shape 7"/>
          <p:cNvSpPr/>
          <p:nvPr/>
        </p:nvSpPr>
        <p:spPr>
          <a:xfrm>
            <a:off x="347472" y="4005072"/>
            <a:ext cx="54864" cy="713232"/>
          </a:xfrm>
          <a:prstGeom prst="rect">
            <a:avLst/>
          </a:prstGeom>
          <a:solidFill>
            <a:srgbClr val="A855F7"/>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A855F7"/>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TAM $39.1B（analyst forecast，M&amp;M）：AI 資料中心液冷市場 2030 年規模</a:t>
            </a:r>
            <a:endParaRPr lang="en-US" sz="1100" dirty="0"/>
          </a:p>
          <a:p>
            <a:pPr marL="342900" indent="-342900">
              <a:buSzPct val="100000"/>
              <a:buChar char="•"/>
            </a:pPr>
            <a:r>
              <a:rPr lang="en-US" sz="1100" dirty="0">
                <a:solidFill>
                  <a:srgbClr val="9CA3AF"/>
                </a:solidFill>
              </a:rPr>
              <a:t>SAM $12.8B（TMSBU estimate）：冷板+CDU+Manifold+Connector 區域</a:t>
            </a:r>
            <a:endParaRPr lang="en-US" sz="1100" dirty="0"/>
          </a:p>
          <a:p>
            <a:pPr marL="342900" indent="-342900">
              <a:buSzPct val="100000"/>
              <a:buChar char="•"/>
            </a:pPr>
            <a:r>
              <a:rPr lang="en-US" sz="1100" dirty="0">
                <a:solidFill>
                  <a:srgbClr val="9CA3AF"/>
                </a:solidFill>
              </a:rPr>
              <a:t>SOM $0.8B–$3.2B（scenario-based assumption）：需與實際 pipeline 交叉驗證</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 TAM: analyst forecast (MarketsandMarkets) · SAM: TMSBU estimate · SOM: scenario-based assumption — requires internal TMSBU validation</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F4444"/>
          </a:solidFill>
          <a:ln w="12700">
            <a:solidFill>
              <a:srgbClr val="EF4444"/>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09</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Capability Gap &amp; Risk Assessment</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3 項最高優先風險：CDU 策略 / 洩漏可靠性 / 客戶認證週期</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EF4444">
              <a:alpha val="7000"/>
            </a:srgbClr>
          </a:solidFill>
          <a:ln w="10160">
            <a:solidFill>
              <a:srgbClr val="EF4444"/>
            </a:solidFill>
            <a:prstDash val="solid"/>
          </a:ln>
        </p:spPr>
      </p:sp>
      <p:sp>
        <p:nvSpPr>
          <p:cNvPr id="10" name="Shape 7"/>
          <p:cNvSpPr/>
          <p:nvPr/>
        </p:nvSpPr>
        <p:spPr>
          <a:xfrm>
            <a:off x="347472" y="4005072"/>
            <a:ext cx="54864" cy="713232"/>
          </a:xfrm>
          <a:prstGeom prst="rect">
            <a:avLst/>
          </a:prstGeom>
          <a:solidFill>
            <a:srgbClr val="EF4444"/>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EF4444"/>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CDU Strategy：Phase 1 最關鍵決策 — 自研 / 合作夥伴 / 併購，90 天內鎖定方向</a:t>
            </a:r>
            <a:endParaRPr lang="en-US" sz="1100" dirty="0"/>
          </a:p>
          <a:p>
            <a:pPr marL="342900" indent="-342900">
              <a:buSzPct val="100000"/>
              <a:buChar char="•"/>
            </a:pPr>
            <a:r>
              <a:rPr lang="en-US" sz="1100" dirty="0">
                <a:solidFill>
                  <a:srgbClr val="9CA3AF"/>
                </a:solidFill>
              </a:rPr>
              <a:t>洩漏可靠性是紅線：洩漏事件可造成高價 AI server 損壞與客戶信任風險</a:t>
            </a:r>
            <a:endParaRPr lang="en-US" sz="1100" dirty="0"/>
          </a:p>
          <a:p>
            <a:pPr marL="342900" indent="-342900">
              <a:buSzPct val="100000"/>
              <a:buChar char="•"/>
            </a:pPr>
            <a:r>
              <a:rPr lang="en-US" sz="1100" dirty="0">
                <a:solidFill>
                  <a:srgbClr val="9CA3AF"/>
                </a:solidFill>
              </a:rPr>
              <a:t>客戶認證週期 12–18 個月，現在啟動才能趕上下世代平台</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TMSBU internal risk assessment · Urgency = time sensitivity · Impact = business consequence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E676"/>
          </a:solidFill>
          <a:ln w="12700">
            <a:solidFill>
              <a:srgbClr val="00E676"/>
            </a:solidFill>
            <a:prstDash val="solid"/>
          </a:ln>
        </p:spPr>
      </p:sp>
      <p:sp>
        <p:nvSpPr>
          <p:cNvPr id="3" name="Text 1"/>
          <p:cNvSpPr/>
          <p:nvPr/>
        </p:nvSpPr>
        <p:spPr>
          <a:xfrm>
            <a:off x="8366760" y="73152"/>
            <a:ext cx="457200" cy="292608"/>
          </a:xfrm>
          <a:prstGeom prst="rect">
            <a:avLst/>
          </a:prstGeom>
          <a:noFill/>
          <a:ln/>
        </p:spPr>
        <p:txBody>
          <a:bodyPr wrap="square" lIns="0" tIns="0" rIns="0" bIns="0" rtlCol="0" anchor="ctr"/>
          <a:lstStyle/>
          <a:p>
            <a:pPr algn="r" indent="0" marL="0">
              <a:buNone/>
            </a:pPr>
            <a:r>
              <a:rPr lang="en-US" sz="900" dirty="0">
                <a:solidFill>
                  <a:srgbClr val="6B7280"/>
                </a:solidFill>
              </a:rPr>
              <a:t>10</a:t>
            </a:r>
            <a:endParaRPr lang="en-US" sz="900" dirty="0"/>
          </a:p>
        </p:txBody>
      </p:sp>
      <p:sp>
        <p:nvSpPr>
          <p:cNvPr id="4" name="Text 2"/>
          <p:cNvSpPr/>
          <p:nvPr/>
        </p:nvSpPr>
        <p:spPr>
          <a:xfrm>
            <a:off x="347472" y="73152"/>
            <a:ext cx="7900416" cy="384048"/>
          </a:xfrm>
          <a:prstGeom prst="rect">
            <a:avLst/>
          </a:prstGeom>
          <a:noFill/>
          <a:ln/>
        </p:spPr>
        <p:txBody>
          <a:bodyPr wrap="square" lIns="0" tIns="0" rIns="0" bIns="0" rtlCol="0" anchor="b"/>
          <a:lstStyle/>
          <a:p>
            <a:pPr indent="0" marL="0">
              <a:buNone/>
            </a:pPr>
            <a:r>
              <a:rPr lang="en-US" sz="2800" b="1" dirty="0">
                <a:solidFill>
                  <a:srgbClr val="FFFFFF"/>
                </a:solidFill>
              </a:rPr>
              <a:t>Strategic Roadmap &amp; Recommended Actions</a:t>
            </a:r>
            <a:endParaRPr lang="en-US" sz="2800" dirty="0"/>
          </a:p>
        </p:txBody>
      </p:sp>
      <p:sp>
        <p:nvSpPr>
          <p:cNvPr id="5" name="Text 3"/>
          <p:cNvSpPr/>
          <p:nvPr/>
        </p:nvSpPr>
        <p:spPr>
          <a:xfrm>
            <a:off x="347472" y="466344"/>
            <a:ext cx="8449056" cy="237744"/>
          </a:xfrm>
          <a:prstGeom prst="rect">
            <a:avLst/>
          </a:prstGeom>
          <a:noFill/>
          <a:ln/>
        </p:spPr>
        <p:txBody>
          <a:bodyPr wrap="square" lIns="0" tIns="0" rIns="0" bIns="0" rtlCol="0" anchor="t"/>
          <a:lstStyle/>
          <a:p>
            <a:pPr indent="0" marL="0">
              <a:buNone/>
            </a:pPr>
            <a:r>
              <a:rPr lang="en-US" sz="1300" i="1" dirty="0">
                <a:solidFill>
                  <a:srgbClr val="00E5FF"/>
                </a:solidFill>
              </a:rPr>
              <a:t>4 階段 6–18 個月 Roadmap：Phase 1 基礎 → Phase 4 規模化</a:t>
            </a:r>
            <a:endParaRPr lang="en-US" sz="1300" dirty="0"/>
          </a:p>
        </p:txBody>
      </p:sp>
      <p:sp>
        <p:nvSpPr>
          <p:cNvPr id="6" name="Shape 4"/>
          <p:cNvSpPr/>
          <p:nvPr/>
        </p:nvSpPr>
        <p:spPr>
          <a:xfrm>
            <a:off x="347472" y="731520"/>
            <a:ext cx="8449056" cy="0"/>
          </a:xfrm>
          <a:prstGeom prst="line">
            <a:avLst/>
          </a:prstGeom>
          <a:noFill/>
          <a:ln w="7620">
            <a:solidFill>
              <a:srgbClr val="1E293B"/>
            </a:solidFill>
            <a:prstDash val="solid"/>
          </a:ln>
        </p:spPr>
      </p:sp>
      <p:sp>
        <p:nvSpPr>
          <p:cNvPr id="7" name="Shape 5"/>
          <p:cNvSpPr/>
          <p:nvPr/>
        </p:nvSpPr>
        <p:spPr>
          <a:xfrm>
            <a:off x="347472" y="804672"/>
            <a:ext cx="8449056" cy="3127248"/>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93192" y="850392"/>
            <a:ext cx="8357616" cy="3035808"/>
          </a:xfrm>
          <a:prstGeom prst="rect">
            <a:avLst/>
          </a:prstGeom>
        </p:spPr>
      </p:pic>
      <p:sp>
        <p:nvSpPr>
          <p:cNvPr id="9" name="Shape 6"/>
          <p:cNvSpPr/>
          <p:nvPr/>
        </p:nvSpPr>
        <p:spPr>
          <a:xfrm>
            <a:off x="347472" y="4005072"/>
            <a:ext cx="8449056" cy="713232"/>
          </a:xfrm>
          <a:prstGeom prst="rect">
            <a:avLst/>
          </a:prstGeom>
          <a:solidFill>
            <a:srgbClr val="00E676">
              <a:alpha val="7000"/>
            </a:srgbClr>
          </a:solidFill>
          <a:ln w="10160">
            <a:solidFill>
              <a:srgbClr val="00E676"/>
            </a:solidFill>
            <a:prstDash val="solid"/>
          </a:ln>
        </p:spPr>
      </p:sp>
      <p:sp>
        <p:nvSpPr>
          <p:cNvPr id="10" name="Shape 7"/>
          <p:cNvSpPr/>
          <p:nvPr/>
        </p:nvSpPr>
        <p:spPr>
          <a:xfrm>
            <a:off x="347472" y="4005072"/>
            <a:ext cx="54864" cy="713232"/>
          </a:xfrm>
          <a:prstGeom prst="rect">
            <a:avLst/>
          </a:prstGeom>
          <a:solidFill>
            <a:srgbClr val="00E676"/>
          </a:solidFill>
          <a:ln/>
        </p:spPr>
      </p:sp>
      <p:sp>
        <p:nvSpPr>
          <p:cNvPr id="11" name="Text 8"/>
          <p:cNvSpPr/>
          <p:nvPr/>
        </p:nvSpPr>
        <p:spPr>
          <a:xfrm>
            <a:off x="475488" y="4050792"/>
            <a:ext cx="1371600" cy="182880"/>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12" name="Text 9"/>
          <p:cNvSpPr/>
          <p:nvPr/>
        </p:nvSpPr>
        <p:spPr>
          <a:xfrm>
            <a:off x="475488" y="4215384"/>
            <a:ext cx="8174736" cy="466344"/>
          </a:xfrm>
          <a:prstGeom prst="rect">
            <a:avLst/>
          </a:prstGeom>
          <a:noFill/>
          <a:ln/>
        </p:spPr>
        <p:txBody>
          <a:bodyPr wrap="square" rtlCol="0" anchor="ctr"/>
          <a:lstStyle/>
          <a:p>
            <a:pPr marL="342900" indent="-342900">
              <a:buSzPct val="100000"/>
              <a:buChar char="•"/>
            </a:pPr>
            <a:r>
              <a:rPr lang="en-US" sz="1100" dirty="0">
                <a:solidFill>
                  <a:srgbClr val="9CA3AF"/>
                </a:solidFill>
              </a:rPr>
              <a:t>Phase 1 最關鍵決策：CDU 策略（自研 / 合作夥伴 / 併購），90 天內鎖定方向</a:t>
            </a:r>
            <a:endParaRPr lang="en-US" sz="1100" dirty="0"/>
          </a:p>
          <a:p>
            <a:pPr marL="342900" indent="-342900">
              <a:buSzPct val="100000"/>
              <a:buChar char="•"/>
            </a:pPr>
            <a:r>
              <a:rPr lang="en-US" sz="1100" dirty="0">
                <a:solidFill>
                  <a:srgbClr val="9CA3AF"/>
                </a:solidFill>
              </a:rPr>
              <a:t>所有 Phase 終極目標：從 Component Supplier 轉型為 Thermal System Solution Provider</a:t>
            </a:r>
            <a:endParaRPr lang="en-US" sz="1100" dirty="0"/>
          </a:p>
          <a:p>
            <a:pPr marL="342900" indent="-342900">
              <a:buSzPct val="100000"/>
              <a:buChar char="•"/>
            </a:pPr>
            <a:r>
              <a:rPr lang="en-US" sz="1100" dirty="0">
                <a:solidFill>
                  <a:srgbClr val="9CA3AF"/>
                </a:solidFill>
              </a:rPr>
              <a:t>延遲代價：錯過 GB300/Rubin 世代早期 design-in 與 reference engagement 機會</a:t>
            </a:r>
            <a:endParaRPr lang="en-US" sz="1100" dirty="0"/>
          </a:p>
        </p:txBody>
      </p:sp>
      <p:sp>
        <p:nvSpPr>
          <p:cNvPr id="13" name="Text 10"/>
          <p:cNvSpPr/>
          <p:nvPr/>
        </p:nvSpPr>
        <p:spPr>
          <a:xfrm>
            <a:off x="347472" y="4828032"/>
            <a:ext cx="8449056" cy="256032"/>
          </a:xfrm>
          <a:prstGeom prst="rect">
            <a:avLst/>
          </a:prstGeom>
          <a:noFill/>
          <a:ln/>
        </p:spPr>
        <p:txBody>
          <a:bodyPr wrap="square" lIns="0" tIns="0" rIns="0" bIns="0" rtlCol="0" anchor="t"/>
          <a:lstStyle/>
          <a:p>
            <a:pPr indent="0" marL="0">
              <a:buNone/>
            </a:pPr>
            <a:r>
              <a:rPr lang="en-US" sz="700" i="1" dirty="0">
                <a:solidFill>
                  <a:srgbClr val="6B7280"/>
                </a:solidFill>
              </a:rPr>
              <a:t>Source: TMSBU strategic planning. Timelines indicative, subject to internal alignment and customer engagement progress.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Server Liquid Cooling: TMSBU Strategic Roadmap V5</dc:title>
  <dc:subject>PptxGenJS Presentation</dc:subject>
  <dc:creator>James Chen / TMSBU</dc:creator>
  <cp:lastModifiedBy>James Chen / TMSBU</cp:lastModifiedBy>
  <cp:revision>1</cp:revision>
  <dcterms:created xsi:type="dcterms:W3CDTF">2026-05-03T19:35:41Z</dcterms:created>
  <dcterms:modified xsi:type="dcterms:W3CDTF">2026-05-03T19:35:41Z</dcterms:modified>
</cp:coreProperties>
</file>