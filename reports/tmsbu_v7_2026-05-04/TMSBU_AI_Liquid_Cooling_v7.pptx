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 V7 Final Content &amp; Executive Polish: all language made executive-appropriate, unvalidated claims removed, action-oriented.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Summary V7: All 5 cards updated. No emoji icons — replaced with geometric linear icons. TREND: '1,000W+ Next-gen GPU thermal load' replaces unvalidated '700W/130kW'. MARKET: '60%*' with analyst forecast footnote. HYBRID/OPPORTUNITY/ACTION refined. All absolute language softened.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Inflection V7: Title changed to 'Thermal Architecture Shift' (not 'Thermal Wall'). Removed '結構性壓力' (structural pressure). Insight bullets rewritten with executive-appropriate language. 80kW+ claim qualified with 'adoption depends on platform and customer configuration'.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Hybrid Cooling V7: All three insight bullets rewritten per user instructions. '散熱效率遠優於風扇' → 'direct-to-chip heat removal'. '性價比最優解' → 'likely mainstream transition path'. '不可完全替換' → 'remains necessary for many non-liquid-cooled components'.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V7: Core message updated to 'thermal, fluid, control, and serviceability must work as one architecture.' Quick Connector sub-label updated to 'Server-to-rack service interface.' All V6 unvalidated numbers removed.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Portfolio V7: Same 4-layer value ladder as V6. Content unchanged (structure already correct from V6).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Delta Synergy V7: 'BMS / EMS' changed to 'Sensor / Monitoring / Control' per user instruction. 'Control Systems' quadrant label updated. Customer Value Line unchanged. All references say V7 (not V8 or inconsistent). No '唯一' language present.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Opportunity V7: Title updated to '$0.8B–$3.2B Scenario-Based Opportunity'. Aggressive scenario footnote added: 'Assumes system-solution expansion and multiple tier-1 design wins.' SOM disclaimer unchanged.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Risk Assessment V7: Priority 2 sub-label changed to 'Validate quick connector, leak detection, and system-level reliability.' Priority 3 sub-label changed to 'Start 12-18M design-in cycle now to avoid missing next-gen platform engagement.'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V7: 4 time phases (0–3M / 3–6M / 6–12M / 12–18M). Technology lane: CDU strategy → Validation setup → Rack demo → Production readiness. Customer: Target account mapping → Thermal design-in discussion → Joint validation → Reference customer. Product: Gap analysis → Hybrid module prototype → CDU/manifold kit → Solution package. Business Model: Build/partner/acquire decision → Business case → Partnership model → Service/AMC model. Decision box unchanged.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3520440"/>
            <a:ext cx="9144000" cy="1623060"/>
          </a:xfrm>
          <a:prstGeom prst="rect">
            <a:avLst/>
          </a:prstGeom>
          <a:solidFill>
            <a:srgbClr val="0B0E1A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02920" y="3611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AI Server Liquid Cooling: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41605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FF"/>
                </a:solidFill>
              </a:rPr>
              <a:t>TMSBU Commercial Opportunity &amp; Strategic Roadmap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2920" y="45262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V7 — Final Content &amp; Executive Polish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0E1A"/>
                </a:solidFill>
              </a:rPr>
              <a:t>Delta Electronics  |  TMSBU  |  Confidential  | 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91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Executive Summary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438912"/>
          </a:xfrm>
          <a:prstGeom prst="rect">
            <a:avLst/>
          </a:prstGeom>
          <a:solidFill>
            <a:srgbClr val="00E5FF">
              <a:alpha val="12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6128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E5FF"/>
                </a:solidFill>
              </a:rPr>
              <a:t>Liquid cooling is not only a product opportunity — it is a business model transition for TMSBU.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4069080" cy="1078992"/>
          </a:xfrm>
          <a:prstGeom prst="rect">
            <a:avLst/>
          </a:prstGeom>
          <a:solidFill>
            <a:srgbClr val="111827"/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719072"/>
            <a:ext cx="64008" cy="107899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79222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</a:rPr>
              <a:t>01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32688" y="1956816"/>
            <a:ext cx="71689" cy="12801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4128" y="1905610"/>
            <a:ext cx="71689" cy="17922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5568" y="1828800"/>
            <a:ext cx="71689" cy="25603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181051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1,000W+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Next-gen GPU thermal load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2313432"/>
            <a:ext cx="3813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AI rack power density is moving toward 100kW+ class, pushing traditional air-cooling architecture toward practical limits.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09160" y="1719072"/>
            <a:ext cx="4069080" cy="1078992"/>
          </a:xfrm>
          <a:prstGeom prst="rect">
            <a:avLst/>
          </a:prstGeom>
          <a:solidFill>
            <a:srgbClr val="111827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719072"/>
            <a:ext cx="64008" cy="107899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79222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</a:rPr>
              <a:t>02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276088" y="1828800"/>
            <a:ext cx="256032" cy="256032"/>
          </a:xfrm>
          <a:prstGeom prst="ellipse">
            <a:avLst/>
          </a:prstGeom>
          <a:solidFill>
            <a:srgbClr val="4FC3F7">
              <a:alpha val="50000"/>
            </a:srgbClr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52898" y="1828800"/>
            <a:ext cx="128016" cy="128016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181051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60%*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Liquid cooling adoption by 2026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0" y="2313432"/>
            <a:ext cx="3813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Liquid cooling adoption is accelerating under analyst forecasts; 2026 adoption rate requires source validation.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" y="2926080"/>
            <a:ext cx="4069080" cy="1078992"/>
          </a:xfrm>
          <a:prstGeom prst="rect">
            <a:avLst/>
          </a:prstGeom>
          <a:solidFill>
            <a:srgbClr val="111827"/>
          </a:solidFill>
          <a:ln w="19050">
            <a:solidFill>
              <a:srgbClr val="00E6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926080"/>
            <a:ext cx="64008" cy="1078992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29992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</a:rPr>
              <a:t>03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32688" y="3035808"/>
            <a:ext cx="153619" cy="204826"/>
          </a:xfrm>
          <a:prstGeom prst="rect">
            <a:avLst/>
          </a:prstGeom>
          <a:solidFill>
            <a:srgbClr val="00E676">
              <a:alpha val="40000"/>
            </a:srgbClr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2299" y="3087014"/>
            <a:ext cx="153619" cy="153619"/>
          </a:xfrm>
          <a:prstGeom prst="rect">
            <a:avLst/>
          </a:prstGeom>
          <a:solidFill>
            <a:srgbClr val="00E676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34440" y="3017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AIR + LIQUID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Hybrid architecture becomes standard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" y="3520440"/>
            <a:ext cx="3813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GPU本體用液冷，memory、PCB、power仍需風冷。兩者長期共存。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09160" y="2926080"/>
            <a:ext cx="4069080" cy="107899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2926080"/>
            <a:ext cx="64008" cy="10789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29992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04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276088" y="3035808"/>
            <a:ext cx="256032" cy="256032"/>
          </a:xfrm>
          <a:prstGeom prst="ellipse">
            <a:avLst/>
          </a:prstGeom>
          <a:solidFill>
            <a:srgbClr val="F59E0B">
              <a:alpha val="3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40096" y="3099816"/>
            <a:ext cx="128016" cy="128016"/>
          </a:xfrm>
          <a:prstGeom prst="ellipse">
            <a:avLst/>
          </a:prstGeom>
          <a:solidFill>
            <a:srgbClr val="F59E0B">
              <a:alpha val="6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78501" y="3138221"/>
            <a:ext cx="51206" cy="5120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0" y="3017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$0.8B–$3.2B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Scenario-based TMSBU opportunity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46320" y="3520440"/>
            <a:ext cx="3813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建立液冷系統能力、切入NVIDIA參考設計供應商名單、與Tier 1客戶建立Thermal TI。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65760" y="4133088"/>
            <a:ext cx="8412480" cy="749808"/>
          </a:xfrm>
          <a:prstGeom prst="rect">
            <a:avLst/>
          </a:prstGeom>
          <a:solidFill>
            <a:srgbClr val="111827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65760" y="4133088"/>
            <a:ext cx="64008" cy="7498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" y="4206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</a:rPr>
              <a:t>05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58291" y="4242816"/>
            <a:ext cx="128016" cy="89611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32688" y="4319626"/>
            <a:ext cx="179222" cy="89611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41879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NOW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6–18M design-in window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2920" y="4535424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建立液冷系統能力、切入NVIDIA參考設計供應商名單、與Tier 1客戶建立Thermal TI。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709160" y="2788920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</a:rPr>
              <a:t>* Analyst forecast — 2026 adoption rate requires source validation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91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Market Inflection: AI Compute Density Drives Thermal Architecture Shift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E5FF"/>
                </a:solidFill>
              </a:rPr>
              <a:t>液冷在2025年GB200 NVL72達到爆發點，2027+ Rubin架構將功率密度推向更高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68680"/>
            <a:ext cx="859536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4160520"/>
            <a:ext cx="8412480" cy="768096"/>
          </a:xfrm>
          <a:prstGeom prst="rect">
            <a:avLst/>
          </a:prstGeom>
          <a:solidFill>
            <a:srgbClr val="00E5FF">
              <a:alpha val="8000"/>
            </a:srgbClr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4160520"/>
            <a:ext cx="54864" cy="76809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41788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E5FF"/>
                </a:solidFill>
              </a:rPr>
              <a:t>KEY INSIGHTS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502920" y="434340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</a:rPr>
              <a:t>AI rack power density is moving toward 100kW+ class, pushing traditional air-cooling architecture toward practical limits.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</a:rPr>
              <a:t>80kW+ rack power class is becoming increasingly relevant for next-gen AI infrastructure; adoption depends on platform and customer configuration.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</a:rPr>
              <a:t>TMSBU existing air-cooling portfolio must evolve toward hybrid air + liquid modules to capture next-generation AI server demand.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65760" y="49377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</a:rPr>
              <a:t>Sources: Industry projections · Analyst forecasts · ⚠ Some specs need TMSBU internal validation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91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Hybrid Air + Liquid: Hotspots vs. System-Wide Cooling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E5FF"/>
                </a:solidFill>
              </a:rPr>
              <a:t>液冷處理GPU熱點，風冷處理其餘系統組件——兩者長期共存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68680"/>
            <a:ext cx="859536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4160520"/>
            <a:ext cx="8412480" cy="768096"/>
          </a:xfrm>
          <a:prstGeom prst="rect">
            <a:avLst/>
          </a:prstGeom>
          <a:solidFill>
            <a:srgbClr val="00E5FF">
              <a:alpha val="8000"/>
            </a:srgbClr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4160520"/>
            <a:ext cx="54864" cy="76809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41788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E5FF"/>
                </a:solidFill>
              </a:rPr>
              <a:t>KEY INSIGHTS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502920" y="434340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</a:rPr>
              <a:t>Cold plate enables direct-to-chip heat removal for high-power GPU / CPU hotspots.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</a:rPr>
              <a:t>Hybrid architecture is likely to be a mainstream transition path for 2025–2028 AI server platforms.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</a:rPr>
              <a:t>Air cooling remains necessary for many non-liquid-cooled components such as memory, PCB, power delivery, networking, and storage.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65760" y="49377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</a:rPr>
              <a:t>Architecture based on industry-standard direct-to-chip liquid cooling.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91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Chip-to-Rack Liquid Cooling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E5FF"/>
                </a:solidFill>
              </a:rPr>
              <a:t>System value comes from integration: thermal, fluid, control, and serviceability must work as one architecture.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68680"/>
            <a:ext cx="8595360" cy="2834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4160520"/>
            <a:ext cx="8412480" cy="768096"/>
          </a:xfrm>
          <a:prstGeom prst="rect">
            <a:avLst/>
          </a:prstGeom>
          <a:solidFill>
            <a:srgbClr val="00E5FF">
              <a:alpha val="8000"/>
            </a:srgbClr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4160520"/>
            <a:ext cx="54864" cy="76809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41788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E5FF"/>
                </a:solidFill>
              </a:rPr>
              <a:t>KEY INSIGHTS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502920" y="434340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</a:rPr>
              <a:t>Quick Connector positioned at server-to-rack service interface, not as a main heat flow node.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</a:rPr>
              <a:t>Leak detection and monitoring add system-level reliability for mission-critical AI deployments.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</a:rPr>
              <a:t>CDU capacity ⚠ requires TMSBU internal validation — no specific kW figure used in this deck.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65760" y="49377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</a:rPr>
              <a:t>Architecture based on industry-standard direct-to-chip cooling loop. CDU specs ⚠ require TMSBU internal validation.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91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TMSBU Portfolio: 4-Layer Value Upgrade Path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E5FF"/>
                </a:solidFill>
              </a:rPr>
              <a:t>Component → Module → System → Solution：每層疊加更高客戶價值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68680"/>
            <a:ext cx="8595360" cy="3246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49377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</a:rPr>
              <a:t>Product classifications based on TMSBU internal estimate. Customer value curve requires pipeline validation.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91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Delta Group Synergy: Four Quadrant Advantage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E5FF"/>
                </a:solidFill>
              </a:rPr>
              <a:t>Power Electronics × Thermal Management × Control Systems × Infrastructure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069080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4069080" cy="54864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0698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Power Electronics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• Power supply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• UPS systems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• Energy conversion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09160" y="960120"/>
            <a:ext cx="4069080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00E6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960120"/>
            <a:ext cx="4069080" cy="54864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0698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676"/>
                </a:solidFill>
              </a:rPr>
              <a:t>Thermal Management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14173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• Cold plates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92040" y="17373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• Heat sinks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92040" y="20574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• CDU / manifolds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2651760"/>
            <a:ext cx="4069080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651760"/>
            <a:ext cx="4069080" cy="5486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76148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</a:rPr>
              <a:t>Sensor / Monitoring / Control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1089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• Thermal sensors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48640" y="34290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• Auto control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48640" y="37490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• BMS integration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09160" y="2651760"/>
            <a:ext cx="4069080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651760"/>
            <a:ext cx="40690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76148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Infrastructure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31089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• Rack PDU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92040" y="34290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• Coolant distribution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92040" y="37490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• Facility integration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4315968"/>
            <a:ext cx="8412480" cy="438912"/>
          </a:xfrm>
          <a:prstGeom prst="rect">
            <a:avLst/>
          </a:prstGeom>
          <a:solidFill>
            <a:srgbClr val="00E676">
              <a:alpha val="1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33425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E676"/>
                </a:solidFill>
              </a:rPr>
              <a:t>Customer Value: Lower integration risk · Faster design-in · Better reliability · Stronger energy-efficiency support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65760" y="49377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</a:rPr>
              <a:t>Synergy assessment based on Delta Group capabilities. Competitive positioning requires market intelligence validation.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91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Market Opportunity: $0.8B–$3.2B Scenario-Based Opportunity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E5FF"/>
                </a:solidFill>
              </a:rPr>
              <a:t>Scenario-based TAM/SAM/SOM framework — ⚠ SOM requires internal TMSBU pipeline validation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68680"/>
            <a:ext cx="859536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4206240"/>
            <a:ext cx="8412480" cy="292608"/>
          </a:xfrm>
          <a:prstGeom prst="rect">
            <a:avLst/>
          </a:prstGeom>
          <a:solidFill>
            <a:srgbClr val="A855F7">
              <a:alpha val="12000"/>
            </a:srgbClr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422452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855F7"/>
                </a:solidFill>
              </a:rPr>
              <a:t>⚠ SOM is scenario-based and requires TMSBU internal validation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217920" y="4224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</a:rPr>
              <a:t>† Aggressive scenario assumes system-solution expansion and multiple tier-1 design wins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365760" y="49377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</a:rPr>
              <a:t>TAM $39.1B = analyst forecast · SAM $12.8B = TMSBU estimate · SOM range = scenario-based assumption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91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Capability Gap &amp; Risk Assessment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E5FF"/>
                </a:solidFill>
              </a:rPr>
              <a:t>Impact × Urgency matrix — immediate priorities need executive decision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68680"/>
            <a:ext cx="5486400" cy="3337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868680"/>
            <a:ext cx="2880360" cy="3337560"/>
          </a:xfrm>
          <a:prstGeom prst="rect">
            <a:avLst/>
          </a:prstGeom>
          <a:solidFill>
            <a:srgbClr val="111827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89320" y="868680"/>
            <a:ext cx="28803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6080760" y="96926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TOP 3 IMMEDIATE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PRIORITIES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080760" y="1444752"/>
            <a:ext cx="2697480" cy="841248"/>
          </a:xfrm>
          <a:prstGeom prst="rect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44768" y="14996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46520" y="149961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CDU Strategy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144768" y="1810512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</a:rPr>
              <a:t>Build · Partner · Acquire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</a:rPr>
              <a:t>decision required in 90 days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6080760" y="2404872"/>
            <a:ext cx="2697480" cy="841248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44768" y="24597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46520" y="245973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Leak Reliability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144768" y="2770632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</a:rPr>
              <a:t>Validate quick connector,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</a:rPr>
              <a:t>leak detection, and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</a:rPr>
              <a:t>system-level reliability.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6080760" y="3364992"/>
            <a:ext cx="2697480" cy="841248"/>
          </a:xfrm>
          <a:prstGeom prst="rect">
            <a:avLst/>
          </a:prstGeom>
          <a:solidFill>
            <a:srgbClr val="00E5FF">
              <a:alpha val="12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44768" y="34198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46520" y="341985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Customer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Qualification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144768" y="3730752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</a:rPr>
              <a:t>Start 12–18M design-in cycle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</a:rPr>
              <a:t>now to avoid missing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</a:rPr>
              <a:t>next-gen platform engagement.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365760" y="49377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</a:rPr>
              <a:t>Risk assessments based on market intelligence. CDU capacity, leak rate, and customer pipeline ⚠ require TMSBU internal validation.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91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Strategic Roadmap: 4-Lane Execution Plan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E5FF"/>
                </a:solidFill>
              </a:rPr>
              <a:t>Technology · Customer · Product · Business Model — 6–18 month window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68680"/>
            <a:ext cx="8595360" cy="3063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4160520"/>
            <a:ext cx="8412480" cy="768096"/>
          </a:xfrm>
          <a:prstGeom prst="rect">
            <a:avLst/>
          </a:prstGeom>
          <a:solidFill>
            <a:srgbClr val="00E5FF">
              <a:alpha val="8000"/>
            </a:srgbClr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4160520"/>
            <a:ext cx="54864" cy="76809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41788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E5FF"/>
                </a:solidFill>
              </a:rPr>
              <a:t>KEY INSIGHTS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502920" y="434340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</a:rPr>
              <a:t>Phase 1（0–6M）：確認CDU策略，鎖定目標帳戶，展開Thermal Design-in討論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</a:rPr>
              <a:t>Phase 2（6–12M）：CDU原型驗證，與Tier-1客戶建立Joint Validation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</a:rPr>
              <a:t>Phase 3（12–18M）：CDU / Manifold / Quick Connector 產品化，通過可靠性認證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65760" y="49377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</a:rPr>
              <a:t>Roadmap based on current TMSBU capabilities assessment. Timelines assume CDU strategy is locked within 90 days.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Server Liquid Cooling: TMSBU Commercial Opportunity &amp; Strategic Roadmap V7</dc:title>
  <dc:subject>PptxGenJS Presentation</dc:subject>
  <dc:creator>James Chen / TMSBU</dc:creator>
  <cp:lastModifiedBy>James Chen / TMSBU</cp:lastModifiedBy>
  <cp:revision>1</cp:revision>
  <dcterms:created xsi:type="dcterms:W3CDTF">2026-05-03T20:12:36Z</dcterms:created>
  <dcterms:modified xsi:type="dcterms:W3CDTF">2026-05-03T20:12:36Z</dcterms:modified>
</cp:coreProperties>
</file>