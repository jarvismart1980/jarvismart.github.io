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645920"/>
            <a:ext cx="91440" cy="3474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</a:rPr>
              <a:t>Server / Power Rack
Cold Plate Engineering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06060"/>
                </a:solidFill>
              </a:rPr>
              <a:t>建立可量產、可驗證、可模組化的 Rack-level 散熱工程平台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6060"/>
                </a:solidFill>
              </a:rPr>
              <a:t>Delta Electronics | TMSBU | 2026 年 5 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097280"/>
            <a:ext cx="3840480" cy="5029200"/>
          </a:xfrm>
          <a:prstGeom prst="rect">
            <a:avLst/>
          </a:prstGeom>
          <a:solidFill>
            <a:srgbClr val="EEF4FA"/>
          </a:solidFill>
          <a:ln w="1270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325880"/>
            <a:ext cx="347472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EB8"/>
                </a:solidFill>
              </a:rPr>
              <a:t>可量產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176479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Design for Manufacturing
從 Concept 到 NPI 標準化流程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834640"/>
            <a:ext cx="347472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9260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EB8"/>
                </a:solidFill>
              </a:rPr>
              <a:t>可驗證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27355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Thermal / Fluid / Mechanical /
Reliability 四維測試矩陣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4343400"/>
            <a:ext cx="347472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434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EB8"/>
                </a:solidFill>
              </a:rPr>
              <a:t>可模組化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78231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Chip → Rack → CDU 層層解耦
支援多元應用場景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Cold Plate Engineering Platform — 2026 技術開發藍圖 |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1097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5EB8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194560" cy="23774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0175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ENGINEERING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2E"/>
                </a:solidFill>
              </a:rPr>
              <a:t>系統層級散熱需求與 Cold Plate 設計目標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6060"/>
                </a:solidFill>
              </a:rPr>
              <a:t>Cold Plate 設計必須同時滿足熱性能、流體力學、機械可靠、與可維修性四維度目標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2057400" cy="42062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764792"/>
            <a:ext cx="2057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691640"/>
            <a:ext cx="2788920" cy="42062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36392" y="1764792"/>
            <a:ext cx="2788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Target Value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1691640"/>
            <a:ext cx="3246120" cy="42062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71032" y="1764792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Test Method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89720" y="1691640"/>
            <a:ext cx="2560320" cy="42062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62872" y="1764792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12264"/>
            <a:ext cx="2057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2185416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Heat Load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3240" y="2112264"/>
            <a:ext cx="27889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36392" y="2185416"/>
            <a:ext cx="2697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300–800W per GPU chip (TBD)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2112264"/>
            <a:ext cx="32461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2" y="2185416"/>
            <a:ext cx="3154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Calorimetry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2112264"/>
            <a:ext cx="25603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2872" y="218541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7B39"/>
                </a:solidFill>
              </a:rPr>
              <a:t>In Progress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532888"/>
            <a:ext cx="2057400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2606040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Flow 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3240" y="2532888"/>
            <a:ext cx="2788920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36392" y="2606040"/>
            <a:ext cx="2697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5–20 LPM per cold plate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2532888"/>
            <a:ext cx="3246120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71032" y="2606040"/>
            <a:ext cx="3154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Flow meter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9720" y="2532888"/>
            <a:ext cx="2560320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62872" y="2606040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966B"/>
                </a:solidFill>
              </a:rPr>
              <a:t>Confirmed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953512"/>
            <a:ext cx="2057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" y="3026664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Pressure Drop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63240" y="2953512"/>
            <a:ext cx="27889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36392" y="3026664"/>
            <a:ext cx="2697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&lt; 30 kPa @ 15 LPM (TBD)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97880" y="2953512"/>
            <a:ext cx="32461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71032" y="3026664"/>
            <a:ext cx="3154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Differential pressure gauge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89720" y="2953512"/>
            <a:ext cx="25603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62872" y="3026664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7B39"/>
                </a:solidFill>
              </a:rPr>
              <a:t>In Progress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374136"/>
            <a:ext cx="2057400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" y="3447288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Thermal Resistance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63240" y="3374136"/>
            <a:ext cx="2788920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36392" y="3447288"/>
            <a:ext cx="2697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&lt; 0.05°C-in²/W (TBD)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97880" y="3374136"/>
            <a:ext cx="3246120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71032" y="3447288"/>
            <a:ext cx="3154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JEDEC thermal test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89720" y="3374136"/>
            <a:ext cx="2560320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62872" y="3447288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C2626"/>
                </a:solidFill>
              </a:rPr>
              <a:t>Not defined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794760"/>
            <a:ext cx="2057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" y="3867912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Leak Rate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63240" y="3794760"/>
            <a:ext cx="27889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36392" y="3867912"/>
            <a:ext cx="2697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Zero leak — 100% helium test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97880" y="3794760"/>
            <a:ext cx="32461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71032" y="3867912"/>
            <a:ext cx="3154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Helium leak detector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89720" y="3794760"/>
            <a:ext cx="25603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62872" y="3867912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966B"/>
                </a:solidFill>
              </a:rPr>
              <a:t>Confirmed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215384"/>
            <a:ext cx="2057400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6072" y="4288536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MTBF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63240" y="4215384"/>
            <a:ext cx="2788920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36392" y="4288536"/>
            <a:ext cx="2697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&gt; 40,000h (CDU side)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97880" y="4215384"/>
            <a:ext cx="3246120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71032" y="4288536"/>
            <a:ext cx="3154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Field / accelerated life test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89720" y="4215384"/>
            <a:ext cx="2560320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62872" y="428853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C2626"/>
                </a:solidFill>
              </a:rPr>
              <a:t>TBD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" y="4636008"/>
            <a:ext cx="2057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6072" y="4709160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Operating Temp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63240" y="4636008"/>
            <a:ext cx="27889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136392" y="4709160"/>
            <a:ext cx="2697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-40°C to +85°C (TBD)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97880" y="4636008"/>
            <a:ext cx="32461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71032" y="4709160"/>
            <a:ext cx="3154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Thermal cycling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89720" y="4636008"/>
            <a:ext cx="25603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62872" y="4709160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C2626"/>
                </a:solidFill>
              </a:rPr>
              <a:t>TBD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5056632"/>
            <a:ext cx="2057400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76072" y="5129784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Serviceability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63240" y="5056632"/>
            <a:ext cx="2788920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136392" y="5129784"/>
            <a:ext cx="2697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Repair time &lt; 30 min (target)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897880" y="5056632"/>
            <a:ext cx="3246120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971032" y="5129784"/>
            <a:ext cx="3154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Time study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89720" y="5056632"/>
            <a:ext cx="2560320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262872" y="5129784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C2626"/>
                </a:solidFill>
              </a:rPr>
              <a:t>TBD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20" y="61722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06060"/>
                </a:solidFill>
              </a:rPr>
              <a:t>(TBD) = To Be Defined — 需要與 RD / PM / CSP 確認後更新 | Status colors: Green=Confirmed / Orange=In Progress / Red=Not defined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29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熱、流體、機械、可靠四維度目標必須同步追蹤，缺一不可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194560" cy="23774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0175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APPLICATION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2E"/>
                </a:solidFill>
              </a:rPr>
              <a:t>從 Chip-level 到 Rack-level 的四層熱源架構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6060"/>
                </a:solidFill>
              </a:rPr>
              <a:t>不同熱源有不同散熱介面與設計約束，需針對每層建立對應的 Cold Plate 解決方案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2697480" cy="393192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2697480" cy="73152"/>
          </a:xfrm>
          <a:prstGeom prst="rect">
            <a:avLst/>
          </a:prstGeom>
          <a:solidFill>
            <a:srgbClr val="F4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" y="1901952"/>
            <a:ext cx="347472" cy="347472"/>
          </a:xfrm>
          <a:prstGeom prst="rect">
            <a:avLst/>
          </a:prstGeom>
          <a:solidFill>
            <a:srgbClr val="F4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9019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0195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44D33"/>
                </a:solidFill>
              </a:rPr>
              <a:t>Chip-level — GPU / ASIC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395728"/>
            <a:ext cx="2514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熱通量 &gt; 500W/cm²，局部熱點明顯。介面：TIM → Cold plate base，Ra &lt; 0.8μm，接觸壓力均勻分布。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3566160"/>
            <a:ext cx="128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5EB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737360"/>
            <a:ext cx="2697480" cy="393192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737360"/>
            <a:ext cx="2697480" cy="73152"/>
          </a:xfrm>
          <a:prstGeom prst="rect">
            <a:avLst/>
          </a:prstGeom>
          <a:solidFill>
            <a:srgbClr val="F8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47288" y="1901952"/>
            <a:ext cx="347472" cy="347472"/>
          </a:xfrm>
          <a:prstGeom prst="rect">
            <a:avLst/>
          </a:prstGeom>
          <a:solidFill>
            <a:srgbClr val="F8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7288" y="19019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190195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7C00"/>
                </a:solidFill>
              </a:rPr>
              <a:t>Power Module — IGBT / SiC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395728"/>
            <a:ext cx="2514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熱通量 200–400W/cm²，面積 50×50mm–100×100mm。介面：TIM 或焊接，雙面散熱可選。需電氣絕緣 &gt; 3kV/mm。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3328" y="3566160"/>
            <a:ext cx="128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5EB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1737360"/>
            <a:ext cx="2697480" cy="393192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1737360"/>
            <a:ext cx="2697480" cy="73152"/>
          </a:xfrm>
          <a:prstGeom prst="rect">
            <a:avLst/>
          </a:prstGeom>
          <a:solidFill>
            <a:srgbClr val="E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1928" y="1901952"/>
            <a:ext cx="347472" cy="347472"/>
          </a:xfrm>
          <a:prstGeom prst="rect">
            <a:avLst/>
          </a:prstGeom>
          <a:solidFill>
            <a:srgbClr val="E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1928" y="19019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190195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0A800"/>
                </a:solidFill>
              </a:rPr>
              <a:t>Power Rack — 48V Busbar / 400V Dist.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2395728"/>
            <a:ext cx="2514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熱密度中等，散熱區域均勻。介面：整合至 busbar 結構，鋁合金擠型散熱片。與電源系統整合優先。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3566160"/>
            <a:ext cx="128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5EB8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1737360"/>
            <a:ext cx="2697480" cy="393192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6840" y="1737360"/>
            <a:ext cx="2697480" cy="7315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16568" y="1901952"/>
            <a:ext cx="347472" cy="34747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16568" y="19019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190195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5EB8"/>
                </a:solidFill>
              </a:rPr>
              <a:t>Rack-level — Manifold / Cooling Plate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8" y="2395728"/>
            <a:ext cx="2514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分配冷卻介質至多個 Cold Plate。介面：Quick disconnect / Manifold。流量平衡、壓力損失一致性設計重點。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943600"/>
            <a:ext cx="11201400" cy="3657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9893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每層熱源有不同的設計約束與驗證方法，需建立對應的 Cold Plate 產品線，而非以單一設計覆蓋全部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四層熱源分類是 Cold Plate 產品線架構的基礎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194560" cy="23774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0175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THERMAL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2E"/>
                </a:solidFill>
              </a:rPr>
              <a:t>熱傳路徑從晶片到設施的完整架構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6060"/>
                </a:solidFill>
              </a:rPr>
              <a:t>Cold Plate 是熱從晶片到設施冷卻回路的關鍵節點，每一層都有其工程意義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1691640" cy="2011680"/>
          </a:xfrm>
          <a:prstGeom prst="rect">
            <a:avLst/>
          </a:prstGeom>
          <a:solidFill>
            <a:srgbClr val="F4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29968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Heat
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633472"/>
            <a:ext cx="15453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GPU / ASIC / Power Module
Heat generation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76272" y="269748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06060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9152" y="1920240"/>
            <a:ext cx="1691640" cy="2011680"/>
          </a:xfrm>
          <a:prstGeom prst="rect">
            <a:avLst/>
          </a:prstGeom>
          <a:solidFill>
            <a:srgbClr val="F8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59152" y="2029968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TIM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2304" y="2633472"/>
            <a:ext cx="15453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Thermal Interface Material
Fills micro-gaps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32504" y="269748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0606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15384" y="1920240"/>
            <a:ext cx="1691640" cy="201168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15384" y="2029968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Cold Plate
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8536" y="2633472"/>
            <a:ext cx="15453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Copper / Aluminum base
Uniform heat spread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269748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06060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71616" y="1920240"/>
            <a:ext cx="1691640" cy="20116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71616" y="2029968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Channel /
Fin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2633472"/>
            <a:ext cx="15453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Fin + channel geometry
Convective heat transfer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269748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06060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27848" y="1920240"/>
            <a:ext cx="1691640" cy="20116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7848" y="2029968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Coolant
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2633472"/>
            <a:ext cx="15453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Water / glycol coolant
Absorbs heat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69748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06060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0" y="1920240"/>
            <a:ext cx="1691640" cy="2011680"/>
          </a:xfrm>
          <a:prstGeom prst="rect">
            <a:avLst/>
          </a:prstGeom>
          <a:solidFill>
            <a:srgbClr val="1E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2029968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CDU /
Facility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2633472"/>
            <a:ext cx="15453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Heat rejection to building
Closed loop control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069080"/>
            <a:ext cx="10424160" cy="54864"/>
          </a:xfrm>
          <a:prstGeom prst="rect">
            <a:avLst/>
          </a:prstGeom>
          <a:solidFill>
            <a:srgbClr val="F4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0416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44D33"/>
                </a:solidFill>
              </a:rPr>
              <a:t>Heat 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187952"/>
            <a:ext cx="1042416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16966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8D4"/>
                </a:solidFill>
              </a:rPr>
              <a:t>Coolant flow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617720"/>
            <a:ext cx="11201400" cy="1188720"/>
          </a:xfrm>
          <a:prstGeom prst="rect">
            <a:avLst/>
          </a:prstGeom>
          <a:solidFill>
            <a:srgbClr val="F7F9FC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6634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5EB8"/>
                </a:solidFill>
              </a:rPr>
              <a:t>Key Design Parameters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9560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Fin height / pitch / width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9560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Hydraulic diameter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49560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Surface roughness 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9560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Contact pressure distribution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30352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TIM selection &amp; thickness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530352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Inlet / outlet ΔT &lt; 10°C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Cold Plate 是熱傳路徑的瓶頸節點，需從系統層面優化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194560" cy="23774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0175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CHANNEL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2E"/>
                </a:solidFill>
              </a:rPr>
              <a:t>五種主流流道設計方案的技術比較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6060"/>
                </a:solidFill>
              </a:rPr>
              <a:t>不同流道幾何適用於不同熱密度與流量條件，需依應用場景選擇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2240280" cy="402336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1764792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691640"/>
            <a:ext cx="2240280" cy="402336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43784" y="1764792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Advantage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691640"/>
            <a:ext cx="2240280" cy="402336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9784" y="1764792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Heat Flux Range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691640"/>
            <a:ext cx="2240280" cy="402336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15784" y="1764792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Complexity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46920" y="1691640"/>
            <a:ext cx="2240280" cy="402336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01784" y="1764792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093976"/>
            <a:ext cx="22402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2148840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Parallel
Channel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2093976"/>
            <a:ext cx="22402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43784" y="2148840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Low δP, uniform flow, easy to manufacture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2093976"/>
            <a:ext cx="22402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9784" y="2148840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Medium heat flux
&lt; 300W/cm²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20" y="2093976"/>
            <a:ext cx="22402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15784" y="2148840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46920" y="2093976"/>
            <a:ext cx="22402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01784" y="2148840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966B"/>
                </a:solidFill>
              </a:rPr>
              <a:t>Recommended
(Power rack 48V)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496312"/>
            <a:ext cx="224028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" y="2551176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Serpentine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88920" y="2496312"/>
            <a:ext cx="224028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43784" y="2551176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Long path, good for high flux, slight δP penalty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74920" y="2496312"/>
            <a:ext cx="224028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9784" y="2551176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Medium-high
300–450W/cm²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60920" y="2496312"/>
            <a:ext cx="224028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15784" y="2551176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Medium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2496312"/>
            <a:ext cx="224028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01784" y="2551176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800"/>
                </a:solidFill>
              </a:rPr>
              <a:t>Applicable
(GPU cold plate)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2898648"/>
            <a:ext cx="22402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" y="2953512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Pin Fin /
Skived Fin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88920" y="2898648"/>
            <a:ext cx="22402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43784" y="2953512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High area density, efficient heat transfer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74920" y="2898648"/>
            <a:ext cx="22402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9784" y="2953512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High heat flux
&gt; 400W/cm²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60920" y="2898648"/>
            <a:ext cx="22402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15784" y="2953512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High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46920" y="2898648"/>
            <a:ext cx="22402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01784" y="2953512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7B39"/>
                </a:solidFill>
              </a:rPr>
              <a:t>Applicable
(GPU cold plate)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300984"/>
            <a:ext cx="224028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7784" y="3355848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Microchannel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88920" y="3300984"/>
            <a:ext cx="224028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43784" y="3355848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Ultra-high HTC, minimal thermal resistance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74920" y="3300984"/>
            <a:ext cx="224028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29784" y="3355848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Very high flux
(limited by clogs)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60920" y="3300984"/>
            <a:ext cx="224028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15784" y="3355848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Very High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46920" y="3300984"/>
            <a:ext cx="224028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01784" y="3355848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C2626"/>
                </a:solidFill>
              </a:rPr>
              <a:t>Research only
(Mass production TBD)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3703320"/>
            <a:ext cx="22402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7784" y="3758184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Hybrid
Channel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88920" y="3703320"/>
            <a:ext cx="22402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43784" y="3758184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Combines geometries, optimized for AI server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74920" y="3703320"/>
            <a:ext cx="22402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29784" y="3758184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High density
200–500W/cm²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60920" y="3703320"/>
            <a:ext cx="22402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15784" y="3758184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Medium-High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3703320"/>
            <a:ext cx="22402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01784" y="3758184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5EB8"/>
                </a:solidFill>
              </a:rPr>
              <a:t>Preferred
(Primary target)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3977639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06060"/>
                </a:solidFill>
              </a:rPr>
              <a:t>Geometric diagrams (representative only — detailed CAD geometries to be defined in Phase 1)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流道幾何沒有最佳解，只有最適解 — 需依熱密度、壓降、量產三維度評估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194560" cy="23774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0175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KEY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2E"/>
                </a:solidFill>
              </a:rPr>
              <a:t>Cold Plate 設計四類關鍵參數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6060"/>
                </a:solidFill>
              </a:rPr>
              <a:t>設計驗證需從 Thermal / Fluid / Mechanical / Reliability 四個維度同步展開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2788920" cy="3931920"/>
          </a:xfrm>
          <a:prstGeom prst="rect">
            <a:avLst/>
          </a:prstGeom>
          <a:solidFill>
            <a:srgbClr val="F7F9FC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2788920" cy="34747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28216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Thermal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" y="2103120"/>
            <a:ext cx="269748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39696"/>
            <a:ext cx="2660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5EB8"/>
                </a:solidFill>
              </a:rPr>
              <a:t>R_th (熱阻)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&lt; 0.05°C-in²/W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2139696"/>
            <a:ext cx="594360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2139696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TBD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98064"/>
            <a:ext cx="2660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5EB8"/>
                </a:solidFill>
              </a:rPr>
              <a:t>Chip ΔT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3580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&lt; 5°C across chip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2798064"/>
            <a:ext cx="594360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40" y="2798064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TBD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" y="3419856"/>
            <a:ext cx="269748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456432"/>
            <a:ext cx="2660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5EB8"/>
                </a:solidFill>
              </a:rPr>
              <a:t>ΔT (inlet/outlet)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6941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&lt; 10°C at design flow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3456432"/>
            <a:ext cx="594360" cy="201168"/>
          </a:xfrm>
          <a:prstGeom prst="rect">
            <a:avLst/>
          </a:prstGeom>
          <a:solidFill>
            <a:srgbClr val="009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06040" y="345643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Confirmed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114800"/>
            <a:ext cx="2660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5EB8"/>
                </a:solidFill>
              </a:rPr>
              <a:t>Contact pressure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35254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0.5–2 MPa uniform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4114800"/>
            <a:ext cx="594360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06040" y="4114800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TBD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01568" y="1691640"/>
            <a:ext cx="2788920" cy="3931920"/>
          </a:xfrm>
          <a:prstGeom prst="rect">
            <a:avLst/>
          </a:prstGeom>
          <a:solidFill>
            <a:srgbClr val="F7F9FC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01568" y="1691640"/>
            <a:ext cx="2788920" cy="3474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01568" y="1728216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Fluid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56432" y="2103120"/>
            <a:ext cx="269748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93008" y="2139696"/>
            <a:ext cx="2660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8D4"/>
                </a:solidFill>
              </a:rPr>
              <a:t>Flow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8" y="237744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5–20 LPM per cold plate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04688" y="2139696"/>
            <a:ext cx="594360" cy="201168"/>
          </a:xfrm>
          <a:prstGeom prst="rect">
            <a:avLst/>
          </a:prstGeom>
          <a:solidFill>
            <a:srgbClr val="009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04688" y="2139696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Confirmed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93008" y="2798064"/>
            <a:ext cx="2660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8D4"/>
                </a:solidFill>
              </a:rPr>
              <a:t>Pressure drop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93008" y="303580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&lt; 30 kPa @ 15 LPM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04688" y="2798064"/>
            <a:ext cx="594360" cy="20116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04688" y="2798064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56432" y="3419856"/>
            <a:ext cx="269748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93008" y="3456432"/>
            <a:ext cx="2660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8D4"/>
                </a:solidFill>
              </a:rPr>
              <a:t>Flow uniformity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93008" y="36941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&lt; 10% deviation per channel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04688" y="3456432"/>
            <a:ext cx="594360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04688" y="345643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TBD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93008" y="4114800"/>
            <a:ext cx="2660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8D4"/>
                </a:solidFill>
              </a:rPr>
              <a:t>Reynolds number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93008" y="435254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Re &lt; 2300 (laminar) or Re &gt; 4000 (turb)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04688" y="4114800"/>
            <a:ext cx="594360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04688" y="4114800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TBD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0216" y="1691640"/>
            <a:ext cx="2788920" cy="3931920"/>
          </a:xfrm>
          <a:prstGeom prst="rect">
            <a:avLst/>
          </a:prstGeom>
          <a:solidFill>
            <a:srgbClr val="F7F9FC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0216" y="1691640"/>
            <a:ext cx="2788920" cy="347472"/>
          </a:xfrm>
          <a:prstGeom prst="rect">
            <a:avLst/>
          </a:prstGeom>
          <a:solidFill>
            <a:srgbClr val="1E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0216" y="1728216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Mechanical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55080" y="2103120"/>
            <a:ext cx="269748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91656" y="2139696"/>
            <a:ext cx="2660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5D9A"/>
                </a:solidFill>
              </a:rPr>
              <a:t>Flatness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91656" y="237744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&lt; 0.05mm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03336" y="2139696"/>
            <a:ext cx="594360" cy="201168"/>
          </a:xfrm>
          <a:prstGeom prst="rect">
            <a:avLst/>
          </a:prstGeom>
          <a:solidFill>
            <a:srgbClr val="009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03336" y="2139696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Confirmed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91656" y="2798064"/>
            <a:ext cx="2660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5D9A"/>
                </a:solidFill>
              </a:rPr>
              <a:t>Thickness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91656" y="303580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&lt; 6mm for GPU cold plate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03336" y="2798064"/>
            <a:ext cx="594360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03336" y="2798064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TBD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55080" y="3419856"/>
            <a:ext cx="269748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91656" y="3456432"/>
            <a:ext cx="2660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5D9A"/>
                </a:solidFill>
              </a:rPr>
              <a:t>Material strength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91656" y="36941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Al 6061-T6 yield &gt; 270 MPa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03336" y="3456432"/>
            <a:ext cx="594360" cy="201168"/>
          </a:xfrm>
          <a:prstGeom prst="rect">
            <a:avLst/>
          </a:prstGeom>
          <a:solidFill>
            <a:srgbClr val="009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03336" y="345643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Confirmed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91656" y="4114800"/>
            <a:ext cx="2660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5D9A"/>
                </a:solidFill>
              </a:rPr>
              <a:t>Mount interface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91656" y="435254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Compatible with rack holder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403336" y="4114800"/>
            <a:ext cx="594360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03336" y="4114800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TBD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98864" y="1691640"/>
            <a:ext cx="2788920" cy="3931920"/>
          </a:xfrm>
          <a:prstGeom prst="rect">
            <a:avLst/>
          </a:prstGeom>
          <a:solidFill>
            <a:srgbClr val="F7F9FC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198864" y="1691640"/>
            <a:ext cx="2788920" cy="34747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98864" y="1728216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Reliability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253728" y="2103120"/>
            <a:ext cx="269748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90304" y="2139696"/>
            <a:ext cx="2660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7B39"/>
                </a:solidFill>
              </a:rPr>
              <a:t>Thermal cycling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90304" y="237744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5,000 cycles -40°C/+85°C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301984" y="2139696"/>
            <a:ext cx="594360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301984" y="2139696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TBD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90304" y="2798064"/>
            <a:ext cx="2660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7B39"/>
                </a:solidFill>
              </a:rPr>
              <a:t>Pressure test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90304" y="303580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1.5× max operating pressure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301984" y="2798064"/>
            <a:ext cx="594360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301984" y="2798064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TBD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253728" y="3419856"/>
            <a:ext cx="269748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290304" y="3456432"/>
            <a:ext cx="2660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7B39"/>
                </a:solidFill>
              </a:rPr>
              <a:t>Vibration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290304" y="36941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Per rack environment (TBD)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301984" y="3456432"/>
            <a:ext cx="594360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301984" y="345643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TBD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290304" y="4114800"/>
            <a:ext cx="2660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7B39"/>
                </a:solidFill>
              </a:rPr>
              <a:t>Corrosion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90304" y="435254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Per water quality spec (TBD)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301984" y="4114800"/>
            <a:ext cx="594360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301984" y="4114800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TBD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029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四類參數同步追蹤，是 Cold Plate 從設計到量產的品質把關核心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194560" cy="23774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0175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MATERIALS &amp;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2E"/>
                </a:solidFill>
              </a:rPr>
              <a:t>材料與製程評估 — 散熱性能 vs. 成本 vs. 可量產性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6060"/>
                </a:solidFill>
              </a:rPr>
              <a:t>材料與製程的選擇決定了 Cold Plate 的散熱性能上限與量產成本，需在設計階段早期確認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2331720" cy="3840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176479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Material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1691640"/>
            <a:ext cx="2331720" cy="3840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35224" y="176479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Thermal Conductivity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1691640"/>
            <a:ext cx="2331720" cy="3840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12664" y="176479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1691640"/>
            <a:ext cx="2148840" cy="3840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0104" y="176479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Mass Production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29800" y="1691640"/>
            <a:ext cx="2606040" cy="3840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84664" y="176479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Application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075688"/>
            <a:ext cx="2331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2130552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8600"/>
                </a:solidFill>
              </a:rPr>
              <a:t>Copper (Cu)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2075688"/>
            <a:ext cx="2331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130552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~400 W/m·K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57800" y="2075688"/>
            <a:ext cx="2331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12664" y="2130552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High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2075688"/>
            <a:ext cx="21488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0104" y="2130552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CNC / Brazing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29800" y="2075688"/>
            <a:ext cx="26060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84664" y="213055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High-power GPU cold plate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459736"/>
            <a:ext cx="2331720" cy="384048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" y="2514600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6060"/>
                </a:solidFill>
              </a:rPr>
              <a:t>Aluminum (6061/6063)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80360" y="2459736"/>
            <a:ext cx="2331720" cy="384048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35224" y="2514600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~150–180 W/m·K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57800" y="2459736"/>
            <a:ext cx="2331720" cy="384048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12664" y="2514600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Medium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5240" y="2459736"/>
            <a:ext cx="2148840" cy="384048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90104" y="251460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FSW / Stamping / CNC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29800" y="2459736"/>
            <a:ext cx="2606040" cy="384048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84664" y="251460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Medium-power / Power rack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2843784"/>
            <a:ext cx="2331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" y="289864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7A7A"/>
                </a:solidFill>
              </a:rPr>
              <a:t>Stainless Steel (SS)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80360" y="2843784"/>
            <a:ext cx="2331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35224" y="289864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~15 W/m·K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57800" y="2843784"/>
            <a:ext cx="2331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12664" y="289864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Medium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35240" y="2843784"/>
            <a:ext cx="21488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90104" y="289864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Stamping / Welding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29800" y="2843784"/>
            <a:ext cx="26060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84664" y="289864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Corrosion-sensitive applications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227832"/>
            <a:ext cx="2331720" cy="384048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7784" y="3282696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5EB8"/>
                </a:solidFill>
              </a:rPr>
              <a:t>Hybrid (Cu base + Al fin)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80360" y="3227832"/>
            <a:ext cx="2331720" cy="384048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35224" y="3282696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~250–300 W/m·K effective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57800" y="3227832"/>
            <a:ext cx="2331720" cy="384048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12664" y="3282696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Medium-High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35240" y="3227832"/>
            <a:ext cx="2148840" cy="384048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90104" y="3282696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Brazing / FSW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29800" y="3227832"/>
            <a:ext cx="2606040" cy="384048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84664" y="3282696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Primary choice — high power AI server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3520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5EB8"/>
                </a:solidFill>
              </a:rPr>
              <a:t>Manufacturing Process Comparison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3840480"/>
            <a:ext cx="3657600" cy="438912"/>
          </a:xfrm>
          <a:prstGeom prst="rect">
            <a:avLst/>
          </a:prstGeom>
          <a:solidFill>
            <a:srgbClr val="EEF4FA"/>
          </a:solidFill>
          <a:ln w="508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387705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5EB8"/>
                </a:solidFill>
              </a:rPr>
              <a:t>CNC Machining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4078224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</a:rPr>
              <a:t>Prototype / low volume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34840" y="3840480"/>
            <a:ext cx="3657600" cy="438912"/>
          </a:xfrm>
          <a:prstGeom prst="rect">
            <a:avLst/>
          </a:prstGeom>
          <a:solidFill>
            <a:srgbClr val="EEF4FA"/>
          </a:solidFill>
          <a:ln w="508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26280" y="387705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5EB8"/>
                </a:solidFill>
              </a:rPr>
              <a:t>Brazing (釺焊)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26280" y="4078224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</a:rPr>
              <a:t>High-power cold plate (primary)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75320" y="3840480"/>
            <a:ext cx="3657600" cy="438912"/>
          </a:xfrm>
          <a:prstGeom prst="rect">
            <a:avLst/>
          </a:prstGeom>
          <a:solidFill>
            <a:srgbClr val="EEF4FA"/>
          </a:solidFill>
          <a:ln w="508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66760" y="387705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5EB8"/>
                </a:solidFill>
              </a:rPr>
              <a:t>FSW (攪拌摩擦焊)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66760" y="4078224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</a:rPr>
              <a:t>High-volume Al production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4279392"/>
            <a:ext cx="3657600" cy="438912"/>
          </a:xfrm>
          <a:prstGeom prst="rect">
            <a:avLst/>
          </a:prstGeom>
          <a:solidFill>
            <a:srgbClr val="EEF4FA"/>
          </a:solidFill>
          <a:ln w="508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4360" y="43159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5EB8"/>
                </a:solidFill>
              </a:rPr>
              <a:t>Skiving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4360" y="4517136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</a:rPr>
              <a:t>Pin fin cold plate (high performance)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34840" y="4279392"/>
            <a:ext cx="3657600" cy="438912"/>
          </a:xfrm>
          <a:prstGeom prst="rect">
            <a:avLst/>
          </a:prstGeom>
          <a:solidFill>
            <a:srgbClr val="EEF4FA"/>
          </a:solidFill>
          <a:ln w="508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26280" y="43159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5EB8"/>
                </a:solidFill>
              </a:rPr>
              <a:t>Stamping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26280" y="4517136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</a:rPr>
              <a:t>Power rack cold plate (simple geometry)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75320" y="4279392"/>
            <a:ext cx="3657600" cy="438912"/>
          </a:xfrm>
          <a:prstGeom prst="rect">
            <a:avLst/>
          </a:prstGeom>
          <a:solidFill>
            <a:srgbClr val="EEF4FA"/>
          </a:solidFill>
          <a:ln w="508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66760" y="43159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5EB8"/>
                </a:solidFill>
              </a:rPr>
              <a:t>Surface Treatment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66760" y="4517136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</a:rPr>
              <a:t>Corrosion protection + appearance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材料 + 製程聯合選擇決定性能上限與量產成本，需在 Concept 階段早期確認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194560" cy="23774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0175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SEALING &amp; LEAK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2E"/>
                </a:solidFill>
              </a:rPr>
              <a:t>密封設計與漏液風險管理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6060"/>
                </a:solidFill>
              </a:rPr>
              <a:t>漏液是液冷系統的頭號風險，密封設計必須從架構層面而非零件層面來處理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2331720" cy="37490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1764792"/>
            <a:ext cx="23317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Seal 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1691640"/>
            <a:ext cx="2331720" cy="37490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35224" y="1764792"/>
            <a:ext cx="23317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1691640"/>
            <a:ext cx="2331720" cy="37490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12664" y="1764792"/>
            <a:ext cx="23317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Leak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1691640"/>
            <a:ext cx="2148840" cy="37490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0104" y="1764792"/>
            <a:ext cx="2148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Temp Range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29800" y="1691640"/>
            <a:ext cx="2606040" cy="37490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84664" y="1764792"/>
            <a:ext cx="26060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Serviceability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066544"/>
            <a:ext cx="233172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2121408"/>
            <a:ext cx="2240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66B"/>
                </a:solidFill>
              </a:rPr>
              <a:t>O-ring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2066544"/>
            <a:ext cx="233172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121408"/>
            <a:ext cx="2240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57800" y="2066544"/>
            <a:ext cx="233172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12664" y="2121408"/>
            <a:ext cx="2240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Low (periodic replacement)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2066544"/>
            <a:ext cx="214884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0104" y="2121408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-40°C to +120°C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29800" y="2066544"/>
            <a:ext cx="260604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84664" y="2121408"/>
            <a:ext cx="2514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Easy — replaceable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441448"/>
            <a:ext cx="2331720" cy="374904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" y="2496312"/>
            <a:ext cx="2240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A800"/>
                </a:solidFill>
              </a:rPr>
              <a:t>Gasket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80360" y="2441448"/>
            <a:ext cx="2331720" cy="374904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35224" y="2496312"/>
            <a:ext cx="2240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Medium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57800" y="2441448"/>
            <a:ext cx="2331720" cy="374904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12664" y="2496312"/>
            <a:ext cx="2240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Medium (bolt torque critical)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5240" y="2441448"/>
            <a:ext cx="2148840" cy="374904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90104" y="2496312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-40°C to +150°C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29800" y="2441448"/>
            <a:ext cx="2606040" cy="374904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84664" y="2496312"/>
            <a:ext cx="2514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Moderate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2816352"/>
            <a:ext cx="233172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" y="2871216"/>
            <a:ext cx="2240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7B39"/>
                </a:solidFill>
              </a:rPr>
              <a:t>Welding / Brazing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80360" y="2816352"/>
            <a:ext cx="233172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35224" y="2871216"/>
            <a:ext cx="2240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High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57800" y="2816352"/>
            <a:ext cx="233172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12664" y="2871216"/>
            <a:ext cx="2240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Near-zero (permanent)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35240" y="2816352"/>
            <a:ext cx="214884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90104" y="2871216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Wide range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29800" y="2816352"/>
            <a:ext cx="260604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84664" y="2871216"/>
            <a:ext cx="2514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Not serviceable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191256"/>
            <a:ext cx="2331720" cy="374904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7784" y="3246120"/>
            <a:ext cx="2240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5EB8"/>
                </a:solidFill>
              </a:rPr>
              <a:t>Compression Fitting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80360" y="3191256"/>
            <a:ext cx="2331720" cy="374904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35224" y="3246120"/>
            <a:ext cx="2240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Medium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57800" y="3191256"/>
            <a:ext cx="2331720" cy="374904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12664" y="3246120"/>
            <a:ext cx="2240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Low (if assembled correctly)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35240" y="3191256"/>
            <a:ext cx="2148840" cy="374904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90104" y="3246120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-40°C to +200°C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29800" y="3191256"/>
            <a:ext cx="2606040" cy="374904"/>
          </a:xfrm>
          <a:prstGeom prst="rect">
            <a:avLst/>
          </a:prstGeom>
          <a:solidFill>
            <a:srgbClr val="F7F9FC"/>
          </a:solidFill>
          <a:ln w="38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84664" y="3246120"/>
            <a:ext cx="2514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Moderate — disassemblable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03720" y="3337560"/>
            <a:ext cx="4983480" cy="2331720"/>
          </a:xfrm>
          <a:prstGeom prst="rect">
            <a:avLst/>
          </a:prstGeom>
          <a:solidFill>
            <a:srgbClr val="FEF3F0"/>
          </a:solidFill>
          <a:ln w="10160">
            <a:solidFill>
              <a:srgbClr val="E07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40880" y="340156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7B39"/>
                </a:solidFill>
              </a:rPr>
              <a:t>Leak Risk Locations &amp; Mitigation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0880" y="37033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Cold plate body seam: Braze/weld → 100% He test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0880" y="408736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Quick disconnect interface: O-ring + bubble sensor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40880" y="447141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Manifold joints: Gasket + leak detection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40880" y="485546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CDU connection: Compression fitting + pressure monitor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" y="5943600"/>
            <a:ext cx="11201400" cy="3657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5998464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Serviceability target: Repair time &lt; 30 min | Quick disconnect with hot-swap capability required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9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漏液風險需從架構層面管理，而非只靠單一密封技術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194560" cy="23774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0175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VALIDATION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2E"/>
                </a:solidFill>
              </a:rPr>
              <a:t>從 Requirement 到 DFM 的標準工程驗證流程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6060"/>
                </a:solidFill>
              </a:rPr>
              <a:t>Cold Plate 開發需要一個標準化的驗證流程，確保 design decision 有據可查、有數字支撐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9848" y="1508760"/>
            <a:ext cx="548640" cy="32004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1527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691640" cy="21031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Requirement
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2542032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System heat demand → Cold Plate specs
Design Input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26060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06060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1508760"/>
            <a:ext cx="548640" cy="32004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527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59152" y="1828800"/>
            <a:ext cx="1691640" cy="21031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9152" y="196596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Thermal
Modeling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14016" y="2542032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3D CAD + FEA thermal analysis
Chip heat flux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32504" y="26060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06060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82312" y="1508760"/>
            <a:ext cx="548640" cy="3200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82312" y="1527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15384" y="1828800"/>
            <a:ext cx="1691640" cy="21031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15384" y="196596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CFD / Flow
Simulation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2542032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Pressure drop, flow uniformity
Sensitivity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88736" y="26060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06060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1508760"/>
            <a:ext cx="548640" cy="320040"/>
          </a:xfrm>
          <a:prstGeom prst="rect">
            <a:avLst/>
          </a:prstGeom>
          <a:solidFill>
            <a:srgbClr val="1E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38544" y="1527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71616" y="1828800"/>
            <a:ext cx="1691640" cy="2103120"/>
          </a:xfrm>
          <a:prstGeom prst="rect">
            <a:avLst/>
          </a:prstGeom>
          <a:solidFill>
            <a:srgbClr val="1E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71616" y="196596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Prototype
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2542032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CNC / 3D print rapid prototype
Brazing for production-representative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44968" y="26060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06060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94776" y="1508760"/>
            <a:ext cx="548640" cy="3200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94776" y="1527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27848" y="1828800"/>
            <a:ext cx="1691640" cy="210312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7848" y="196596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Physical
Testing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82712" y="2542032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Thermal / fluid / mechanical / reliability
Full validation test matrix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26060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06060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51008" y="1508760"/>
            <a:ext cx="548640" cy="32004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51008" y="1527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84080" y="1828800"/>
            <a:ext cx="1691640" cy="210312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0" y="196596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DFM +
NPI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38944" y="2542032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Manufacturing feasibility review
CPK / QC standard / CSP FAT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45952" y="404164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C2626"/>
                </a:solidFill>
              </a:rPr>
              <a:t>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4023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C2626"/>
                </a:solidFill>
              </a:rPr>
              <a:t>Iteration loop: Failed tests return to Step 2 (Thermal/Fluid redesign) — target max 3 iterations per design cycle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4279392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5EB8"/>
                </a:solidFill>
              </a:rPr>
              <a:t>Decision Gates: S1→S2 (Design Review) | S3→S4 (Prototype Go/No-Go) | S5→S6 (DFM Sign-off) | S6→Production (NPI Release)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標準化驗證流程是 Cold Plate Engineering Platform 的核心模組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194560" cy="23774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0175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VALIDATION TEST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2E"/>
                </a:solidFill>
              </a:rPr>
              <a:t>Cold Plate 驗證測試矩陣 — Thermal / Fluid / Mechanical /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6060"/>
                </a:solidFill>
              </a:rPr>
              <a:t>四類測試構成完整的驗證框架，缺任何一類都無法確保產品達到量產品質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2788920" cy="3931920"/>
          </a:xfrm>
          <a:prstGeom prst="rect">
            <a:avLst/>
          </a:prstGeom>
          <a:solidFill>
            <a:srgbClr val="F7F9FC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2788920" cy="32004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28216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Thermal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" y="2075688"/>
            <a:ext cx="26974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R_th vs. flow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13432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966B"/>
                </a:solidFill>
              </a:rPr>
              <a:t>→ Pass: within 15% of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5176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Surface ΔT (IR imaging)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62072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966B"/>
                </a:solidFill>
              </a:rPr>
              <a:t>→ Pass: ΔT &lt; 5°C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" y="3172968"/>
            <a:ext cx="26974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20040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Inlet/outlet ΔT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10712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966B"/>
                </a:solidFill>
              </a:rPr>
              <a:t>→ Pass: ΔT &lt; 10°C @ design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4904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72h steady-state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959352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966B"/>
                </a:solidFill>
              </a:rPr>
              <a:t>→ Pass: stable operation, no degradation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788920" cy="3931920"/>
          </a:xfrm>
          <a:prstGeom prst="rect">
            <a:avLst/>
          </a:prstGeom>
          <a:solidFill>
            <a:srgbClr val="F7F9FC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2788920" cy="3200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1728216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Fluid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56432" y="2075688"/>
            <a:ext cx="26974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93008" y="210312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P-Q curve (pressure vs. flow)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2313432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966B"/>
                </a:solidFill>
              </a:rPr>
              <a:t>→ Pass: &lt; 30kPa @ 15LPM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3008" y="265176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Flow uniformity (array)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3008" y="2862072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966B"/>
                </a:solidFill>
              </a:rPr>
              <a:t>→ Pass: deviation &lt; 10%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56432" y="3172968"/>
            <a:ext cx="26974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93008" y="320040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Re number assessment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93008" y="3410712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966B"/>
                </a:solidFill>
              </a:rPr>
              <a:t>→ Confirm design assumption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93008" y="374904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Water quality corrosion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3008" y="3959352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966B"/>
                </a:solidFill>
              </a:rPr>
              <a:t>→ Pass: no corrosion after 1,000h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0216" y="1691640"/>
            <a:ext cx="2788920" cy="3931920"/>
          </a:xfrm>
          <a:prstGeom prst="rect">
            <a:avLst/>
          </a:prstGeom>
          <a:solidFill>
            <a:srgbClr val="F7F9FC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0216" y="1691640"/>
            <a:ext cx="2788920" cy="320040"/>
          </a:xfrm>
          <a:prstGeom prst="rect">
            <a:avLst/>
          </a:prstGeom>
          <a:solidFill>
            <a:srgbClr val="1E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0216" y="1728216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Mechanical / Reliability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2075688"/>
            <a:ext cx="26974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91656" y="210312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Pressure hold test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1656" y="2313432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966B"/>
                </a:solidFill>
              </a:rPr>
              <a:t>→ Pass: no leak at 30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1656" y="265176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Burst / hydrostatic test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1656" y="2862072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966B"/>
                </a:solidFill>
              </a:rPr>
              <a:t>→ Pass: &gt; 3× rated pressure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72968"/>
            <a:ext cx="26974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91656" y="320040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Thermal cycling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91656" y="3410712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966B"/>
                </a:solidFill>
              </a:rPr>
              <a:t>→ Pass: no cracks, leak rate &lt; 1×10⁻⁸ Pa·m³/s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91656" y="374904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Vibration test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1656" y="3959352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966B"/>
                </a:solidFill>
              </a:rPr>
              <a:t>→ Pass: no mechanical degradation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98864" y="1691640"/>
            <a:ext cx="2788920" cy="3931920"/>
          </a:xfrm>
          <a:prstGeom prst="rect">
            <a:avLst/>
          </a:prstGeom>
          <a:solidFill>
            <a:srgbClr val="F7F9FC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98864" y="1691640"/>
            <a:ext cx="2788920" cy="3200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98864" y="1728216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System-Level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53728" y="2075688"/>
            <a:ext cx="26974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90304" y="210312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CDU integration test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90304" y="2313432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966B"/>
                </a:solidFill>
              </a:rPr>
              <a:t>→ Pass: stable feedback control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90304" y="265176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QD hot-plug test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90304" y="2862072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966B"/>
                </a:solidFill>
              </a:rPr>
              <a:t>→ Pass: 100 cycles, no leak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53728" y="3172968"/>
            <a:ext cx="26974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90304" y="320040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Rack-level leak test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90304" y="3410712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966B"/>
                </a:solidFill>
              </a:rPr>
              <a:t>→ Pass: zero leak under working pressure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90304" y="374904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CSP FAT (customer)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90304" y="3959352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966B"/>
                </a:solidFill>
              </a:rPr>
              <a:t>→ Per customer spec (TBD)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四類測試缺一不可，測試矩陣需與客戶規格和系統需求同步更新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194560" cy="23774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0175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2E"/>
                </a:solidFill>
              </a:rPr>
              <a:t>六大技術風險與對應策略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6060"/>
                </a:solidFill>
              </a:rPr>
              <a:t>風險需在設計階段早期識別，否則進入 NPI 後的補救成本將呈指數增加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3520440" cy="91440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352044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0136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</a:rPr>
              <a:t>R1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Pressure Drop
Exceeds Target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764792"/>
            <a:ext cx="365760" cy="182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76479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L:H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47872" y="1764792"/>
            <a:ext cx="365760" cy="182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176479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I:H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03911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</a:rPr>
              <a:t>→ CFD override → channel geometry optimization → set δP limit in design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31343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Consequence: CDU pump overload, flow starvation, overheating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87952" y="1691640"/>
            <a:ext cx="3520440" cy="91440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87952" y="1691640"/>
            <a:ext cx="352044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9392" y="180136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</a:rPr>
              <a:t>R2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Thermal Target
Unmet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39712" y="1764792"/>
            <a:ext cx="365760" cy="18288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176479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L:M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32904" y="1764792"/>
            <a:ext cx="365760" cy="182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76479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I:H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203911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</a:rPr>
              <a:t>→ Build simulation→prototype→test fast iteration capability; TAT &lt; 4 weeks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9392" y="231343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Consequence: Chip throttling, customer complaint, program delay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72984" y="1691640"/>
            <a:ext cx="3520440" cy="91440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72984" y="1691640"/>
            <a:ext cx="3520440" cy="7315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64424" y="180136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7B39"/>
                </a:solidFill>
              </a:rPr>
              <a:t>R3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Leakage
Risk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24744" y="1764792"/>
            <a:ext cx="365760" cy="182880"/>
          </a:xfrm>
          <a:prstGeom prst="rect">
            <a:avLst/>
          </a:prstGeom>
          <a:solidFill>
            <a:srgbClr val="009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24744" y="176479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L:L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17936" y="1764792"/>
            <a:ext cx="365760" cy="182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17936" y="176479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I:H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64424" y="203911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</a:rPr>
              <a:t>→ Seal design review, 100% He test in production, leak sensor standard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64424" y="231343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Consequence: Data center incident, liability, brand damage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2697480"/>
            <a:ext cx="3520440" cy="91440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2697480"/>
            <a:ext cx="3520440" cy="7315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280720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7B39"/>
                </a:solidFill>
              </a:rPr>
              <a:t>R4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Corrosion /
Water Quality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54680" y="2770632"/>
            <a:ext cx="365760" cy="18288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54680" y="27706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L:M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47872" y="2770632"/>
            <a:ext cx="365760" cy="18288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47872" y="27706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I:M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304495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</a:rPr>
              <a:t>→ Establish water quality spec; material selection (Ni-plated Cu) upfront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33192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Consequence: Channel clogging, efficiency decline, high warranty cost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87952" y="2697480"/>
            <a:ext cx="3520440" cy="91440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87952" y="2697480"/>
            <a:ext cx="3520440" cy="73152"/>
          </a:xfrm>
          <a:prstGeom prst="rect">
            <a:avLst/>
          </a:prstGeom>
          <a:solidFill>
            <a:srgbClr val="E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79392" y="280720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A800"/>
                </a:solidFill>
              </a:rPr>
              <a:t>R5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26864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Manufacturing
Yield Risk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39712" y="2770632"/>
            <a:ext cx="365760" cy="18288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39712" y="27706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L:M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32904" y="2770632"/>
            <a:ext cx="365760" cy="18288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32904" y="27706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I:M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79392" y="304495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</a:rPr>
              <a:t>→ DFM review early in design; early supplier engagement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79392" y="33192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Consequence: Higher unit cost, NPI delay, supply shortage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72984" y="2697480"/>
            <a:ext cx="3520440" cy="91440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872984" y="2697480"/>
            <a:ext cx="3520440" cy="73152"/>
          </a:xfrm>
          <a:prstGeom prst="rect">
            <a:avLst/>
          </a:prstGeom>
          <a:solidFill>
            <a:srgbClr val="E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64424" y="280720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A800"/>
                </a:solidFill>
              </a:rPr>
              <a:t>R6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11896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Field Service
Difficulty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524744" y="2770632"/>
            <a:ext cx="365760" cy="182880"/>
          </a:xfrm>
          <a:prstGeom prst="rect">
            <a:avLst/>
          </a:prstGeom>
          <a:solidFill>
            <a:srgbClr val="009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24744" y="27706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L:L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917936" y="2770632"/>
            <a:ext cx="365760" cy="18288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917936" y="27706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I:M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64424" y="304495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</a:rPr>
              <a:t>→ Modular design, QD standard, service manual, spare parts policy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64424" y="33192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Consequence: Longer downtime, high post-sale cost, low satisfaction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5989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06060"/>
                </a:solidFill>
              </a:rPr>
              <a:t>L = Likelihood | I = Impact | H=High / M=Medium / L=Low | RAG: Red=High risk / Orange=Medium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風險管理是持續性活動，需要跨團隊 Visibility，Engineering Platform 提供這個框架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194560" cy="23774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0175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DEVELOPMENT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2E"/>
                </a:solidFill>
              </a:rPr>
              <a:t>12 個月開發計畫 Roadmap — 從 Concept 到 NPI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6060"/>
                </a:solidFill>
              </a:rPr>
              <a:t>三階段里程碑，確保每一階段都有可驗證的交付物，逐步建立 Cold Plate Engineering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3657600" cy="393192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3657600" cy="5029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465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1
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219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5EB8"/>
                </a:solidFill>
              </a:rPr>
              <a:t>Month 0–2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53288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建立工程需求矩陣（熱/流體/機械/可靠度）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008376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完成流道設計方案篩選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483864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材料與製程初步評估（CNC 打樣驗證）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95935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建構 Thermal/Fluid 模擬能力（CAE 工具）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5029200"/>
            <a:ext cx="3511296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093208"/>
            <a:ext cx="34930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05EB8"/>
                </a:solidFill>
              </a:rPr>
              <a:t>交付物：Engineering Requirements Spec + Concept Design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2232" y="35204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5EB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06824" y="1691640"/>
            <a:ext cx="3657600" cy="393192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6824" y="1691640"/>
            <a:ext cx="3657600" cy="5029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6824" y="17465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2
Prototype &amp;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6824" y="22219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A3E0"/>
                </a:solidFill>
              </a:rPr>
              <a:t>Month 3–6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253288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完成 Hybrid channel cold plate 詳細設計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3008376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CNC prototype build（2–3 輪迭代）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3483864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執行完整驗證測試矩陣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95935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建立 DFM checklist 與製造可行性審查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443484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CSP 客戶技術研討（確認介面相容性）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9976" y="5029200"/>
            <a:ext cx="3511296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98264" y="5093208"/>
            <a:ext cx="34930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0A3E0"/>
                </a:solidFill>
              </a:rPr>
              <a:t>交付物：Prototype Report + Validation Test Report + DFM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46136" y="35204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5EB8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0728" y="1691640"/>
            <a:ext cx="3657600" cy="393192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10728" y="1691640"/>
            <a:ext cx="3657600" cy="502920"/>
          </a:xfrm>
          <a:prstGeom prst="rect">
            <a:avLst/>
          </a:prstGeom>
          <a:solidFill>
            <a:srgbClr val="1E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0728" y="17465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3
NPI / Pilot 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0728" y="22219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E5D9A"/>
                </a:solidFill>
              </a:rPr>
              <a:t>Month 7–12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0456" y="253288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DFM 轉量產設計凍結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456" y="3008376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移轉至製造（與供應商建立生產流程）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483864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Pilot build（5–20 套，依客戶需求）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0456" y="395935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Pilot 部署與現場驗證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0456" y="443484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CSP 工廠驗收測試（FAT）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80" y="5029200"/>
            <a:ext cx="3511296" cy="45720"/>
          </a:xfrm>
          <a:prstGeom prst="rect">
            <a:avLst/>
          </a:prstGeom>
          <a:solidFill>
            <a:srgbClr val="1E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02168" y="5093208"/>
            <a:ext cx="34930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E5D9A"/>
                </a:solidFill>
              </a:rPr>
              <a:t>交付物：NPI Release + Pilot Build Report + CSP FAT 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943600"/>
            <a:ext cx="11201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6060"/>
                </a:solidFill>
              </a:rPr>
              <a:t>Resources required: Thermal/Fluid simulation tools (CAE), CNC prototype capability, Test equipment (TBD in Phase 1)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12 個月三階段，建立 Cold Plate Engineering Platform，目標 2027 上半年具備量產能力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