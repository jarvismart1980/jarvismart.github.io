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4.2</c:v>
                </c:pt>
                <c:pt idx="1">
                  <c:v>6.1</c:v>
                </c:pt>
                <c:pt idx="2">
                  <c:v>8.9</c:v>
                </c:pt>
                <c:pt idx="3">
                  <c:v>13</c:v>
                </c:pt>
                <c:pt idx="4">
                  <c:v>19</c:v>
                </c:pt>
                <c:pt idx="5">
                  <c:v>27.5</c:v>
                </c:pt>
                <c:pt idx="6">
                  <c:v>39.1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AI compute density is growing faster than air cooling can handle. GB200 NVL72 at 130kW/rack represents the inflection point where liquid cooling shifts from optional to mandatory. Sources: MarketsandMarkets ($4.2B→$39.1B by 2030, 45.2% CAGR), Gartner (60% new AI data centers liquid-cooled by 2026 vs. 20% in 2023).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 cooling still plays a critical role for non-GPU components (power modules, memory, PCBs). The key insight is not 'air vs liquid' but hybrid: liquid handles high-power chip thermal load while air cooling supports the rest of the system. TMSBU benefits from BOTH trends - more liquid cooling modules AND sustained demand for advanced air cooling components like vapor chambers and 3D VC.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Liquid cooling architecture is not just cold plates. It requires a complete system: cold plates at chip level, manifolds for distribution, CDU for heat rejection, and quick connectors for serviceability. The system integration complexity is where the highest value resides. Key insight: 60% of new AI data centers will be liquid-cooled by 2026 (Gartner), up from only 20% in 2023. This represents a fundamental architecture shift, not a marginal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TMSBU's competitive advantage: we already manufacture fans, heat sinks, heat pipes, vapor chambers, and cold plates - we have the thermal engineering expertise and manufacturing base. The strategic opportunity is to bundle these components into higher-value thermal modules and eventually system-level solutions. Key capability gaps to fill: CDU design/manufacturing, manifold integration, quick connector qualification, system-level thermal simulation. This is not a product roadmap - it is a business model upgrade from component supplier to thermal system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The liquid cooling transition is not a product opportunity - it is a strategic inflection point. TMSBU must move on 4 fronts simultaneously: (1) Technology - build CDU and quick connector capabilities; (2) Customer - get on NVIDIA reference design vendor lists and approach hyperscalers; (3) Product - bundle components into modules, modules into systems; (4) Business - shift from component pricing to system solution contracts. The 6-12 month window is critical: early mover advantage in becoming the 'thermal system solution provider' for AI infrastructure will determine TMSBU's competitive position for the next decade.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Compute Growth Is Creating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Thermal Bottleneck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640080"/>
          </a:xfrm>
          <a:prstGeom prst="rect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E5FF"/>
                </a:solidFill>
              </a:rPr>
              <a:t>GPU TDP 突破 700W、Rack 功率密度達 130kW+，風冷已達物理瓶頸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64592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164592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676"/>
                </a:solidFill>
              </a:rPr>
              <a:t>$4.2B→$39.1B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液冷市場規模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2024→2030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40280" y="2240280"/>
            <a:ext cx="164592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2240280"/>
            <a:ext cx="164592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</a:rPr>
              <a:t>60%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40280" y="2880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2026年新AI資料中心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採用液冷比例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0" y="2240280"/>
            <a:ext cx="164592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23360" y="2240280"/>
            <a:ext cx="1645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130kW+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2880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GB200 NVL72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Rack功率密度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</a:rPr>
              <a:t>NVIDIA GB200 TDP 700W，2025年量產，Rubin 將突破 1,000W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</a:rPr>
              <a:t>GB200 NVL72 72-GPU 系統總功率突破 130kW/rack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</a:rPr>
              <a:t>散熱瓶頸成為 AI 基礎建設擴張的物理限制條件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CCCCC"/>
                </a:solidFill>
              </a:rPr>
              <a:t>Gartner：2026 年 60% 新 AI 資料中心將採用液冷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228600"/>
            <a:ext cx="3200400" cy="18013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760720" y="2148840"/>
            <a:ext cx="3200400" cy="28803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E5FF"/>
                </a:solidFill>
              </a:rPr>
              <a:t>AI Data Center Liquid Cooling Market (USD Billion)</a:t>
            </a:r>
            <a:endParaRPr lang="en-US" sz="7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806440" y="2514600"/>
          <a:ext cx="3108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 Cooling Is Reaching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Its Practical Limit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640080"/>
          </a:xfrm>
          <a:prstGeom prst="rect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E5FF"/>
                </a:solidFill>
              </a:rPr>
              <a:t>風冷散熱能力上限約 50W/cm²，AI GPU 已超越此臨界點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114800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240280"/>
            <a:ext cx="402336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2194560"/>
            <a:ext cx="4114800" cy="128016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194560"/>
            <a:ext cx="73152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Air Cooling Limitations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25603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</a:rPr>
              <a:t>熱通量上限 ~50W/cm²，GPU 已達 200W+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</a:rPr>
              <a:t>Fan 噪音與功耗隨密度非線性增加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</a:rPr>
              <a:t>Rack power &gt; 30kW 時 air cooling TCO 急速上升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3611880"/>
            <a:ext cx="4114800" cy="141732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3611880"/>
            <a:ext cx="73152" cy="14173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Non-Liquid Components Still Needed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3977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</a:rPr>
              <a:t>Power delivery, PCB, memory 仍需 air cooling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</a:rPr>
              <a:t>Fan, heat sink, vapor chamber 需求反而增加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</a:rPr>
              <a:t>Hybrid cooling architecture 成為新標準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Liquid Cooling Becomes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New Standard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E5FF"/>
                </a:solidFill>
              </a:rPr>
              <a:t>Cold Plate + CDU + Manifold + Quick Connector = Rack-Level Liquid Cooling System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01168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201168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Cold Plate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直接接觸 GPU/CPU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導熱效率 &gt; 95%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客製化流道設計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06040" y="2194560"/>
            <a:ext cx="201168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2194560"/>
            <a:ext cx="201168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CDU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651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Coolant Distribution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130kW+ 熱移除能力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循環與熱交換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201168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9456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Manifold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多路分流/合流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Rack 內均溫設計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快速維修対応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29400" y="2834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03720" y="2194560"/>
            <a:ext cx="201168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76FF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2194560"/>
            <a:ext cx="2011680" cy="54864"/>
          </a:xfrm>
          <a:prstGeom prst="rect">
            <a:avLst/>
          </a:prstGeom>
          <a:solidFill>
            <a:srgbClr val="76FF03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FF03"/>
                </a:solidFill>
              </a:rPr>
              <a:t>Quick Connector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2651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熱插拔設計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Leak-free 接頭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降低服務停機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</a:rPr>
              <a:t>液冷滲透率趨勢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</a:rPr>
              <a:t>2023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68880" y="4553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20% 滲透率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94760" y="4407408"/>
            <a:ext cx="32004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06908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2025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69080" y="4553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40% 滲透率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94960" y="4407408"/>
            <a:ext cx="32004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66928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2026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0" y="4553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60% 滲透率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95160" y="4407408"/>
            <a:ext cx="32004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726948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FF03"/>
                </a:solidFill>
              </a:rPr>
              <a:t>2030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69480" y="4553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80%+ 滲透率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TMSBU Opportunity: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Components to System Solutions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00E676">
              <a:alpha val="8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447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E676"/>
                </a:solidFill>
              </a:rPr>
              <a:t>Delta TMSBU = 從 Fan 到 Rack Cooling 的全段熱管理解決方案供應商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02920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48840"/>
            <a:ext cx="4937760" cy="2834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0" y="2103120"/>
            <a:ext cx="3246120" cy="1673352"/>
          </a:xfrm>
          <a:prstGeom prst="rect">
            <a:avLst/>
          </a:prstGeom>
          <a:solidFill>
            <a:srgbClr val="11182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103120"/>
            <a:ext cx="54864" cy="16733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8"/>
          <p:cNvSpPr/>
          <p:nvPr/>
        </p:nvSpPr>
        <p:spPr>
          <a:xfrm>
            <a:off x="58064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C3F7"/>
                </a:solidFill>
              </a:rPr>
              <a:t>NOW (Component)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0644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Fan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0644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Heat Sink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06440" y="3035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Heat Pipe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06440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Vapor Chamber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0" y="3867912"/>
            <a:ext cx="3246120" cy="16733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0" y="3867912"/>
            <a:ext cx="54864" cy="167335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Text 15"/>
          <p:cNvSpPr/>
          <p:nvPr/>
        </p:nvSpPr>
        <p:spPr>
          <a:xfrm>
            <a:off x="5806440" y="3913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</a:rPr>
              <a:t>NEXT (Module)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06440" y="4215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Cold Plate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06440" y="4507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Thermal Module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06440" y="4800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3D VC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806440" y="5093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Liquid Block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669280" y="5632704"/>
            <a:ext cx="3246120" cy="16733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69280" y="5632704"/>
            <a:ext cx="54864" cy="167335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5" name="Text 22"/>
          <p:cNvSpPr/>
          <p:nvPr/>
        </p:nvSpPr>
        <p:spPr>
          <a:xfrm>
            <a:off x="5806440" y="56784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676"/>
                </a:solidFill>
              </a:rPr>
              <a:t>PHASE 3 (System)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806440" y="5980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CDU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806440" y="6272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Manifold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806440" y="6565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Rack Cooling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06440" y="6858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Quick Connector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669280" y="7397496"/>
            <a:ext cx="3246120" cy="1673352"/>
          </a:xfrm>
          <a:prstGeom prst="rect">
            <a:avLst/>
          </a:prstGeom>
          <a:solidFill>
            <a:srgbClr val="111827"/>
          </a:solidFill>
          <a:ln w="12700">
            <a:solidFill>
              <a:srgbClr val="76FF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669280" y="7397496"/>
            <a:ext cx="54864" cy="1673352"/>
          </a:xfrm>
          <a:prstGeom prst="rect">
            <a:avLst/>
          </a:prstGeom>
          <a:solidFill>
            <a:srgbClr val="76FF03"/>
          </a:solidFill>
          <a:ln/>
        </p:spPr>
      </p:sp>
      <p:sp>
        <p:nvSpPr>
          <p:cNvPr id="32" name="Text 29"/>
          <p:cNvSpPr/>
          <p:nvPr/>
        </p:nvSpPr>
        <p:spPr>
          <a:xfrm>
            <a:off x="5806440" y="7443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6FF03"/>
                </a:solidFill>
              </a:rPr>
              <a:t>TARGET (Solution)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806440" y="7744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Turn-key Cooling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806440" y="8037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PUE Optimization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806440" y="8330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Data Center TI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806440" y="8622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Outsourcing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Recommended Actions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TMSBU (6-12 Months)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99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立即行動：驗證液冷能力 → 建立標竿客戶 → 擴大系統解決方案範疇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411480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76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技術 (Technology)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建立 Cold Plate 與 CDU 設計與驗證能力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收購或合作快速接頭（Quick Connector）供應商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投資系統級熱流模擬軟體與驗證設備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411480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03120"/>
            <a:ext cx="411480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176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客戶 (Customer)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4871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鎖定 NVIDIA GB200 / Rubin 公版冷却供應商名單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與 Tier 1 雲端客戶（AWS/Azure/GCP）建立 Thermal TI 合作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優先切入台灣與亞太 AI Server ODM/OEM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11480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1188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產品 (Product)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9959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上半年：Cold Plate + Fan Module 組合方案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Q3：CDU + Manifold + Quick Connector 系統套件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Q4：Rack-Level Cooling Turn-key 方案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611880"/>
            <a:ext cx="411480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76FF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611880"/>
            <a:ext cx="4114800" cy="54864"/>
          </a:xfrm>
          <a:prstGeom prst="rect">
            <a:avLst/>
          </a:prstGeom>
          <a:solidFill>
            <a:srgbClr val="76FF03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FF03"/>
                </a:solidFill>
              </a:rPr>
              <a:t>商業模式 (Business)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9959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從 Component 報價 → System Solution 統包報價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建立 TAM 從散熱零件 → 熱管理系統服務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評估售後服務與 Annual Maintenance Contract (AMC) 模式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18888"/>
            <a:ext cx="109728" cy="21945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</a:rPr>
              <a:t>2025 Q2-Q3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97480" y="4818888"/>
            <a:ext cx="109728" cy="21945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7" name="Text 25"/>
          <p:cNvSpPr/>
          <p:nvPr/>
        </p:nvSpPr>
        <p:spPr>
          <a:xfrm>
            <a:off x="2862072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676"/>
                </a:solidFill>
              </a:rPr>
              <a:t>2025 Q4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4818888"/>
            <a:ext cx="10972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2026 H1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12280" y="4818888"/>
            <a:ext cx="109728" cy="219456"/>
          </a:xfrm>
          <a:prstGeom prst="rect">
            <a:avLst/>
          </a:prstGeom>
          <a:solidFill>
            <a:srgbClr val="76FF03"/>
          </a:solidFill>
          <a:ln/>
        </p:spPr>
      </p:sp>
      <p:sp>
        <p:nvSpPr>
          <p:cNvPr id="31" name="Text 29"/>
          <p:cNvSpPr/>
          <p:nvPr/>
        </p:nvSpPr>
        <p:spPr>
          <a:xfrm>
            <a:off x="6976872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FF03"/>
                </a:solidFill>
              </a:rPr>
              <a:t>2026 H2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Server Liquid Cooling: TMSBU Commercial Opportunity</dc:title>
  <dc:subject>PptxGenJS Presentation</dc:subject>
  <dc:creator>James Chen / TMSBU</dc:creator>
  <cp:lastModifiedBy>James Chen / TMSBU</cp:lastModifiedBy>
  <cp:revision>1</cp:revision>
  <dcterms:created xsi:type="dcterms:W3CDTF">2026-05-03T18:23:41Z</dcterms:created>
  <dcterms:modified xsi:type="dcterms:W3CDTF">2026-05-03T18:23:41Z</dcterms:modified>
</cp:coreProperties>
</file>