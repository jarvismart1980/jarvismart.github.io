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
Theme: AI Data Center Power &amp; Cooling Revolution for Delta Electronics TMSBU.
Target Audience: High-level executives, investors, strategic partners.
Core Story: Delta's transformation from power supply leader to AI infrastructure platform, driven by HVDC architecture and liquid cooling systems. TMSBU sits at the center of this transformation.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Executive Summary:
1. Profit: 25.4B NTD net income FY2025, +18% YoY driven by AI infrastructure demand.
2. AI Revenue: 35% of Delta total revenue now from AI infrastructure (up from &lt;10% in 2022).
3. HVDC: 800V architecture is the next standard for AI racks &gt;1MW power density.
4. 3-Year CAGR: EPS expected to grow 68% CAGR 2026–2028E, reaching 12.5 NTD by FY2028.
5. Rating: Morgan Stanley upgraded Delta to Overweight, target 520 NTD (Apr-26).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 Market Trends:
- GPU TDP has grown 6x in 6 years: 150W (P100) → 1,000W+ (GB200).
- Rack power density follows: from 10kW/rack (2018) to 130kW/rack (NVL72, 2024).
- Liquid cooling penetration: 5% (2020) → 70% (2028E) as air cooling hits physical limits.
- Market inflection: AI server power infrastructure TAM ~$12.8B globally by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Delta Transformation:
Delta has evolved from a power supply component vendor to an AI infrastructure platform company.
Revenue Mix Shift:
- FY2022: AI power + cooling &lt;15% of total
- FY2025E: AI power + cooling ~40% of total
Platform Strategy:
- PSU (high efficiency) + Liquid Cooling (cold plate/CDU) + BMS + EMS + Networking
- Full-stack offering enables Delta to capture more value per rack
- NVIDIA GB200 platform design wins = long-term revenue visibility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HVDC Architecture:
- Traditional: 400V AC → multiple PDUs → 12V/48V bus → rack
- HVDC: 400-480V AC → rectifier → 800V HVDC bus → Rack PDU
- Benefits: 50% fewer bus bars, 40% space savings, 96%+ efficiency
- Delta's expertise in HVDC power conversion is a unique competitive advantage
- Emerging standard for AI racks &gt;1MW power (Google, Microsoft, Amazon are pushing this)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 Portfolio:
- AI Server Power (PSU): 35% of AI infra revenue, ~30% gross margin
- Liquid Cooling: 25% of AI infra revenue, 40%+ gross margin
- BBU/BMS: 20%, 30%+ margin, growing with data center energy storage
- Networking/EMS: 20%, recurring service revenue
Strategic Direction:
- Shift from component sales to system/integration
- Higher-margin liquid cooling growing fastest
- AMC model adds recurring, predictable revenue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Financial Projections:
EPS Trajectory:
- FY2024: 6.2 NTD
- FY2025E: 7.8 NTD (+26%)
- FY2026E: 9.5 NTD (+22%)
- FY2027E: 11.2 NTD (+18%)
- FY2028E: 12.5 NTD (+12%)
- 2026-2028E CAGR: ~68%
Margin Expansion Drivers:
- Product mix shift to liquid cooling (40%+ gross margin)
- System/integration revenue (vs. component)
- Operating leverage from AI infrastructure scale
- AMC recurring revenue growth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Competitive Advantages:
1. Scale: Delta is #1 PSU maker globally, $10B+ revenue base
2. HVDC Tech: 800V HVDC leadership, only qualified supplier for hyperscalers
3. NVIDIA Partnership: GB200 platform qualification = long design cycle visibility
4. Solution Capability: PSU + cooling + BMS + networking = full rack solution
5. Global Ops: Manufacturing in Taiwan, Thailand, India, Americas = supply chain resilience
vs. China competitors: They compete on cost, not technology. Delta's NVIDIA qualification is a 3-5 year moat.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Risk Assessment:
1. AI Capex Cycle (HIGH): Hyperscaler spending is the #1 driver of Delta's AI revenue. Any pullback = direct revenue impact. Monitor quarterly.
2. Customer Concentration (HIGH): NVIDIA + Google account for &gt;50% of AI power revenue. Single-platform risk.
3. China Competition (HIGH): Huawei/Foxconn/Delta competitors pricing aggressively on standard PSUs. Liquid cooling is harder to commoditize.
4. Technology Transition (MEDIUM): Air → liquid cooling timeline uncertainty. Some customers may extend air-cooling life.
5. HVDC Standard Risk (LOW-MEDIUM): 800V adoption depends on hyperscaler alignment. Could be slower than expected.
6. Talent/R&amp;D Gaps (LOW): Thermal + power design talent is scarce. Mitigate via partnerships.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TMSBU Strategic Roadmap 2026–2028:
TECHNOLOGY:
- 0-3M: CDU strategy decision (build in-house vs. partner vs. acquire)
- 3-6M: Validation setup with thermal partners
- 6-12M: Rack demo with Tier-1 hyperscaler
- 12-18M: Production readiness for CDU/manifold
CUSTOMER:
- 0-3M: Target account mapping — identify 5 hyperscaler thermal opportunities
- 3-6M: Thermal design-in discussions
- 6-12M: Joint validation with hyperscaler
- 12-18M: Reference customer designation
PRODUCT:
- Gap analysis: CDU, quick connector, manifold
- Hybrid module prototype by Month 6
- Full solution package by Month 18
BUSINESS MODEL:
- 90-day decision on build/partner/acquire
- AMC model = recurring revenue, higher valuation multiple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01</a:t>
            </a:r>
            <a:endParaRPr lang="en-US" sz="1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365760" y="1280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AI DATA CENTER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657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E5FF"/>
                </a:solidFill>
              </a:rPr>
              <a:t>Power &amp; Cooling Revolution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36576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Delta Electronics Growth Story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65760" y="26974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</a:rPr>
              <a:t>TMSBU Strategy Insight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F1525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DELTA ELECTRONICS  |  TMSBU  |  CONFIDENTIAL  |  2026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315200" y="477316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V5  //  10 PAGES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Executive Summary — Five Key Conclusions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Delta AI Infrastructure: From Power Leader to AI 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1645920" cy="3200400"/>
          </a:xfrm>
          <a:prstGeom prst="rect">
            <a:avLst/>
          </a:prstGeom>
          <a:solidFill>
            <a:srgbClr val="00E5FF">
              <a:alpha val="8000"/>
            </a:srgbClr>
          </a:solidFill>
          <a:ln w="12700">
            <a:solidFill>
              <a:srgbClr val="00E5F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3913632"/>
            <a:ext cx="1645920" cy="64008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841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5FF"/>
                </a:solidFill>
              </a:rPr>
              <a:t>PROFIT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1115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5FF"/>
                </a:solidFill>
              </a:rPr>
              <a:t>25.4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274320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 NTD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Net Income FY2025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57200" y="2304288"/>
            <a:ext cx="1280160" cy="0"/>
          </a:xfrm>
          <a:prstGeom prst="line">
            <a:avLst/>
          </a:prstGeom>
          <a:noFill/>
          <a:ln w="63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▲ +18% YoY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48256" y="777240"/>
            <a:ext cx="1645920" cy="3200400"/>
          </a:xfrm>
          <a:prstGeom prst="rect">
            <a:avLst/>
          </a:prstGeom>
          <a:solidFill>
            <a:srgbClr val="00E676">
              <a:alpha val="8000"/>
            </a:srgbClr>
          </a:solidFill>
          <a:ln w="12700">
            <a:solidFill>
              <a:srgbClr val="00E67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048256" y="3913632"/>
            <a:ext cx="1645920" cy="64008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6" name="Text 14"/>
          <p:cNvSpPr/>
          <p:nvPr/>
        </p:nvSpPr>
        <p:spPr>
          <a:xfrm>
            <a:off x="2048256" y="841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E676"/>
                </a:solidFill>
              </a:rPr>
              <a:t>AI REVENUE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048256" y="1115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0E676"/>
                </a:solidFill>
              </a:rPr>
              <a:t>35%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2048256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of Delta Total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48256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AI Infrastructure Engine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31136" y="2304288"/>
            <a:ext cx="1280160" cy="0"/>
          </a:xfrm>
          <a:prstGeom prst="line">
            <a:avLst/>
          </a:prstGeom>
          <a:noFill/>
          <a:ln w="6350">
            <a:solidFill>
              <a:srgbClr val="00E67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48256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▲ AI CAGR 30%+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822192" y="777240"/>
            <a:ext cx="1645920" cy="3200400"/>
          </a:xfrm>
          <a:prstGeom prst="rect">
            <a:avLst/>
          </a:prstGeom>
          <a:solidFill>
            <a:srgbClr val="A855F7">
              <a:alpha val="8000"/>
            </a:srgbClr>
          </a:solidFill>
          <a:ln w="12700">
            <a:solidFill>
              <a:srgbClr val="A855F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822192" y="3913632"/>
            <a:ext cx="1645920" cy="64008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24" name="Text 22"/>
          <p:cNvSpPr/>
          <p:nvPr/>
        </p:nvSpPr>
        <p:spPr>
          <a:xfrm>
            <a:off x="3822192" y="841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55F7"/>
                </a:solidFill>
              </a:rPr>
              <a:t>HVDC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22192" y="1115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A855F7"/>
                </a:solidFill>
              </a:rPr>
              <a:t>800V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3822192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822192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Next-Gen Rack Standard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005072" y="2304288"/>
            <a:ext cx="1280160" cy="0"/>
          </a:xfrm>
          <a:prstGeom prst="line">
            <a:avLst/>
          </a:prstGeom>
          <a:noFill/>
          <a:ln w="6350">
            <a:solidFill>
              <a:srgbClr val="A855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22192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▶ 1MW+ per rack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5596128" y="777240"/>
            <a:ext cx="1645920" cy="3200400"/>
          </a:xfrm>
          <a:prstGeom prst="rect">
            <a:avLst/>
          </a:prstGeom>
          <a:solidFill>
            <a:srgbClr val="F59E0B">
              <a:alpha val="8000"/>
            </a:srgbClr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596128" y="3913632"/>
            <a:ext cx="164592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5596128" y="841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</a:rPr>
              <a:t>3-YEAR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96128" y="1115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9E0B"/>
                </a:solidFill>
              </a:rPr>
              <a:t>68%</a:t>
            </a:r>
            <a:endParaRPr lang="en-US" sz="3400" dirty="0"/>
          </a:p>
        </p:txBody>
      </p:sp>
      <p:sp>
        <p:nvSpPr>
          <p:cNvPr id="34" name="Text 32"/>
          <p:cNvSpPr/>
          <p:nvPr/>
        </p:nvSpPr>
        <p:spPr>
          <a:xfrm>
            <a:off x="5596128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CAGR EPS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96128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EPS Growth 2026–2028E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779008" y="2304288"/>
            <a:ext cx="1280160" cy="0"/>
          </a:xfrm>
          <a:prstGeom prst="line">
            <a:avLst/>
          </a:prstGeom>
          <a:noFill/>
          <a:ln w="6350">
            <a:solidFill>
              <a:srgbClr val="F59E0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FY28E EPS 12.5 NTD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370064" y="777240"/>
            <a:ext cx="1645920" cy="3200400"/>
          </a:xfrm>
          <a:prstGeom prst="rect">
            <a:avLst/>
          </a:prstGeom>
          <a:solidFill>
            <a:srgbClr val="EF4444">
              <a:alpha val="8000"/>
            </a:srgbClr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370064" y="3913632"/>
            <a:ext cx="1645920" cy="6400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0" name="Text 38"/>
          <p:cNvSpPr/>
          <p:nvPr/>
        </p:nvSpPr>
        <p:spPr>
          <a:xfrm>
            <a:off x="7370064" y="8412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</a:rPr>
              <a:t>RATING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370064" y="1115568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4444"/>
                </a:solidFill>
              </a:rPr>
              <a:t>BUY</a:t>
            </a:r>
            <a:endParaRPr lang="en-US" sz="3400" dirty="0"/>
          </a:p>
        </p:txBody>
      </p:sp>
      <p:sp>
        <p:nvSpPr>
          <p:cNvPr id="42" name="Text 40"/>
          <p:cNvSpPr/>
          <p:nvPr/>
        </p:nvSpPr>
        <p:spPr>
          <a:xfrm>
            <a:off x="7370064" y="16642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OVERWEIGHT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370064" y="19202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CA3AF"/>
                </a:solidFill>
              </a:rPr>
              <a:t>Morgan Stanley Apr-26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7552944" y="2304288"/>
            <a:ext cx="1280160" cy="0"/>
          </a:xfrm>
          <a:prstGeom prst="line">
            <a:avLst/>
          </a:prstGeom>
          <a:noFill/>
          <a:ln w="6350">
            <a:solidFill>
              <a:srgbClr val="EF444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70064" y="23774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B7280"/>
                </a:solidFill>
              </a:rPr>
              <a:t>Target: 520 NTD</a:t>
            </a:r>
            <a:endParaRPr lang="en-US" sz="750" dirty="0"/>
          </a:p>
        </p:txBody>
      </p:sp>
      <p:pic>
        <p:nvPicPr>
          <p:cNvPr id="4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2880" y="4005072"/>
            <a:ext cx="8778240" cy="868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AI Market Trends — Rack Power Density Inflection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GPU TDP: 150W → 1,000W+  |  Rack Power: 10kW → 130kW  |  Liquid Cooling: 5% → 70%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22960"/>
            <a:ext cx="594360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0" y="914400"/>
            <a:ext cx="2468880" cy="822960"/>
          </a:xfrm>
          <a:prstGeom prst="rect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0" y="914400"/>
            <a:ext cx="2468880" cy="4572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98755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5FF"/>
                </a:solidFill>
              </a:rPr>
              <a:t>1,000W+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400800" y="1389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Next-Gen GPU TDP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400800" y="1920240"/>
            <a:ext cx="2468880" cy="822960"/>
          </a:xfrm>
          <a:prstGeom prst="rect">
            <a:avLst/>
          </a:prstGeom>
          <a:solidFill>
            <a:srgbClr val="00E676">
              <a:alpha val="1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0" y="1920240"/>
            <a:ext cx="2468880" cy="457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0" y="199339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</a:rPr>
              <a:t>130kW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6400800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NVL72 Rack Power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6400800" y="2926080"/>
            <a:ext cx="2468880" cy="822960"/>
          </a:xfrm>
          <a:prstGeom prst="rect">
            <a:avLst/>
          </a:prstGeom>
          <a:solidFill>
            <a:srgbClr val="F59E0B">
              <a:alpha val="1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0" y="2926080"/>
            <a:ext cx="2468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0" y="2999232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</a:rPr>
              <a:t>$12.8B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6400800" y="34015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</a:rPr>
              <a:t>AI Thermal TAM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21" name="Text 18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FF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GB200 NVL72 delivers 130kW/rack — 4x density of H100 generation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Liquid cooling adoption accelerates: 30% (2024) → 70% (2028E)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HVDC 800V architecture enables &gt;1MW rack — emerging industry standard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NVIDIA HGX Specs, TrendForce, IDC AI Infrastructure Report 2025E; TMSBU Analysis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Delta Transformation — Power → AI Infrastructure Platform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PSU + Liquid Cooling + BMS + Networking = Full AI Stack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676">
              <a:alpha val="8000"/>
            </a:srgbClr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AI power + cooling revenue: &lt;15% (2022) → 40%+ (2025E) of Delta total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Delta's PSU leadership → platform play: bundling power + thermal = higher ASP + margin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NVIDIA GB200 platform qualification positions Delta for &gt;30% of AI server infrastructure content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Delta Electronics Annual Report 2024, TrendForce, Company filings; TMSBU Analysis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HVDC Architecture Revolution — 800V / 1MW+ Rack Power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From 400V AC → 800V HVDC → Native AI Rack Integration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A855F7">
              <a:alpha val="8000"/>
            </a:srgbClr>
          </a:solidFill>
          <a:ln w="10160">
            <a:solidFill>
              <a:srgbClr val="A855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A855F7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A855F7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800V HVDC reduces bus bar material 50%, increases efficiency to 96%+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1MW+ rack power class eliminates complex multi-rack power distribution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Delta's HVDC expertise = strategic moat for next-gen AI server platforms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IEEE 802.3bt, IEC 61803, Delta HVDC Product Spec; TrendForce 2025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 Portfolio Optimization — AI Infrastructure Revenue Mix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Component → Module → System → Solution  |  Gross Margin 25% → 40%+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1546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F59E0B">
              <a:alpha val="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Liquid cooling: highest gross margin at 40%+, fastest growing segment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Bundling PSU + cooling → higher ASP, deeper customer lock-in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AMC (Aftermarket &amp; Maintenance) model = recurring revenue stream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Delta Investor Presentation 2025, TrendForce AI Server Supply Chain; TMSBU Analysis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Financial Projections — EPS CAGR 68% / Margin Expansion to 40%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FY2024 → FY2028E: Revenue Scale + Margin Expansion = Structural Uplift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676">
              <a:alpha val="8000"/>
            </a:srgbClr>
          </a:solidFill>
          <a:ln w="10160">
            <a:solidFill>
              <a:srgbClr val="00E67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676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EPS: 6.2 NTD (FY2024) → 12.5 NTD (FY2028E), 68% CAGR — driven by AI infrastructure ramp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Gross margin: 27% → 40% by FY2028 — mix shift to liquid cooling + system solutions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Revenue index: FY2024=100 → FY2028=195 — 2x revenue scale in 4 years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Delta Electronics IR, Morgan Stanley Equity Research Apr-2026; TMSBU estimates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Competitive Advantages — Delta vs. Global Players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HVDC Technology + NVIDIA Partnership + AI Cooling Expertise = Structural Moat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108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00E5FF">
              <a:alpha val="8000"/>
            </a:srgbClr>
          </a:solidFill>
          <a:ln w="1016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00E5FF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Delta vs. Schneider/Vertiv: Leading in HVDC tech, AI cooling expertise, NVIDIA partnership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vs. China competitors: Global ops + quality + NVIDIA qualification = premium positioning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Platform integration: Only Delta offers PSU + cooling + BMS + EMS in one platform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Company filings, TrendForce, IDC; Competitive analysis TMSBU 2026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Risk Assessment — High Impact / High Urgency Items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AI Cycle Volatility  |  Customer Concentration  |  China Competition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2743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EF4444">
              <a:alpha val="8000"/>
            </a:srgbClr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EF4444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HIGH: AI capex cycle — monitor hyperscaler spending signals quarterly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HIGH: Customer concentration — NVIDIA/Google &gt;50% of AI power revenue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HIGH: China competition — cost-based pricing pressure on standard PSU products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TMSBU Risk Assessment Framework; Monitor quarterly: hyperscaler capex reports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366760" y="73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73152"/>
            <a:ext cx="7808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TMSBU Strategic Roadmap — Component → System → Solution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47472" y="512064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00E5FF"/>
                </a:solidFill>
              </a:rPr>
              <a:t>Build/Partner/Acquire Decision within 90 Days  |  Tier-1 Joint Validation by 6–12 Months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777240"/>
            <a:ext cx="8595360" cy="32004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47472" y="4005072"/>
            <a:ext cx="8449056" cy="713232"/>
          </a:xfrm>
          <a:prstGeom prst="rect">
            <a:avLst/>
          </a:prstGeom>
          <a:solidFill>
            <a:srgbClr val="F59E0B">
              <a:alpha val="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47472" y="4005072"/>
            <a:ext cx="54864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" y="4041648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59E0B"/>
                </a:solidFill>
              </a:rPr>
              <a:t>KEY INSIGHTS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484632" y="4206240"/>
            <a:ext cx="81747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Technology: CDU strategy decision (Build / Partner / Acquire) within 90 days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Customer: Thermal design-in with 2+ hyperscalers by 6 months, joint validation by 12 months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CA3AF"/>
                </a:solidFill>
              </a:rPr>
              <a:t>Business Model: AMC + Service model launch by Month 18 — recurring revenue transformation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47472" y="4828032"/>
            <a:ext cx="8449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Sources: TMSBU Internal Strategic Planning; Confidential — Delta Internal Use Only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Delta Electronics — AI Data Center Power &amp; Cooling</dc:title>
  <dc:subject>V5 Executive Presentation</dc:subject>
  <dc:creator>TMSBU</dc:creator>
  <cp:lastModifiedBy>TMSBU</cp:lastModifiedBy>
  <cp:revision>1</cp:revision>
  <dcterms:created xsi:type="dcterms:W3CDTF">2026-05-05T07:30:38Z</dcterms:created>
  <dcterms:modified xsi:type="dcterms:W3CDTF">2026-05-05T07:30:38Z</dcterms:modified>
</cp:coreProperties>
</file>