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46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Delta Electronics  |  TMSBU  |  Confidential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</a:rPr>
              <a:t>AI 伺服器液冷散熱解決方案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高密度運算時代的熱管理戰略夥伴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73152" cy="1463040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液冷是突破 AI 伺服器熱瓶頸的唯一方案，Delta 提供從設計到規模部署的完整解決方案。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2026 年 5 月  |  Delta Electronics TMSBU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731520"/>
            <a:ext cx="3566160" cy="5669280"/>
          </a:xfrm>
          <a:prstGeom prst="rect">
            <a:avLst/>
          </a:prstGeom>
          <a:solidFill>
            <a:srgbClr val="EAF4FF"/>
          </a:solidFill>
          <a:ln w="6350">
            <a:solidFill>
              <a:srgbClr val="007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743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72CE"/>
                </a:solidFill>
              </a:rPr>
              <a:t>AI Server Rack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72CE"/>
                </a:solidFill>
              </a:rPr>
              <a:t>+ Liquid Cooling Loop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72CE"/>
                </a:solidFill>
              </a:rPr>
              <a:t>[TECH IMAGE]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0" y="228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高密度 AI 運算正突破氣冷散熱邊界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AI 伺服器熱密度在 2024–2025 年集體突破 100kW/rack，氣冷物理上限已至，液冷滲透率進入拐點。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822960" cy="219456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70078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趨勢一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Nvidia GB200 NVL72 熱設計功率達 100–120kW/rack，氣冷在高負載下無法維持晶片溫度 &lt; 85°C，導致算力損失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50008"/>
            <a:ext cx="822960" cy="219456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3591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趨勢二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全球前四大 CSP 在 2025 年新採購中液冷佔比已超過 40%（Illustrative estimate）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822960" cy="219456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30175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趨勢三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644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液冷市場規模從 2024 年 US$ 8–9B 增至 2030 年 US$ 25–30B，CAGR 18–22%（multiple analyst estimates）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666744"/>
            <a:ext cx="822960" cy="219456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67588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趨勢四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92277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台灣與東亞新建資料中心直接採用液冷的比例從 15% 升至 35%（internal estimate）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325112"/>
            <a:ext cx="822960" cy="219456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4334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趨勢五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5811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液冷可將 PUE 從氣冷平均值 1.4–1.6 降至 1.08–1.12（representative scenario）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731520"/>
            <a:ext cx="5120640" cy="5486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Source: IDC / Gartner / Synergy Research Group | All figures illustrative — verify with latest analyst reports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液冷已從早期採用進入規模部署階段，市場窗口在 2025–2027 年。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 PAINS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氣冷架構在 AI 時代面臨四重極限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氣冷在熱密度、電力效率、部署密度、與長期 TCO 四個維度同步達到物理與經濟上限。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492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54864" cy="17830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47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極限一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1214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熱管理瓶頸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GPU 溫度超過 85°C 即自動降頻，氣冷在 100kW+ 負載下無法維持 &lt; 80°C，算力損失 15–25%（representative scenario）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492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737360"/>
            <a:ext cx="54864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847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極限二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82512" y="21214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PUE / 能耗失控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2512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氣冷資料中心平均 PUE 1.4–1.6，約 30–40% 電力消耗在散熱系統，年復一年能源成本居高不下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53492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03320"/>
            <a:ext cx="54864" cy="178308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813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極限三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" y="4087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機櫃密度受限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" y="44805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氣冷機櫃熱密度上限約 30–40kW/rack，持續提高密度將產生熱點與可靠性問題，限制未來擴充彈性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703320"/>
            <a:ext cx="53492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703320"/>
            <a:ext cx="54864" cy="1783080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813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</a:rPr>
              <a:t>極限四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82512" y="4087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長期 TCO 劣勢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82512" y="44805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氣冷方案在 5 年 TCO 計算中，電費與散熱升級成本持續墊高，總持有成本已超過液冷初始投資（illustrative model）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731520"/>
            <a:ext cx="5120640" cy="53035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All scenarios illustrative; GPU throttling impact varies by workload profile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氣冷的瓶頸是結構性的，無法靠優化氣冷解決方案突破。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737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SOLUTION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Delta 液冷散熱完整方案架構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從 Cold Plate 到 CDU 的單一責任介面，簡化驗證複雜度，加速部署時程。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70078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熱源接取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Cold Plate 直接鎖附於 GPU/CPU 晶片背板，導熱功率密度 &gt; 500 W/cm²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86584"/>
            <a:ext cx="118872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3957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單元分配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609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CDU（Coolant Distribution Unit）100–500kW 散熱容量，N+1 備援設計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81528"/>
            <a:ext cx="118872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30906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配、管、閥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355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Manifold + Quick Disconnect 支援熱插拔，漏液偵測 &lt; 1 秒，模組化擴充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76472"/>
            <a:ext cx="118872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78561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監控智慧化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0507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Temperature/Flow/Pressure 即時感測，數位孿生平台熱失效預測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471416"/>
            <a:ext cx="118872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44805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整合驗證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7457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台灣/東亞驗證實驗室，實際負載熱驗證後才進入量產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40080"/>
            <a:ext cx="5120640" cy="56692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Specifications representative of Delta standard product family — confirm with product datasheet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Delta 提供完整液冷價值鏈，單一介面、完整驗證、規模部署經驗。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10312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TECHNICAL CAPABILITIES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Solution Capability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五大核心能力支撐從 Pilot 到規模化部署的完整旅程。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05740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2057400" cy="411480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922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Cold Plate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SPECIFICATIONS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導熱率 &gt; 400 W/m·K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Ra &lt; 0.8μm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支援主流封裝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CUSTOMER VALUE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最短熱路徑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直接移除晶片熱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9192" y="1737360"/>
            <a:ext cx="205740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9192" y="1737360"/>
            <a:ext cx="2057400" cy="411480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7922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CDU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70632" y="22402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SPECIFICATIONS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70632" y="248716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100–500kW 容量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N+1 備援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MTBF &gt; 40,000h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70632" y="39319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CUSTOMER VALUE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70632" y="4160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可擴充熱交換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高可靠度運行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55464" y="1737360"/>
            <a:ext cx="205740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5464" y="1737360"/>
            <a:ext cx="2057400" cy="411480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7922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Manifold &amp; Tubing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6904" y="22402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SPECIFICATIONS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46904" y="248716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ISO 快速接頭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3/8"–1" 管徑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漏液偵測 &lt; 1s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46904" y="39319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CUSTOMER VALUE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46904" y="4160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熱插拔支援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模組化擴充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31736" y="1737360"/>
            <a:ext cx="205740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31736" y="1737360"/>
            <a:ext cx="2057400" cy="411480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1736" y="17922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23176" y="22402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SPECIFICATIONS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23176" y="248716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T/F/P 即時感測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數位孿生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API 整合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23176" y="39319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CUSTOMER VALUE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23176" y="4160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健康度管理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失效預測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208008" y="1737360"/>
            <a:ext cx="205740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08008" y="1737360"/>
            <a:ext cx="2057400" cy="411480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08008" y="17922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 Svc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99448" y="22402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SPECIFICATIONS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99448" y="248716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台/中/東亞實驗室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工廠驗收測試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熱模擬服務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99448" y="39319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2CE"/>
                </a:solidFill>
              </a:rPr>
              <a:t>CUSTOMER VALUE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299448" y="4160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降低部署風險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縮短時程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All specs representative of standard product family — confirm with Delta product datasheet for specific models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Delta 液冷方案具備完整技術覆蓋與驗證能力，可支撐從 Pilot 到量產的全階段。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737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DELTA ADVANTAGE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Delta Differentiators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電源管理與熱管理的垂直整合、全球 CSP 實績、在地支援網絡 — 建構 Delta 的差異化價值。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0080"/>
            <a:ext cx="356616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737360"/>
            <a:ext cx="35204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737360"/>
            <a:ext cx="3520440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Power + Thermal Integration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" y="2423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Delta 自有 PSU 與 CDU 同品牌，整合供應鏈，散熱效率比跨品牌方案高 12–18%（internal test data）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06240" y="1737360"/>
            <a:ext cx="35204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1737360"/>
            <a:ext cx="3520440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15968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Global Manufacturing &amp; Validation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15968" y="2423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Delta 在全球 10+ 國家設有驗證實驗室與生產據點，支撐客戶多據點同步部署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09560" y="1737360"/>
            <a:ext cx="35204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09560" y="1737360"/>
            <a:ext cx="3520440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19288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Local Engineering Support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19288" y="2423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亞太區主要市場（台灣、中國、韓國、新加坡）均有現場應用工程團隊，問題反應時間短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657600"/>
            <a:ext cx="35204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3657600"/>
            <a:ext cx="3520440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" y="3794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System-Level Know-how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648" y="4343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從熱模擬、硬體驗證、到部署後優化的完整系統能力，不只是散熱子模組供應商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206240" y="3657600"/>
            <a:ext cx="35204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3657600"/>
            <a:ext cx="3520440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15968" y="3794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Validation Capability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315968" y="4343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熱模擬 + 硬體驗證完整覆蓋，工廠驗收測試確保出貨品質與效能規格一致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909560" y="3657600"/>
            <a:ext cx="352044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09560" y="3657600"/>
            <a:ext cx="3520440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19288" y="3794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Long-term Roadmap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19288" y="4343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Direct-to-chip 液冷與浸沒式冷卻已在開發路线圖，支援客戶未來升級需求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All claims based on internal data or publicly available information; competitive comparisons illustrative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Delta 的整合價值與長期 CSP 實績，是液冷戰略夥伴的首選。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01168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APPLICATION SCENARIOS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Representative Deployment Scenarios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Delta 液冷方案已針對四種典型部署場景優化，可依客戶實際條件提供客製化配置。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49240" cy="18745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54864" cy="1874520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Hyperscale AI Cluster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1762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2CE"/>
                </a:solidFill>
              </a:rPr>
              <a:t>100–200kW/rack | 2,000+ rack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4048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Challenge: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6151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Challenge: Multi-tenant HA, cross-region consistency, fast deployment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9992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2CE"/>
                </a:solidFill>
              </a:rPr>
              <a:t>Delta Fit: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Delta Fit: CDU std. modules, pre-validation reduce on-site risk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349240" cy="18745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737360"/>
            <a:ext cx="54864" cy="1874520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Enterprise IDC Retrofit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21762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2CE"/>
                </a:solidFill>
              </a:rPr>
              <a:t>30–80kW/rack | existing upgrade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82512" y="24048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Challenge: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Challenge: Legacy constraints, minimize downtime, phased investment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82512" y="29992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2CE"/>
                </a:solidFill>
              </a:rPr>
              <a:t>Delta Fit: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82512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Delta Fit: Cold plate in maint. window, modular CDU for phase expansion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5349240" cy="18745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94760"/>
            <a:ext cx="54864" cy="1874520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Edge AI 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" y="42336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2CE"/>
                </a:solidFill>
              </a:rPr>
              <a:t>10–30kW/rack | small enclosure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" y="44622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Challenge: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" y="46725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Challenge: Limited space, remote support, low maintenance frequency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" y="5056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2CE"/>
                </a:solidFill>
              </a:rPr>
              <a:t>Delta Fit: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" y="5257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Delta Fit: CDU std. rack-compatible, remote monitoring API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794760"/>
            <a:ext cx="5349240" cy="187452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794760"/>
            <a:ext cx="54864" cy="1874520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High-Density Training Rack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42336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2CE"/>
                </a:solidFill>
              </a:rPr>
              <a:t>100+kW/rack | GPU full load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82512" y="44622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Challenge: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82512" y="46725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Challenge: Long-duration max load, no throttling allowed, thermal uniformity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82512" y="5056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2CE"/>
                </a:solidFill>
              </a:rPr>
              <a:t>Delta Fit: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82512" y="5257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Delta Fit: Cold plate direct contact, CDU N+1 redundancy zero thermal failure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All scenario specifications are representative — customize based on actual customer requirements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Delta 液冷方案可根據客戶部署場景提供差異化配置，適應性廣泛。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737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FINANCIAL BENEFITS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5-Year ROI Analysis — Illustrative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液冷初期 CapEx 高出氣冷方案 25–35%，但透過電力節省與算力維持，5 年 NPV 可領先氣冷 15–25%（illustrative，假設條件多變）。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28016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7007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CapEx 差額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液冷方案需要更高的前期硬體投資（CDU、Cold Plate、配管），差額預估為氣冷方案的 1.25–1.35x（representative 配置估算）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50008"/>
            <a:ext cx="128016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3591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年度 OpEx 節省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243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PUE 改善（1.4 → 1.1）帶來年度電力成本節省，視機櫃數量與電費單價，預估 NT$ 800–2,500 萬/年（scenario-dependent）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128016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30175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算力維持效益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826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液冷使 GPU 維持 100% 時脈，氣冷在高熱密度下約降頻 15–20%（illustrative estimate）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66744"/>
            <a:ext cx="128016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675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ROI 回收年限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94106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依上述假設，預估回收期 2.5–3.5 年（sensitivity range：2–4 年）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325112"/>
            <a:ext cx="1280160" cy="237744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43342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非財務效益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59943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碳排放減少約 20–25%，符合 ESG 與客戶供應鏈審查要求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40080"/>
            <a:ext cx="5120640" cy="53035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This model is illustrative. ROI and TCO estimates require customer-specific assumptions for accuracy.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液冷在 3 年內可回收 CapEx 差額，長期營運成本持續低於氣冷，並具備 ESG 合規效益。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28600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DEPLOYMENT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18-Week Deployment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每個 Phase 有明確交付物與驗收標準，確保時程可預測、資源可規劃。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40080"/>
            <a:ext cx="5120640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691640"/>
            <a:ext cx="594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70078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965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Requirement Alignment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240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熱密度需求確認、機櫃規格審查、方案配置建議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532888"/>
            <a:ext cx="594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54203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28072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Thermal Validation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081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熱模擬報告、Cold Plate 接觸測試報告、CDU 性能驗證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3374136"/>
            <a:ext cx="594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3832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36484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System Integration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3922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聯調報告、Manifold 配置、監控設定、FAT 完成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4215384"/>
            <a:ext cx="594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22452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44897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Pilot Deployment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47640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5–10 櫃 Pilot 上線、燒機報告、初步驗收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5056632"/>
            <a:ext cx="594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506577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" y="5330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Production Rollout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56052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正式訂單、出貨支援、運轉驗收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612648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Timelines representative and subject to change based on customer-specific scope and resource availability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18 週結構化流程，階段交付物明確，確保部署時程可控。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Next Steps — Partner with Delta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從技術工作坊為起點，快速確認需求與方案匹配，推進至客製化提案與 PoC 討論。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247120" cy="117043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54864" cy="1170432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847088"/>
            <a:ext cx="347472" cy="347472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847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行動一：Technical Workshop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2CE"/>
                </a:solidFill>
              </a:rPr>
              <a:t>建議在 2 週內安排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2395728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90 分鐘技術會議，Delta 熱管理工程團隊 + 客戶 IT/資料中心團隊。議程：熱密度需求深度確認、方案配置討論、實驗室參觀（可選）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11247120" cy="117043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063240"/>
            <a:ext cx="54864" cy="1170432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172968"/>
            <a:ext cx="347472" cy="347472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172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行動二：Customized Proposal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2CE"/>
                </a:solidFill>
              </a:rPr>
              <a:t>Workshop 後 2 週內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3721608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Delta 根據確認的需求提供客製化 Proposal，包含 BOM 配置、報價、交期、與驗收標準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11247120" cy="1170432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389120"/>
            <a:ext cx="54864" cy="1170432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4498848"/>
            <a:ext cx="347472" cy="347472"/>
          </a:xfrm>
          <a:prstGeom prst="rect">
            <a:avLst/>
          </a:prstGeom>
          <a:solidFill>
            <a:srgbClr val="007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498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4480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行動三：PoC Planning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2CE"/>
                </a:solidFill>
              </a:rPr>
              <a:t>如客戶需要先行驗證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97280" y="5047488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討論 5–10 櫃 Pilot 方案設計、驗證目標、双方投入資源、與 Pilot 後擴充路徑</a:t>
            </a:r>
            <a:endParaRPr lang="en-US" sz="10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120640"/>
            <a:ext cx="5120640" cy="13716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0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7160" y="63642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從技術工作坊到正式提案，Delta 提供低風險的合作起點，協助您快速進入液冷部署評估。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612880" y="6364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Delta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伺服器液冷散熱解決方案 V2</dc:title>
  <dc:subject>Customer Proposal</dc:subject>
  <dc:creator>Delta Electronics TMSBU</dc:creator>
  <cp:lastModifiedBy>Delta Electronics TMSBU</cp:lastModifiedBy>
  <cp:revision>1</cp:revision>
  <dcterms:created xsi:type="dcterms:W3CDTF">2026-05-09T14:01:33Z</dcterms:created>
  <dcterms:modified xsi:type="dcterms:W3CDTF">2026-05-09T14:01:33Z</dcterms:modified>
</cp:coreProperties>
</file>