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V6 enhancements: improved visual consistency, updated market data, clearer architecture 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5 key conclusions. Liquid cooling = business model transition, not product upgrade. Icons added for visual clarity.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Inflection — V6: Replaced unvalidated '1,400W GPU TDP' with '1,000W+ industry projection'. Rack power chart shows GB200 NVL72 inflection at 2025, Rubin next architecture at 2027+. Sources labeled.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Cooling V6: New diagram shows GPU→cold plate (liquid) and memory/PCB/power→airflow (air). Removed unvalidated 'HBM ~1kW per module' claim. No unvalidated CDU capacity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Chip-to-Rack V6: Quick Connector correctly positioned at serviceability interface. No '130kW+', '5-10°C', 'leak rate &lt;0.5g/year' unvalidated numbers used. Monitoring added as safety node, not a main flow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V6: 4-layer value ladder replacing 'NOW/NEXT/PHASE2/TARGET'. Layer 1=Component, Layer 2=Module, Layer 3=System, Layer 4=Solution. Each layer max 4 items. Value-up concept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Delta Synergy V7: 2x2 quadrant preserved. Customer value line added: 'Lower integration risk, faster design-in, better reliability, stronger energy-efficiency support.' No '唯一' (only/unique) language used. ⚠ Delta as 'sole' supplier claim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Opportunity V6: TAM/SAM/SOM funnel (left) + 3-scenario bar chart (right) — Conservative $0.8B / Base $1.8B / Aggressive $3.2B. SOM marked as scenario-based requiring internal validation. Previous V5 had large empty areas — V6 fills main visual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Assessment V6: Table replaced with Impact × Urgency heatmap (left). Top 3 priorities in right column. All other risks embedded in heatmap cells. No long tables. Previous V5 had a plain risk table — V6 heatmap is visually stronger.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V6: 4 lanes (Technology / Customer / Product / Business Model) with formal labels. Decision box bottom-right: '90-Day Decision: CDU strategy must be locked — build, partner, or acquire.' Previous V5 text made more formal and 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520440"/>
            <a:ext cx="9144000" cy="1623060"/>
          </a:xfrm>
          <a:prstGeom prst="rect">
            <a:avLst/>
          </a:prstGeom>
          <a:solidFill>
            <a:srgbClr val="0B0E1A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611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 Server Liquid Cooling: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4160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TMSBU Commercial Opportunity &amp; Strategic Roadmap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V6 — Visual &amp; Content Enhancement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0E1A"/>
                </a:solidFill>
              </a:rPr>
              <a:t>Delta Electronics  |  TMSBU  |  Confidential  | 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438912"/>
          </a:xfrm>
          <a:prstGeom prst="rect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FF"/>
                </a:solidFill>
              </a:rPr>
              <a:t>Liquid cooling is not only a product opportunity — it is a business model transition for TMSBU.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069080" cy="107899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19072"/>
            <a:ext cx="64008" cy="10789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92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73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GPU / Rack Power Exceeds Air Cooling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3813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GPU TDP突破700W，GB200 NVL72 rack power達130kW+。風冷已達物理瓶頸。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9160" y="1719072"/>
            <a:ext cx="4069080" cy="1078992"/>
          </a:xfrm>
          <a:prstGeom prst="rect">
            <a:avLst/>
          </a:prstGeom>
          <a:solidFill>
            <a:srgbClr val="111827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719072"/>
            <a:ext cx="64008" cy="107899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92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1773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066544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Liquid Cooling Adoption Accelerating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359152"/>
            <a:ext cx="3813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液冷滲透率：2023年20% → 2026年60% → 2030年80%+。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4069080" cy="107899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07899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99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9809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🌬️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27355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Hybrid Air + Liquid Remains Necessary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3813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GPU本體用液冷，memory、PCB、power仍需風冷。兩者長期共存。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4069080" cy="107899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26080"/>
            <a:ext cx="64008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999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29809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🔧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27355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TMSBU Can Expand into Module &amp; System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566160"/>
            <a:ext cx="3813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Fan、HS、HP、VC、Cold Plate已有基礎，升級為系統供應商。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4133088"/>
            <a:ext cx="841248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133088"/>
            <a:ext cx="64008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206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1879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⏱️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206240"/>
            <a:ext cx="8156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6–18 Months Are Critical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Market Inflection: AI Compute Density Hits Thermal Wall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液冷在2025年GB200 NVL72達到爆發點，2027+ Rubin架構將功率密度推向更高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160520"/>
            <a:ext cx="8412480" cy="768096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4160520"/>
            <a:ext cx="54864" cy="7680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178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FF"/>
                </a:solidFill>
              </a:rPr>
              <a:t>KEY INSIGHTS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GPU TDP 1,000W+（next-gen projection）已是液冷的基本門檻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Rack power 80kW+ 將在2026-2027年成為 hyperscale 主流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TMSBU現有 air-cooling 營收在2025後將面臨結構性壓力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Sources: Industry projections · Analyst forecasts · ⚠ Some specs need TMSBU internal validation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Hybrid Air + Liquid: Hotspots vs. System-Wide Cooling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液冷處理GPU熱點，風冷處理其餘系統組件——兩者長期共存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160520"/>
            <a:ext cx="8412480" cy="768096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4160520"/>
            <a:ext cx="54864" cy="7680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178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FF"/>
                </a:solidFill>
              </a:rPr>
              <a:t>KEY INSIGHTS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Cold Plate 直接接觸GPU chip，散熱效率遠優於風扇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Memory / PCB / Power 仍以氣流散熱為主，不可完全替換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Hybrid architecture 是2025-2028年性價比最優解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Architecture based on industry-standard direct-to-chip liquid cooling. No unvalidated HBM power figures used.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Chip-to-Rack Liquid Cooling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System value comes from integration: cold plates, manifolds, CDUs, connectors, monitoring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160520"/>
            <a:ext cx="8412480" cy="768096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4160520"/>
            <a:ext cx="54864" cy="7680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178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FF"/>
                </a:solidFill>
              </a:rPr>
              <a:t>KEY INSIGHTS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Quick Connector 位於 serviceability 介面，不影響主熱流路徑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Monitoring / Leak Detection 為附加安全節點，非熱流節點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CDU capacity ⚠ 需要TMSBU內部驗證（未使用130kW+等未經數字）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Architecture based on industry-standard direct-to-chip cooling loop. CDU specs ⚠ require TMSBU internal validation.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TMSBU Portfolio: 4-Layer Value Upgrade Path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Component → Module → System → Solution：每層疊加更高客戶價值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Product classifications based on TMSBU internal estimate. Customer value curve requires pipeline validation.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Delta Group Synergy: Four Quadrant Advantage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Power Electronics × Thermal Management × Control Systems × Infrastructure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06908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69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Power Electronics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Power supply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UPS systems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Energy conversion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069080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406908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69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Thermal Management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Cold plates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1737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Heat sinks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2057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CDU / manifolds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4069080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51760"/>
            <a:ext cx="406908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614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Control Systems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BMS / EMS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Thermal sensors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Auto control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651760"/>
            <a:ext cx="4069080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651760"/>
            <a:ext cx="40690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614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108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Rack PDU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3429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Coolant distribution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• Facility integration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4315968"/>
            <a:ext cx="8412480" cy="438912"/>
          </a:xfrm>
          <a:prstGeom prst="rect">
            <a:avLst/>
          </a:prstGeom>
          <a:solidFill>
            <a:srgbClr val="00E676">
              <a:alpha val="1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3425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676"/>
                </a:solidFill>
              </a:rPr>
              <a:t>Customer Value: Lower integration risk · Faster design-in · Better reliability · Stronger energy-efficiency support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Synergy assessment based on Delta Group capabilities. Competitive positioning requires market intelligence validation.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Market Opportunity: TMSBU's $0.8B–$3.2B SOM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Scenario-based TAM/SAM/SOM framework — ⚠ SOM requires internal TMSBU pipeline validation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206240"/>
            <a:ext cx="8412480" cy="292608"/>
          </a:xfrm>
          <a:prstGeom prst="rect">
            <a:avLst/>
          </a:prstGeom>
          <a:solidFill>
            <a:srgbClr val="A855F7">
              <a:alpha val="1200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55F7"/>
                </a:solidFill>
              </a:rPr>
              <a:t>⚠ SOM is scenario-based and requires TMSBU internal validation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TAM $39.1B = analyst forecast · SAM $12.8B = TMSBU estimate · SOM range = scenario-based assumption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Capability Gap &amp; 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Impact × Urgency matrix — immediate priorities need executive decision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548640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2880360" cy="333756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868680"/>
            <a:ext cx="28803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9692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TOP 3 IMMEDIATE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PRIORITIES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80760" y="1444752"/>
            <a:ext cx="2697480" cy="841248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1499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6520" y="1499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CDU Strategy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44768" y="181051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Build · Partner · Acquire decision required in 90 days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080760" y="2404872"/>
            <a:ext cx="2697480" cy="84124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2459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24597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Leak Reliability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44768" y="277063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Qualification process for cold plate + manifold + connector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080760" y="3364992"/>
            <a:ext cx="2697480" cy="841248"/>
          </a:xfrm>
          <a:prstGeom prst="rect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46520" y="34198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Qualification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44768" y="373075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Tier-1 server OEM/ODM thermal design-in pipeline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Risk assessments based on market intelligence. CDU capacity, leak rate, and customer pipeline ⚠ require TMSBU internal validation.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Strategic Roadmap: 4-Lane Execution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Technology · Customer · Product · Business Model — 6–18 month window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160520"/>
            <a:ext cx="8412480" cy="768096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4160520"/>
            <a:ext cx="54864" cy="7680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178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FF"/>
                </a:solidFill>
              </a:rPr>
              <a:t>KEY INSIGHTS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Phase 1（0-6M）：確認CDU策略，鎖定目標帳戶，展開Thermal Design-in討論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Phase 2（6-12M）：CDU原型驗證，與Tier-1客戶建立Joint Validation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</a:rPr>
              <a:t>Phase 3（12-18M）： CDU / Manifold / Quick Connector 產品化，通過可靠性認證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</a:rPr>
              <a:t>Roadmap based on current TMSBU capabilities assessment. Timelines assume CDU strategy is locked within 90 days.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Server Liquid Cooling: TMSBU Commercial Opportunity &amp; Strategic Roadmap V6</dc:title>
  <dc:subject>PptxGenJS Presentation</dc:subject>
  <dc:creator>James Chen / TMSBU</dc:creator>
  <cp:lastModifiedBy>James Chen / TMSBU</cp:lastModifiedBy>
  <cp:revision>1</cp:revision>
  <dcterms:created xsi:type="dcterms:W3CDTF">2026-05-03T19:51:24Z</dcterms:created>
  <dcterms:modified xsi:type="dcterms:W3CDTF">2026-05-03T19:51:24Z</dcterms:modified>
</cp:coreProperties>
</file>