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91440" cy="2926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2E"/>
                </a:solidFill>
              </a:rPr>
              <a:t>SERVER &amp; Power Rack 水冷板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06060"/>
                </a:solidFill>
              </a:rPr>
              <a:t>5C 架構商業計劃  |  2026–2028 策略藍圖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EB8"/>
                </a:solidFill>
              </a:rPr>
              <a:t>液冷破局時刻，5C 架構引領台達從零件供應商升級為系統整合者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097280"/>
            <a:ext cx="3657600" cy="5029200"/>
          </a:xfrm>
          <a:prstGeom prst="rect">
            <a:avLst/>
          </a:prstGeom>
          <a:solidFill>
            <a:srgbClr val="EEF4FA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EB8"/>
                </a:solidFill>
              </a:rPr>
              <a:t>液冷市場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642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</a:rPr>
              <a:t>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40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2024–2030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EB8"/>
                </a:solidFill>
              </a:rPr>
              <a:t>功率密度成長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272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</a:rPr>
              <a:t>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03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40→200kW/rack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EB8"/>
                </a:solidFill>
              </a:rPr>
              <a:t>水冷板 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59028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</a:rPr>
              <a:t>US$ 18億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166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SERVER+POWER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Delta Electronics / TMSBU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2026 年 5 月  |  機密文件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1535" y="137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5EB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MARKET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Rack Power Density 臨界點已到，液冷為唯一出路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GPU TDP 從 400W 跃升至 1,000W+，傳統氣冷散熱極限已至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463040" cy="23774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465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GB200 NVL72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熱設計功率達 100–120kW/rack，氣冷在高負載下已無法維持晶片溫度 &lt; 85°C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50592"/>
            <a:ext cx="1463040" cy="23774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597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Rubin Ultra（TDP 1,000W）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24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預計 2027 量產，功率密度再增 2.5 倍，氣冷完全失效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63824"/>
            <a:ext cx="1463040" cy="23774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1729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2030 年平均 rack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381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將超過 200kW，氣冷物理瓶頸無解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77056"/>
            <a:ext cx="1463040" cy="23774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8862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液冷滲透率曲線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513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2024 &lt;15% → 2028 35% → 2030 55%（Internal estimate）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90288"/>
            <a:ext cx="1463040" cy="23774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59943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水冷板子市場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646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22%，為液冷系統中成長最快的子市場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822960"/>
            <a:ext cx="5029200" cy="56692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Rack Power Density Roadmap (kW/rack)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5277394"/>
            <a:ext cx="502920" cy="300445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5057938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060"/>
                </a:solidFill>
              </a:rPr>
              <a:t>20kW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60527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</a:rPr>
              <a:t>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7790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6060"/>
                </a:solidFill>
              </a:rPr>
              <a:t>H100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4901837"/>
            <a:ext cx="502920" cy="67600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682381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A3E0"/>
                </a:solidFill>
              </a:rPr>
              <a:t>45kW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560527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</a:rPr>
              <a:t>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7790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6060"/>
                </a:solidFill>
              </a:rPr>
              <a:t>GB200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41664" y="4225834"/>
            <a:ext cx="502920" cy="1352005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8512" y="4006378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5EB8"/>
                </a:solidFill>
              </a:rPr>
              <a:t>90kW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1664" y="560527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57790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6060"/>
                </a:solidFill>
              </a:rPr>
              <a:t>NVL72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9176" y="3324497"/>
            <a:ext cx="502920" cy="225334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36024" y="3105041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5EB8"/>
                </a:solidFill>
              </a:rPr>
              <a:t>150kW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560527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</a:rPr>
              <a:t>2028E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57790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6060"/>
                </a:solidFill>
              </a:rPr>
              <a:t>Rubin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76688" y="1822268"/>
            <a:ext cx="502920" cy="3755571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03536" y="160281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5EB8"/>
                </a:solidFill>
              </a:rPr>
              <a:t>250kW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560527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</a:rPr>
              <a:t>2030E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148840"/>
            <a:ext cx="4114800" cy="19050"/>
          </a:xfrm>
          <a:prstGeom prst="rect">
            <a:avLst/>
          </a:prstGeom>
          <a:noFill/>
          <a:ln w="19050">
            <a:solidFill>
              <a:srgbClr val="E0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1737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03946"/>
                </a:solidFill>
              </a:rPr>
              <a:t>氣冷瓶頸線 (~40kW)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GPU TDP 每 2 年翻倍，液冷滲透率將加速攀升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CUSTOMER PAINS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三大散熱痛點，液冷必須現在導入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氣冷瓶頸 + 成本壓力 + 交付時程焦慮，迫使 CSP 加速液冷腳步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474720" cy="34747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474720" cy="5486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EB8"/>
                </a:solidFill>
              </a:rPr>
              <a:t>痛點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散熱瓶頸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GPU 熱通量超過 1,000W/cm²，氣冷 fan 受限於噪音與能耗，散熱效能線性成長但晶片功率指數成長，導致算力損失 15–25%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828800"/>
            <a:ext cx="3474720" cy="34747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474720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965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3E0"/>
                </a:solidFill>
              </a:rPr>
              <a:t>痛點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240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TCO 壓力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氣冷 PUE 1.4，液冷可降至 1.08；10MW 資料中心，液冷每年節省電費 NT$ 1.2 億（Illustrative）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0998" y="1828800"/>
            <a:ext cx="3474720" cy="34747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998" y="1828800"/>
            <a:ext cx="3474720" cy="54864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8" y="1965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5D9A"/>
                </a:solidFill>
              </a:rPr>
              <a:t>痛點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8" y="2240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供應鏈焦慮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8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水冷板供應商認證週期 6–12 個月，CSP 急需合格供應商名單，現在開始認證才能趕上 2027 年需求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424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CSP 正在搶供應商認證，這就是台達的窗口 — 認證週期 6–12 個月，現在佈局才能趕上 2027 需求峰值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氣冷架構在 AI 時代面臨四重極限，液冷已是唯一出路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228600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5C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5C 架構 — 從晶片到設施的完整液冷覆蓋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Cold Plate / Connector / CDU / Control / Community — 垂直整合，單一窗口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2148840" cy="3931920"/>
          </a:xfrm>
          <a:prstGeom prst="rect">
            <a:avLst/>
          </a:prstGeom>
          <a:solidFill>
            <a:srgbClr val="F7F9FC"/>
          </a:solidFill>
          <a:ln w="1524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148840" cy="4114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7393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EB8"/>
                </a:solidFill>
              </a:rPr>
              <a:t>Cold Plate（散熱板）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Server rack GPU/ASIC cold plate
Power rack 48V/400V IGBT cold plate
銅/鋁複合燒結技術
熱通量 &gt; 500W/cm²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37360"/>
            <a:ext cx="2148840" cy="3931920"/>
          </a:xfrm>
          <a:prstGeom prst="rect">
            <a:avLst/>
          </a:prstGeom>
          <a:solidFill>
            <a:srgbClr val="F7F9FC"/>
          </a:solidFill>
          <a:ln w="1524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737360"/>
            <a:ext cx="2148840" cy="4114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77393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2402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3E0"/>
                </a:solidFill>
              </a:rPr>
              <a:t>Connector（快速接頭）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974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無滴漏 Quick Connector
支援熱插拔，漏液偵測 &lt; 1 秒
ISO 標準介面
降低 LCO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737360"/>
            <a:ext cx="2148840" cy="3931920"/>
          </a:xfrm>
          <a:prstGeom prst="rect">
            <a:avLst/>
          </a:prstGeom>
          <a:solidFill>
            <a:srgbClr val="F7F9FC"/>
          </a:solidFill>
          <a:ln w="15240">
            <a:solidFill>
              <a:srgbClr val="00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80" y="1737360"/>
            <a:ext cx="2148840" cy="411480"/>
          </a:xfrm>
          <a:prstGeom prst="rect">
            <a:avLst/>
          </a:prstGeom>
          <a:solidFill>
            <a:srgbClr val="00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77393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2402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AA"/>
                </a:solidFill>
              </a:rPr>
              <a:t>CDU（冷卻分配單元）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6974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20kW–200kW 全系列
變頻壓縮機 + 熱交換器
N+1 備援設計
MTBF &gt; 40,000h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737360"/>
            <a:ext cx="2148840" cy="3931920"/>
          </a:xfrm>
          <a:prstGeom prst="rect">
            <a:avLst/>
          </a:prstGeom>
          <a:solidFill>
            <a:srgbClr val="F7F9FC"/>
          </a:solidFill>
          <a:ln w="15240">
            <a:solidFill>
              <a:srgbClr val="1E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1737360"/>
            <a:ext cx="2148840" cy="41148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77393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2402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5D9A"/>
                </a:solidFill>
              </a:rPr>
              <a:t>Control（監控系統）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6974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晶片溫度回授 → CDU 流量調變
設施水溫聯動，閉環控制
數位孿生失效預測
API 整合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1737360"/>
            <a:ext cx="2148840" cy="3931920"/>
          </a:xfrm>
          <a:prstGeom prst="rect">
            <a:avLst/>
          </a:prstGeom>
          <a:solidFill>
            <a:srgbClr val="F7F9FC"/>
          </a:solidFill>
          <a:ln w="1524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64040" y="1737360"/>
            <a:ext cx="2148840" cy="41148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77393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2402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6060"/>
                </a:solidFill>
              </a:rPr>
              <a:t>Community（生態系）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6974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Delta Power Systems（電源）
Delta Grids（電力系統）
EVS 協作
Power + Cooling 共同優化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3383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383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3383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3383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5EB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5C 垂直整合是台達最難被複製的競爭優勢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82880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TECHNICAL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Cold Plate 技術能力 — 從 Server 到 Power Rack 全覆蓋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台達 Cold Plate 具備高散熱能力、輕量化與量產經驗，已通過主要 CSP 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212848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2212848" cy="5486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3794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GPU Cold Plate
(S型)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2432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熱通量 500–650W/cm²
厚度 &lt; 6mm / 重量 &lt; 1.2kg
表面 Ra &lt; 0.8μm
燒結銀接合（無鉛）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4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最短熱路徑
直接移除晶片熱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6B"/>
                </a:solidFill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6B"/>
                </a:solidFill>
              </a:rPr>
              <a:t>已通過 2 家 CSP 驗證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7208" y="1783080"/>
            <a:ext cx="2212848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7208" y="1783080"/>
            <a:ext cx="2212848" cy="5486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183794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GPU Cold Plate
(L型)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04872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62432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熱通量 400–550W/cm²
支援主流封裝尺寸
鋁合金基板 + 銅鰭片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74904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3959352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大面積均溫散熱
相較同業輕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1772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6B"/>
                </a:solidFill>
              </a:rP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4828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6B"/>
                </a:solidFill>
              </a:rPr>
              <a:t>驗證中，第 3 家 CSP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11496" y="1783080"/>
            <a:ext cx="2212848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11496" y="1783080"/>
            <a:ext cx="2212848" cy="5486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1496" y="183794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Power Rack
48V Busbar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2404872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62432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支援 48V busbar 整合
熱阻 &lt; 0.15°C-in²/W
鋁合金擠型散熱片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374904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3959352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48V 系統整合
Power density 提升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2936" y="461772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6B"/>
                </a:solidFill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4828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6B"/>
                </a:solidFill>
              </a:rPr>
              <a:t>2027 年量產規劃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15784" y="1783080"/>
            <a:ext cx="2212848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15784" y="1783080"/>
            <a:ext cx="2212848" cy="5486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15784" y="183794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Power Rack
400V IGBT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4" y="2404872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SPEC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4" y="262432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支援 400V SiC IGBT module
熱阻 &lt; 0.1°C-in²/W
雙面散熱技術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7224" y="374904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7224" y="3959352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高電壓適用
EV / 資料中心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7224" y="461772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6B"/>
                </a:solidFill>
              </a:rPr>
              <a:t>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7224" y="4828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6B"/>
                </a:solidFill>
              </a:rPr>
              <a:t>歐洲客戶 Pilot 進行中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0072" y="1783080"/>
            <a:ext cx="2212848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20072" y="1783080"/>
            <a:ext cx="2212848" cy="5486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20072" y="183794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Server Blade
Cold Plate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1512" y="2404872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SPEC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1512" y="2624328"/>
            <a:ext cx="2029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支援 OCP / ODM 標準
客製化鰭片配置
快速打樣 4–6 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1512" y="374904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EB8"/>
                </a:solidFill>
              </a:rPr>
              <a:t>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1512" y="3959352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Blade 密度優化
符合 OpenBMC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1512" y="4617720"/>
            <a:ext cx="2029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6B"/>
                </a:solidFill>
              </a:rPr>
              <a:t>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11512" y="4828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6B"/>
                </a:solidFill>
              </a:rPr>
              <a:t>送樣階段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台達 Cold Plate 從 1kW 到 100kW 全功率覆蓋，已具備量產能力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73736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DELTA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5C 整合價值 — 台達與同業的根本差異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同業專注單點產品，台達提供從 Cold Plate 到 CDU 的系統整合價值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566160" cy="178308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864" cy="1783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垂直整合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Cold Plate + Quick Connector
+ CDU + Monitoring
單一窗口，減少介面衝突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828800"/>
            <a:ext cx="3566160" cy="178308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828800"/>
            <a:ext cx="54864" cy="1783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集團資源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Delta Electronics（電源）
Delta Grids（電力系統）
TMSBU（散熱）三方協作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0998" y="1828800"/>
            <a:ext cx="3566160" cy="178308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0998" y="1828800"/>
            <a:ext cx="54864" cy="1783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8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在地支援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8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台灣 / 中國 / 新加坡
/ 美國均有據點
24/7 技術服務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3566160" cy="178308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54864" cy="1783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量產規模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全球最大電源供應商之一
製造規模 cost advantage
ISO 認證品質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794760"/>
            <a:ext cx="3566160" cy="178308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794760"/>
            <a:ext cx="54864" cy="1783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系統 Know-how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從熱模擬、硬體驗證
到部署後優化
完整系統能力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0998" y="3794760"/>
            <a:ext cx="3566160" cy="178308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8" y="3794760"/>
            <a:ext cx="54864" cy="1783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8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EB8"/>
                </a:solidFill>
              </a:rPr>
              <a:t>長期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8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Direct-to-chip 液冷
浸沒式冷卻已在開發
支援客戶未來升級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垂直整合是台達最難被複製的競爭優勢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201168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三大型液冷案例（已驗證）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台達液冷方案已在真實資料中心環境驗證，散熱與可靠性兼顧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3566160" cy="36576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566160" cy="731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EB8"/>
                </a:solidFill>
              </a:rPr>
              <a:t>場景 1
某大型 CSP（亞洲）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類型：GPU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需求：熱密度 80kW/rack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成果：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558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部署 500+ 套，PUE 從 1.42 降至 1.09（Illustrative）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783080"/>
            <a:ext cx="3566160" cy="36576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783080"/>
            <a:ext cx="3566160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965960"/>
            <a:ext cx="320040" cy="3200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59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場景 2
某區域資料中心（北美）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441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類型：AI Training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需求：熱密度 120kW/rack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3108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成果：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33558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半年內完成認證上線，Quick Connector 熱插拔驗證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0998" y="1783080"/>
            <a:ext cx="3566160" cy="365760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0998" y="1783080"/>
            <a:ext cx="3566160" cy="73152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8" y="1965960"/>
            <a:ext cx="320040" cy="320040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8" y="1965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38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D9A"/>
                </a:solidFill>
              </a:rPr>
              <a:t>場景 3
Power Rack（歐洲）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8" y="2441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類型：48V Power 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8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需求：400V SiC IGBT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8" y="3108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EB8"/>
                </a:solidFill>
              </a:rPr>
              <a:t>成果：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8" y="33558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2027 年進入量產階段，協助客戶解決高電壓散熱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064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</a:rPr>
              <a:t>所有案例均已獲客戶書面授權使用 | Confidential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真實案例驗證：液冷方案在多種場景下均已通過考驗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FINANCIAL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5 年 ROI 分析 — 液冷 3.5 年回本，5 年累計創造更大價值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液冷初始投資較高，但透過電費節省，3.5 年內實現正向現金流（Illustrative）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37160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4650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假設條件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10MW data center / 200 racks / 負載率 80% / 電費 NT$3.5/kWh
PUE：氣冷 1.42 vs 液冷 1.08（Illustrative）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50592"/>
            <a:ext cx="137160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59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初始 CapEx 差額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24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液冷系統額外資本支出約 NT$4,800 萬（相較氣冷，Illustrative）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63824"/>
            <a:ext cx="137160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172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年度 OpEx 節省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381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NT$ 1.2 億/年（視機櫃數量與電費單價，Illustrative）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77056"/>
            <a:ext cx="137160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8862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Payback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513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3.5–4 年（根據電費假設，Illustrative）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90288"/>
            <a:ext cx="1371600" cy="2377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5994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 年累計現金流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64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液冷較氣冷節省約 NT$2.3 億（Illustrative）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822960"/>
            <a:ext cx="5029200" cy="56692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Cumulative Cash Flow: Air vs Liquid (5Y)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486400"/>
            <a:ext cx="475488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5285232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6060"/>
                </a:solidFill>
              </a:rPr>
              <a:t>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7264" y="5486400"/>
            <a:ext cx="475488" cy="1302105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7264" y="528523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5EB8"/>
                </a:solidFill>
              </a:rPr>
              <a:t>-80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52297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060"/>
                </a:solidFill>
              </a:rPr>
              <a:t>Y0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7344" y="5160873"/>
            <a:ext cx="475488" cy="32552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959705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6060"/>
                </a:solidFill>
              </a:rPr>
              <a:t>+20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5486400"/>
            <a:ext cx="475488" cy="10579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9408" y="528523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5EB8"/>
                </a:solidFill>
              </a:rPr>
              <a:t>-65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552297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060"/>
                </a:solidFill>
              </a:rPr>
              <a:t>Y1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4591202"/>
            <a:ext cx="475488" cy="89519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46336" y="4390034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6060"/>
                </a:solidFill>
              </a:rPr>
              <a:t>+55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31552" y="5486400"/>
            <a:ext cx="475488" cy="488289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1552" y="528523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5EB8"/>
                </a:solidFill>
              </a:rPr>
              <a:t>-30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9488" y="552297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060"/>
                </a:solidFill>
              </a:rPr>
              <a:t>Y2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71632" y="3858768"/>
            <a:ext cx="475488" cy="16276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365760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6060"/>
                </a:solidFill>
              </a:rPr>
              <a:t>+100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83696" y="5242255"/>
            <a:ext cx="475488" cy="24414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83696" y="5041087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5EB8"/>
                </a:solidFill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552297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060"/>
                </a:solidFill>
              </a:rPr>
              <a:t>Y3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923776" y="2963570"/>
            <a:ext cx="475488" cy="2522829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50624" y="2762402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6060"/>
                </a:solidFill>
              </a:rPr>
              <a:t>+155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435840" y="4428439"/>
            <a:ext cx="475488" cy="10579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435840" y="4227271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5EB8"/>
                </a:solidFill>
              </a:rPr>
              <a:t>65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923776" y="552297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060"/>
                </a:solidFill>
              </a:rPr>
              <a:t>Y4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75920" y="1905609"/>
            <a:ext cx="475488" cy="358079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02768" y="1704441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6060"/>
                </a:solidFill>
              </a:rPr>
              <a:t>+220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587984" y="3533241"/>
            <a:ext cx="475488" cy="195315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587984" y="3332073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5EB8"/>
                </a:solidFill>
              </a:rPr>
              <a:t>120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075920" y="552297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060"/>
                </a:solidFill>
              </a:rPr>
              <a:t>Y5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5760720"/>
            <a:ext cx="182880" cy="10972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5733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Air Cooling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78240" y="5760720"/>
            <a:ext cx="182880" cy="1097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5733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60"/>
                </a:solidFill>
              </a:rPr>
              <a:t>Liquid Cooling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5897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</a:rPr>
              <a:t>Assumptions: NT$3.5/kWh | 200 racks | 80% utilization
Illustrative only — actual results will vary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液冷 3.5 年回本，5 年創造更大價值，長期投資報酬明確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219456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DEPLOYMENT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18 週導入時程 — 從驗證到量產的清晰路徑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台達提供完整的驗證與量產支援，18 週內可完成從 POC 到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6060"/>
                </a:solidFill>
              </a:rPr>
              <a:t>Week 1         Week 4         Week 8         Week 12         Week 15         Week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103120"/>
            <a:ext cx="12700" cy="2926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4920" y="2103120"/>
            <a:ext cx="12700" cy="2926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12700" cy="2926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2103120"/>
            <a:ext cx="12700" cy="2926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2103120"/>
            <a:ext cx="12700" cy="2926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12680" y="2103120"/>
            <a:ext cx="12700" cy="2926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47120" y="2103120"/>
            <a:ext cx="12700" cy="2926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2148840"/>
            <a:ext cx="123444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2203704"/>
            <a:ext cx="1088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
需求確認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60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交付物：熱密度需求確認
機櫃規格審查
方案配置建議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2148840"/>
            <a:ext cx="2057400" cy="47548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2203704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
熱驗證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660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交付物：熱模擬報告
Cold Plate 接觸測試報告
CDU 性能驗證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148840"/>
            <a:ext cx="1645920" cy="475488"/>
          </a:xfrm>
          <a:prstGeom prst="rect">
            <a:avLst/>
          </a:prstGeom>
          <a:solidFill>
            <a:srgbClr val="00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2203704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
系統整合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60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交付物：聯調報告
Manifold 配置
監控設定 / FAT 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148840"/>
            <a:ext cx="1234439" cy="475488"/>
          </a:xfrm>
          <a:prstGeom prst="rect">
            <a:avLst/>
          </a:prstGeom>
          <a:solidFill>
            <a:srgbClr val="1E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2203704"/>
            <a:ext cx="10881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4
Pilot 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660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交付物：5–10 櫃 Pilot 上線
燒機報告
初步驗收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2148840"/>
            <a:ext cx="1234440" cy="475488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5832" y="2203704"/>
            <a:ext cx="1088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5
量產準備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交付物：正式訂單
出貨支援
運轉驗收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 週從驗證到量產，清晰階段交付物確保客戶掌握進度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29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立即行動 — 共同定義液冷合作框架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</a:rPr>
              <a:t>現在開始，6–8 週內完成商務談判，18 週內從 POC 到量產準備就緒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247120" cy="11887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4864" cy="1188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47472" cy="3474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105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行動一：Technical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EB8"/>
                </a:solidFill>
              </a:rPr>
              <a:t>立即安排（2 週內）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45059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90 分鐘技術會議，Delta 熱管理工程團隊 + 客戶 IT/資料中心團隊。
議程：熱密度需求深度確認、方案配置討論、實驗室參觀（可選）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11247120" cy="11887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54864" cy="1188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347472" cy="3474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1821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行動二：Customized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547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EB8"/>
                </a:solidFill>
              </a:rPr>
              <a:t>Workshop 後 2 週內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82219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Delta 根據確認的需求提供客製化 Proposal，
包含 BOM 配置、報價、交期與驗收標準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80560"/>
            <a:ext cx="11247120" cy="1188720"/>
          </a:xfrm>
          <a:prstGeom prst="rect">
            <a:avLst/>
          </a:prstGeom>
          <a:solidFill>
            <a:srgbClr val="EE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480560"/>
            <a:ext cx="54864" cy="1188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347472" cy="3474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5537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行動三：PoC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919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EB8"/>
                </a:solidFill>
              </a:rPr>
              <a:t>如客戶需要先行驗證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9379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討論 5–10 櫃 Pilot 方案設計、驗證目標、双方投入資源、
與 Pilot 後擴充路徑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440680"/>
            <a:ext cx="1280160" cy="566928"/>
          </a:xfrm>
          <a:prstGeom prst="rect">
            <a:avLst/>
          </a:prstGeom>
          <a:solidFill>
            <a:srgbClr val="005EB8"/>
          </a:solidFill>
          <a:ln w="1016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9554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Tech
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577840"/>
            <a:ext cx="6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44968" y="5440680"/>
            <a:ext cx="1280160" cy="566928"/>
          </a:xfrm>
          <a:prstGeom prst="rect">
            <a:avLst/>
          </a:prstGeom>
          <a:solidFill>
            <a:srgbClr val="EEF4FA"/>
          </a:solidFill>
          <a:ln w="1016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549554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Requirement
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5577840"/>
            <a:ext cx="6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9136" y="5440680"/>
            <a:ext cx="1280160" cy="566928"/>
          </a:xfrm>
          <a:prstGeom prst="rect">
            <a:avLst/>
          </a:prstGeom>
          <a:solidFill>
            <a:srgbClr val="EEF4FA"/>
          </a:solidFill>
          <a:ln w="1016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549554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Customized
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9296" y="5577840"/>
            <a:ext cx="6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33304" y="5440680"/>
            <a:ext cx="1280160" cy="566928"/>
          </a:xfrm>
          <a:prstGeom prst="rect">
            <a:avLst/>
          </a:prstGeom>
          <a:solidFill>
            <a:srgbClr val="EEF4FA"/>
          </a:solidFill>
          <a:ln w="1016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33304" y="549554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PoC
Planning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13464" y="5577840"/>
            <a:ext cx="6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777472" y="5440680"/>
            <a:ext cx="1280160" cy="566928"/>
          </a:xfrm>
          <a:prstGeom prst="rect">
            <a:avLst/>
          </a:prstGeom>
          <a:solidFill>
            <a:srgbClr val="EEF4FA"/>
          </a:solidFill>
          <a:ln w="1016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777472" y="549554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Commercial
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57632" y="5577840"/>
            <a:ext cx="6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121640" y="5440680"/>
            <a:ext cx="1280160" cy="566928"/>
          </a:xfrm>
          <a:prstGeom prst="rect">
            <a:avLst/>
          </a:prstGeom>
          <a:solidFill>
            <a:srgbClr val="EEF4FA"/>
          </a:solidFill>
          <a:ln w="1016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21640" y="549554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Production
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聯絡窗口：[姓名] | [Email] | [電話]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288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液冷破局時刻，現在開始攜手搶佔市場先機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