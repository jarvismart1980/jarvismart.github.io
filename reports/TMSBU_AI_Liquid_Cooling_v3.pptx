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AI server liquid cooling is the defining thermal management challenge of the AI infrastructure era. This V3 version is re-designed for executive readability — clear visual hierarchy, 3-second Big Decision Message, and minimal text per slide. Target audience: TMSBU leadership, group executives, key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card represents a key executive message. (1) GPU TDP trend: 400W→700W→1,400W by 2027+. (2) Liquid cooling adoption: 20%→60% by 2026. (3) Hybrid architecture: Air handles memory/PCB; liquid handles GPU/CPU hotspots. TMSBU benefits from both. (4) SOM $1.8B = assumption (14% share of SAM), needs internal validation. (5) The 6-18 month window is critical — Tier-1 customer qualification cycles take 12-18 months. Starting NOW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chart shows rack power density doubling every generation — from 10kW in 2022 to projected 160kW+ in 2027+. The GB200 NVL72 at 80-130kW/rack is the key inflection point where liquid cooling shifts from optional to mandatory. By Rubin (2027+), air cooling alone cannot handle the thermal load. Key inflection markers: (1) 2024 H100 = 40kW/rack, air still viable; (2) 2025 GB200 = 80-130kW/rack, liquid required; (3) 2027+ Rubin = 160kW+/rack, immersion cooling becomes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key insight is NOT 'air vs liquid' — it is 'air AND liquid.' Liquid cooling handles the high-power GPU/CPU thermal load. Air cooling remains essential for: HBM memory stacks at ~1kW per module, PCBs, power delivery components, and low-power accessories. This means TMSBU's fan business does NOT decline with liquid cooling adoption — it grows because more air cooling is needed for non-GPU components in liquid-cooled servers. The radar chart (bottom left) compares air vs liquid across 6 dimensions: heat flux, rack power support, energy efficiency, system complexity, capital cost, and service frequency. No single technology wins — the hybrid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Liquid cooling is not a single product — it is a system with 5 key components. (1) Cold Plates at chip level with direct contact cooling — direct contact with GPU/CPU die, thermal resistance &lt; 0.1°C-in²/W. (2) CDUs (Coolant Distribution Units) that circulate and reject heat — typically 130kW+ capacity per CDU unit. (3) Manifolds that distribute coolant to multiple servers in a rack. (4) Quick Connectors that enable hot-swap maintenance without draining the system — leak rate &lt; 0.5g/year. (5) Leak detection and monitoring for reliability. The bottom panel shows the temperature gradient: hot coolant at 60°C+ from GPU exits the cold plate, is cooled to 5-10°C by the CDU/chiller, and returns to the cold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value ladder shows 4 layers of TMSBU's expansion path. NOW (Component Layer): Fan, Heat Sink, Heat Pipe, Vapor Chamber — existing products with established manufacturing. NEXT (Module Layer): Cold Plate, Liquid Block, Thermal Module, Hybrid Air+Liquid — natural next step from existing VC/HP expertise. PHASE 2 (System Layer): CDU, Manifold, Quick Connector, Rack Cooling Kit — requires new capabilities (CDU design, connector qualification). TARGET (Solution Layer): Turn-key Thermal Solution, PUE Optimization, Thermal Design-In, AMC Service — business model transformation from component supplier to system partner. Key message: The highest value capture is at the Solution Layer, but each layer builds capability for the next. Start NOW with components and modules to fund the journey to system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Delta's competitive advantage comes from 4 synergistic pillars. (1) Power Electronics: Delta's leading power supply and power delivery capability means thermal management is integrated with power architecture from day one — a unique advantage. (2) Thermal Management: TMSBU's core business — fans, heat sinks, vapor chambers, cold plates. (3) Control &amp; Monitoring: Delta's sensor and control systems enable intelligent thermal management and PUE optimization — differentiating from pure mechanical cooling suppliers. (4) DC Infrastructure: Delta's data center infrastructure portfolio (rack PDU, cooling towers) enables facility-level cooling integration. The center circle 'DELTA SYNERGY' represents the compound advantage of all 4 pillars working together — something no competitor can replicate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market opportunity funnel shows 3 levels. TAM (Total Addressable Market): $39.1B by 2030 — the entire AI data center liquid cooling market, including infrastructure (chillers, cooling towers). SAM (Serviceable Addressable Market): ~$12.8B — cold plates + CDU + manifolds + quick connectors. SOM (Serviceable Obtainable Market): $0.8B-$3.2B — TMSBU's realistic capture based on market share assumptions. The 3 scenarios reflect different TMSBU execution speeds and success rates. Conservative (8% share of SAM): $0.8B. Base case (14%): $1.8B. Aggressive (25%): $3.2B. Key assumption: SOM = 14% of SAM is based on Delta's current share in server thermal components. This needs internal validation from James and the TMSBU team. The market is large enough to be significant even at conservative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risk heatmap prioritizes 10 identified risks. RED (HIGH × HIGH): Top 3 immediate priorities. (1) CDU capability: TMSBU does not currently have CDU design/manufacturing. Decision needed in Phase 1 — partner (CoolIT, Condair), acquire, or develop in-house. (2) Leak reliability: A single leak incident can destroy a $500K server. Quick connector qualification and leak detection are non-negotiable. (3) Customer qualification cycle: 12-18 months. Starting NOW is essential to be considered for GB300/Rubin. ORANGE (HIGH × MED or MED × HIGH): Address in Phase 2. GREEN (MED × LOW): Monitor and address in Phase 3-4. Note: The China supply chain risk (cold plate/manifold price competition) is real but can be addressed through differentiation on quality, reliability, and global support — not by competing on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4-lane roadmap covers Technology, Customer, Product, and Business Model tracks across 4 phases. Phase 1 (0-3 months): Foundation. Confirm target customers and platforms (GB200/GB300/Rubin), benchmark thermal architectures, build complete product gap list, identify CDU and quick connector partners. Phase 2 (3-6 months): Development. Develop cold plate + hybrid air/liquid reference module, establish thermal validation capability, start thermal design-in discussions, finalize TAM/SAM business case. Phase 3 (6-12 months): Prototype &amp; Engage. Prototype CDU/manifold system kit, qualify quick connectors and leak detection, create rack-level demo, engage Tier-1 server OEM/ODM and cloud customers. Phase 4 (12-18 months): Scale. Transition from product selling to solution selling, design annual maintenance/service model, establish first reference customer, prepare for mass production and global support. KEY MESSAGE: Every phase builds toward the same goal — becoming the customer's indispensable Thermal System Partner, not just a component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926080"/>
            <a:ext cx="9144000" cy="2217420"/>
          </a:xfrm>
          <a:prstGeom prst="rect">
            <a:avLst/>
          </a:prstGeom>
          <a:solidFill>
            <a:srgbClr val="0B0E1A">
              <a:alpha val="80000"/>
            </a:srgbClr>
          </a:solidFill>
          <a:ln/>
        </p:spPr>
      </p:sp>
      <p:sp>
        <p:nvSpPr>
          <p:cNvPr id="4" name="Shape 1"/>
          <p:cNvSpPr/>
          <p:nvPr/>
        </p:nvSpPr>
        <p:spPr>
          <a:xfrm>
            <a:off x="0" y="4389120"/>
            <a:ext cx="9144000" cy="754380"/>
          </a:xfrm>
          <a:prstGeom prst="rect">
            <a:avLst/>
          </a:prstGeom>
          <a:solidFill>
            <a:srgbClr val="0B0E1A"/>
          </a:solidFill>
          <a:ln/>
        </p:spPr>
      </p:sp>
      <p:sp>
        <p:nvSpPr>
          <p:cNvPr id="5" name="Text 2"/>
          <p:cNvSpPr/>
          <p:nvPr/>
        </p:nvSpPr>
        <p:spPr>
          <a:xfrm>
            <a:off x="457200" y="3017520"/>
            <a:ext cx="8229600" cy="658368"/>
          </a:xfrm>
          <a:prstGeom prst="rect">
            <a:avLst/>
          </a:prstGeom>
          <a:noFill/>
          <a:ln/>
        </p:spPr>
        <p:txBody>
          <a:bodyPr wrap="square" lIns="0" tIns="0" rIns="0" bIns="0" rtlCol="0" anchor="ctr"/>
          <a:lstStyle/>
          <a:p>
            <a:pPr indent="0" marL="0">
              <a:buNone/>
            </a:pPr>
            <a:r>
              <a:rPr lang="en-US" sz="3800" b="1" dirty="0">
                <a:solidFill>
                  <a:srgbClr val="FFFFFF"/>
                </a:solidFill>
              </a:rPr>
              <a:t>AI Server Liquid Cooling:</a:t>
            </a:r>
            <a:endParaRPr lang="en-US" sz="3800" dirty="0"/>
          </a:p>
        </p:txBody>
      </p:sp>
      <p:sp>
        <p:nvSpPr>
          <p:cNvPr id="6" name="Text 3"/>
          <p:cNvSpPr/>
          <p:nvPr/>
        </p:nvSpPr>
        <p:spPr>
          <a:xfrm>
            <a:off x="457200" y="3639312"/>
            <a:ext cx="8229600" cy="475488"/>
          </a:xfrm>
          <a:prstGeom prst="rect">
            <a:avLst/>
          </a:prstGeom>
          <a:noFill/>
          <a:ln/>
        </p:spPr>
        <p:txBody>
          <a:bodyPr wrap="square" lIns="0" tIns="0" rIns="0" bIns="0" rtlCol="0" anchor="ctr"/>
          <a:lstStyle/>
          <a:p>
            <a:pPr indent="0" marL="0">
              <a:buNone/>
            </a:pPr>
            <a:r>
              <a:rPr lang="en-US" sz="2800" b="1" dirty="0">
                <a:solidFill>
                  <a:srgbClr val="00E5FF"/>
                </a:solidFill>
              </a:rPr>
              <a:t>TMSBU Commercial Opportunity</a:t>
            </a:r>
            <a:endParaRPr lang="en-US" sz="2800" dirty="0"/>
          </a:p>
        </p:txBody>
      </p:sp>
      <p:sp>
        <p:nvSpPr>
          <p:cNvPr id="7" name="Text 4"/>
          <p:cNvSpPr/>
          <p:nvPr/>
        </p:nvSpPr>
        <p:spPr>
          <a:xfrm>
            <a:off x="457200" y="4096512"/>
            <a:ext cx="8229600" cy="292608"/>
          </a:xfrm>
          <a:prstGeom prst="rect">
            <a:avLst/>
          </a:prstGeom>
          <a:noFill/>
          <a:ln/>
        </p:spPr>
        <p:txBody>
          <a:bodyPr wrap="square" lIns="0" tIns="0" rIns="0" bIns="0" rtlCol="0" anchor="ctr"/>
          <a:lstStyle/>
          <a:p>
            <a:pPr indent="0" marL="0">
              <a:buNone/>
            </a:pPr>
            <a:r>
              <a:rPr lang="en-US" sz="1300" i="1" dirty="0">
                <a:solidFill>
                  <a:srgbClr val="9CA3AF"/>
                </a:solidFill>
              </a:rPr>
              <a:t>Strategic Roadmap V3 — Layout Optimized for Executive Reading</a:t>
            </a:r>
            <a:endParaRPr lang="en-US" sz="1300" dirty="0"/>
          </a:p>
        </p:txBody>
      </p:sp>
      <p:sp>
        <p:nvSpPr>
          <p:cNvPr id="8" name="Shape 5"/>
          <p:cNvSpPr/>
          <p:nvPr/>
        </p:nvSpPr>
        <p:spPr>
          <a:xfrm>
            <a:off x="0" y="4937760"/>
            <a:ext cx="9144000" cy="205740"/>
          </a:xfrm>
          <a:prstGeom prst="rect">
            <a:avLst/>
          </a:prstGeom>
          <a:solidFill>
            <a:srgbClr val="00E5FF"/>
          </a:solidFill>
          <a:ln w="12700">
            <a:solidFill>
              <a:srgbClr val="00E5FF"/>
            </a:solidFill>
            <a:prstDash val="solid"/>
          </a:ln>
        </p:spPr>
      </p:sp>
      <p:sp>
        <p:nvSpPr>
          <p:cNvPr id="9" name="Text 6"/>
          <p:cNvSpPr/>
          <p:nvPr/>
        </p:nvSpPr>
        <p:spPr>
          <a:xfrm>
            <a:off x="457200" y="4956048"/>
            <a:ext cx="8229600" cy="164592"/>
          </a:xfrm>
          <a:prstGeom prst="rect">
            <a:avLst/>
          </a:prstGeom>
          <a:noFill/>
          <a:ln/>
        </p:spPr>
        <p:txBody>
          <a:bodyPr wrap="square" lIns="0" tIns="0" rIns="0" bIns="0" rtlCol="0" anchor="ctr"/>
          <a:lstStyle/>
          <a:p>
            <a:pPr indent="0" marL="0">
              <a:buNone/>
            </a:pPr>
            <a:r>
              <a:rPr lang="en-US" sz="850" b="1" dirty="0">
                <a:solidFill>
                  <a:srgbClr val="0B0E1A"/>
                </a:solidFill>
              </a:rPr>
              <a:t>Delta Electronics  |  TMSBU  |  Confidential  |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0E5FF"/>
          </a:solidFill>
          <a:ln w="12700">
            <a:solidFill>
              <a:srgbClr val="00E5FF"/>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02</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Executive Summary</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液冷是商業模式轉型，不是產品升級</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96112"/>
            <a:ext cx="2651760" cy="1417320"/>
          </a:xfrm>
          <a:prstGeom prst="rect">
            <a:avLst/>
          </a:prstGeom>
          <a:solidFill>
            <a:srgbClr val="111827"/>
          </a:solidFill>
          <a:ln w="19050">
            <a:solidFill>
              <a:srgbClr val="00E5FF"/>
            </a:solidFill>
            <a:prstDash val="solid"/>
          </a:ln>
          <a:effectLst>
            <a:outerShdw sx="100000" sy="100000" kx="0" ky="0" algn="bl" rotWithShape="0" blurRad="76200" dist="25400" dir="8100000">
              <a:srgbClr val="000000">
                <a:alpha val="30000"/>
              </a:srgbClr>
            </a:outerShdw>
          </a:effectLst>
        </p:spPr>
      </p:sp>
      <p:sp>
        <p:nvSpPr>
          <p:cNvPr id="8" name="Shape 6"/>
          <p:cNvSpPr/>
          <p:nvPr/>
        </p:nvSpPr>
        <p:spPr>
          <a:xfrm>
            <a:off x="365760" y="896112"/>
            <a:ext cx="2651760" cy="54864"/>
          </a:xfrm>
          <a:prstGeom prst="rect">
            <a:avLst/>
          </a:prstGeom>
          <a:solidFill>
            <a:srgbClr val="00E5FF"/>
          </a:solidFill>
          <a:ln/>
        </p:spPr>
      </p:sp>
      <p:sp>
        <p:nvSpPr>
          <p:cNvPr id="9" name="Text 7"/>
          <p:cNvSpPr/>
          <p:nvPr/>
        </p:nvSpPr>
        <p:spPr>
          <a:xfrm>
            <a:off x="475488" y="987552"/>
            <a:ext cx="1005840" cy="201168"/>
          </a:xfrm>
          <a:prstGeom prst="rect">
            <a:avLst/>
          </a:prstGeom>
          <a:solidFill>
            <a:srgbClr val="00E5FF"/>
          </a:solidFill>
          <a:ln/>
        </p:spPr>
        <p:txBody>
          <a:bodyPr wrap="square" lIns="0" tIns="0" rIns="0" bIns="0" rtlCol="0" anchor="ctr"/>
          <a:lstStyle/>
          <a:p>
            <a:pPr algn="ctr" indent="0" marL="0">
              <a:buNone/>
            </a:pPr>
            <a:r>
              <a:rPr lang="en-US" sz="700" b="1" dirty="0">
                <a:solidFill>
                  <a:srgbClr val="0B0E1A"/>
                </a:solidFill>
              </a:rPr>
              <a:t>TREND</a:t>
            </a:r>
            <a:endParaRPr lang="en-US" sz="700" dirty="0"/>
          </a:p>
        </p:txBody>
      </p:sp>
      <p:sp>
        <p:nvSpPr>
          <p:cNvPr id="10" name="Text 8"/>
          <p:cNvSpPr/>
          <p:nvPr/>
        </p:nvSpPr>
        <p:spPr>
          <a:xfrm>
            <a:off x="2514600" y="969264"/>
            <a:ext cx="457200" cy="256032"/>
          </a:xfrm>
          <a:prstGeom prst="rect">
            <a:avLst/>
          </a:prstGeom>
          <a:noFill/>
          <a:ln/>
        </p:spPr>
        <p:txBody>
          <a:bodyPr wrap="square" lIns="0" tIns="0" rIns="0" bIns="0" rtlCol="0" anchor="ctr"/>
          <a:lstStyle/>
          <a:p>
            <a:pPr algn="r" indent="0" marL="0">
              <a:buNone/>
            </a:pPr>
            <a:r>
              <a:rPr lang="en-US" sz="1100" b="1" dirty="0">
                <a:solidFill>
                  <a:srgbClr val="00E5FF"/>
                </a:solidFill>
              </a:rPr>
              <a:t>01</a:t>
            </a:r>
            <a:endParaRPr lang="en-US" sz="1100" dirty="0"/>
          </a:p>
        </p:txBody>
      </p:sp>
      <p:sp>
        <p:nvSpPr>
          <p:cNvPr id="11" name="Text 9"/>
          <p:cNvSpPr/>
          <p:nvPr/>
        </p:nvSpPr>
        <p:spPr>
          <a:xfrm>
            <a:off x="365760" y="1216152"/>
            <a:ext cx="2651760" cy="475488"/>
          </a:xfrm>
          <a:prstGeom prst="rect">
            <a:avLst/>
          </a:prstGeom>
          <a:noFill/>
          <a:ln/>
        </p:spPr>
        <p:txBody>
          <a:bodyPr wrap="square" lIns="0" tIns="0" rIns="0" bIns="0" rtlCol="0" anchor="ctr"/>
          <a:lstStyle/>
          <a:p>
            <a:pPr algn="ctr" indent="0" marL="0">
              <a:buNone/>
            </a:pPr>
            <a:r>
              <a:rPr lang="en-US" sz="2800" b="1" dirty="0">
                <a:solidFill>
                  <a:srgbClr val="00E5FF"/>
                </a:solidFill>
              </a:rPr>
              <a:t>1,400W</a:t>
            </a:r>
            <a:pPr algn="ctr" indent="0" marL="0">
              <a:buNone/>
            </a:pPr>
            <a:r>
              <a:rPr lang="en-US" sz="1000" dirty="0">
                <a:solidFill>
                  <a:srgbClr val="FFFFFF"/>
                </a:solidFill>
              </a:rPr>
              <a:t>GPU TDP by 2027+</a:t>
            </a:r>
            <a:endParaRPr lang="en-US" sz="2800" dirty="0"/>
          </a:p>
        </p:txBody>
      </p:sp>
      <p:sp>
        <p:nvSpPr>
          <p:cNvPr id="12" name="Text 10"/>
          <p:cNvSpPr/>
          <p:nvPr/>
        </p:nvSpPr>
        <p:spPr>
          <a:xfrm>
            <a:off x="475488" y="1700784"/>
            <a:ext cx="2432304" cy="256032"/>
          </a:xfrm>
          <a:prstGeom prst="rect">
            <a:avLst/>
          </a:prstGeom>
          <a:noFill/>
          <a:ln/>
        </p:spPr>
        <p:txBody>
          <a:bodyPr wrap="square" lIns="0" tIns="0" rIns="0" bIns="0" rtlCol="0" anchor="ctr"/>
          <a:lstStyle/>
          <a:p>
            <a:pPr indent="0" marL="0">
              <a:buNone/>
            </a:pPr>
            <a:r>
              <a:rPr lang="en-US" sz="1000" b="1" dirty="0">
                <a:solidFill>
                  <a:srgbClr val="FFFFFF"/>
                </a:solidFill>
              </a:rPr>
              <a:t>GPU Power Exceeds Air Cooling</a:t>
            </a:r>
            <a:endParaRPr lang="en-US" sz="1000" dirty="0"/>
          </a:p>
        </p:txBody>
      </p:sp>
      <p:sp>
        <p:nvSpPr>
          <p:cNvPr id="13" name="Text 11"/>
          <p:cNvSpPr/>
          <p:nvPr/>
        </p:nvSpPr>
        <p:spPr>
          <a:xfrm>
            <a:off x="475488" y="1938528"/>
            <a:ext cx="2432304" cy="256032"/>
          </a:xfrm>
          <a:prstGeom prst="rect">
            <a:avLst/>
          </a:prstGeom>
          <a:noFill/>
          <a:ln/>
        </p:spPr>
        <p:txBody>
          <a:bodyPr wrap="square" lIns="0" tIns="0" rIns="0" bIns="0" rtlCol="0" anchor="ctr"/>
          <a:lstStyle/>
          <a:p>
            <a:pPr indent="0" marL="0">
              <a:buNone/>
            </a:pPr>
            <a:r>
              <a:rPr lang="en-US" sz="800" dirty="0">
                <a:solidFill>
                  <a:srgbClr val="9CA3AF"/>
                </a:solidFill>
              </a:rPr>
              <a:t>GPU TDP by 2027+</a:t>
            </a:r>
            <a:endParaRPr lang="en-US" sz="800" dirty="0"/>
          </a:p>
        </p:txBody>
      </p:sp>
      <p:sp>
        <p:nvSpPr>
          <p:cNvPr id="14" name="Shape 12"/>
          <p:cNvSpPr/>
          <p:nvPr/>
        </p:nvSpPr>
        <p:spPr>
          <a:xfrm>
            <a:off x="3246120" y="896112"/>
            <a:ext cx="2651760" cy="1417320"/>
          </a:xfrm>
          <a:prstGeom prst="rect">
            <a:avLst/>
          </a:prstGeom>
          <a:solidFill>
            <a:srgbClr val="111827"/>
          </a:solidFill>
          <a:ln w="19050">
            <a:solidFill>
              <a:srgbClr val="4FC3F7"/>
            </a:solidFill>
            <a:prstDash val="solid"/>
          </a:ln>
          <a:effectLst>
            <a:outerShdw sx="100000" sy="100000" kx="0" ky="0" algn="bl" rotWithShape="0" blurRad="76200" dist="25400" dir="8100000">
              <a:srgbClr val="000000">
                <a:alpha val="30000"/>
              </a:srgbClr>
            </a:outerShdw>
          </a:effectLst>
        </p:spPr>
      </p:sp>
      <p:sp>
        <p:nvSpPr>
          <p:cNvPr id="15" name="Shape 13"/>
          <p:cNvSpPr/>
          <p:nvPr/>
        </p:nvSpPr>
        <p:spPr>
          <a:xfrm>
            <a:off x="3246120" y="896112"/>
            <a:ext cx="2651760" cy="54864"/>
          </a:xfrm>
          <a:prstGeom prst="rect">
            <a:avLst/>
          </a:prstGeom>
          <a:solidFill>
            <a:srgbClr val="4FC3F7"/>
          </a:solidFill>
          <a:ln/>
        </p:spPr>
      </p:sp>
      <p:sp>
        <p:nvSpPr>
          <p:cNvPr id="16" name="Text 14"/>
          <p:cNvSpPr/>
          <p:nvPr/>
        </p:nvSpPr>
        <p:spPr>
          <a:xfrm>
            <a:off x="3355848" y="987552"/>
            <a:ext cx="1005840" cy="201168"/>
          </a:xfrm>
          <a:prstGeom prst="rect">
            <a:avLst/>
          </a:prstGeom>
          <a:solidFill>
            <a:srgbClr val="4FC3F7"/>
          </a:solidFill>
          <a:ln/>
        </p:spPr>
        <p:txBody>
          <a:bodyPr wrap="square" lIns="0" tIns="0" rIns="0" bIns="0" rtlCol="0" anchor="ctr"/>
          <a:lstStyle/>
          <a:p>
            <a:pPr algn="ctr" indent="0" marL="0">
              <a:buNone/>
            </a:pPr>
            <a:r>
              <a:rPr lang="en-US" sz="700" b="1" dirty="0">
                <a:solidFill>
                  <a:srgbClr val="0B0E1A"/>
                </a:solidFill>
              </a:rPr>
              <a:t>MARKET</a:t>
            </a:r>
            <a:endParaRPr lang="en-US" sz="700" dirty="0"/>
          </a:p>
        </p:txBody>
      </p:sp>
      <p:sp>
        <p:nvSpPr>
          <p:cNvPr id="17" name="Text 15"/>
          <p:cNvSpPr/>
          <p:nvPr/>
        </p:nvSpPr>
        <p:spPr>
          <a:xfrm>
            <a:off x="5394960" y="969264"/>
            <a:ext cx="457200" cy="256032"/>
          </a:xfrm>
          <a:prstGeom prst="rect">
            <a:avLst/>
          </a:prstGeom>
          <a:noFill/>
          <a:ln/>
        </p:spPr>
        <p:txBody>
          <a:bodyPr wrap="square" lIns="0" tIns="0" rIns="0" bIns="0" rtlCol="0" anchor="ctr"/>
          <a:lstStyle/>
          <a:p>
            <a:pPr algn="r" indent="0" marL="0">
              <a:buNone/>
            </a:pPr>
            <a:r>
              <a:rPr lang="en-US" sz="1100" b="1" dirty="0">
                <a:solidFill>
                  <a:srgbClr val="4FC3F7"/>
                </a:solidFill>
              </a:rPr>
              <a:t>02</a:t>
            </a:r>
            <a:endParaRPr lang="en-US" sz="1100" dirty="0"/>
          </a:p>
        </p:txBody>
      </p:sp>
      <p:sp>
        <p:nvSpPr>
          <p:cNvPr id="18" name="Text 16"/>
          <p:cNvSpPr/>
          <p:nvPr/>
        </p:nvSpPr>
        <p:spPr>
          <a:xfrm>
            <a:off x="3246120" y="1216152"/>
            <a:ext cx="2651760" cy="475488"/>
          </a:xfrm>
          <a:prstGeom prst="rect">
            <a:avLst/>
          </a:prstGeom>
          <a:noFill/>
          <a:ln/>
        </p:spPr>
        <p:txBody>
          <a:bodyPr wrap="square" lIns="0" tIns="0" rIns="0" bIns="0" rtlCol="0" anchor="ctr"/>
          <a:lstStyle/>
          <a:p>
            <a:pPr algn="ctr" indent="0" marL="0">
              <a:buNone/>
            </a:pPr>
            <a:r>
              <a:rPr lang="en-US" sz="2800" b="1" dirty="0">
                <a:solidFill>
                  <a:srgbClr val="4FC3F7"/>
                </a:solidFill>
              </a:rPr>
              <a:t>60%+</a:t>
            </a:r>
            <a:pPr algn="ctr" indent="0" marL="0">
              <a:buNone/>
            </a:pPr>
            <a:r>
              <a:rPr lang="en-US" sz="1000" dirty="0">
                <a:solidFill>
                  <a:srgbClr val="FFFFFF"/>
                </a:solidFill>
              </a:rPr>
              <a:t>new AI DC by 2026</a:t>
            </a:r>
            <a:endParaRPr lang="en-US" sz="2800" dirty="0"/>
          </a:p>
        </p:txBody>
      </p:sp>
      <p:sp>
        <p:nvSpPr>
          <p:cNvPr id="19" name="Text 17"/>
          <p:cNvSpPr/>
          <p:nvPr/>
        </p:nvSpPr>
        <p:spPr>
          <a:xfrm>
            <a:off x="3355848" y="1700784"/>
            <a:ext cx="2432304" cy="256032"/>
          </a:xfrm>
          <a:prstGeom prst="rect">
            <a:avLst/>
          </a:prstGeom>
          <a:noFill/>
          <a:ln/>
        </p:spPr>
        <p:txBody>
          <a:bodyPr wrap="square" lIns="0" tIns="0" rIns="0" bIns="0" rtlCol="0" anchor="ctr"/>
          <a:lstStyle/>
          <a:p>
            <a:pPr indent="0" marL="0">
              <a:buNone/>
            </a:pPr>
            <a:r>
              <a:rPr lang="en-US" sz="1000" b="1" dirty="0">
                <a:solidFill>
                  <a:srgbClr val="FFFFFF"/>
                </a:solidFill>
              </a:rPr>
              <a:t>Liquid Cooling Is Standard</a:t>
            </a:r>
            <a:endParaRPr lang="en-US" sz="1000" dirty="0"/>
          </a:p>
        </p:txBody>
      </p:sp>
      <p:sp>
        <p:nvSpPr>
          <p:cNvPr id="20" name="Text 18"/>
          <p:cNvSpPr/>
          <p:nvPr/>
        </p:nvSpPr>
        <p:spPr>
          <a:xfrm>
            <a:off x="3355848" y="1938528"/>
            <a:ext cx="2432304" cy="256032"/>
          </a:xfrm>
          <a:prstGeom prst="rect">
            <a:avLst/>
          </a:prstGeom>
          <a:noFill/>
          <a:ln/>
        </p:spPr>
        <p:txBody>
          <a:bodyPr wrap="square" lIns="0" tIns="0" rIns="0" bIns="0" rtlCol="0" anchor="ctr"/>
          <a:lstStyle/>
          <a:p>
            <a:pPr indent="0" marL="0">
              <a:buNone/>
            </a:pPr>
            <a:r>
              <a:rPr lang="en-US" sz="800" dirty="0">
                <a:solidFill>
                  <a:srgbClr val="9CA3AF"/>
                </a:solidFill>
              </a:rPr>
              <a:t>new AI DC by 2026</a:t>
            </a:r>
            <a:endParaRPr lang="en-US" sz="800" dirty="0"/>
          </a:p>
        </p:txBody>
      </p:sp>
      <p:sp>
        <p:nvSpPr>
          <p:cNvPr id="21" name="Shape 19"/>
          <p:cNvSpPr/>
          <p:nvPr/>
        </p:nvSpPr>
        <p:spPr>
          <a:xfrm>
            <a:off x="6126480" y="896112"/>
            <a:ext cx="2651760" cy="1417320"/>
          </a:xfrm>
          <a:prstGeom prst="rect">
            <a:avLst/>
          </a:prstGeom>
          <a:solidFill>
            <a:srgbClr val="111827"/>
          </a:solidFill>
          <a:ln w="19050">
            <a:solidFill>
              <a:srgbClr val="00E676"/>
            </a:solidFill>
            <a:prstDash val="solid"/>
          </a:ln>
          <a:effectLst>
            <a:outerShdw sx="100000" sy="100000" kx="0" ky="0" algn="bl" rotWithShape="0" blurRad="76200" dist="25400" dir="8100000">
              <a:srgbClr val="000000">
                <a:alpha val="30000"/>
              </a:srgbClr>
            </a:outerShdw>
          </a:effectLst>
        </p:spPr>
      </p:sp>
      <p:sp>
        <p:nvSpPr>
          <p:cNvPr id="22" name="Shape 20"/>
          <p:cNvSpPr/>
          <p:nvPr/>
        </p:nvSpPr>
        <p:spPr>
          <a:xfrm>
            <a:off x="6126480" y="896112"/>
            <a:ext cx="2651760" cy="54864"/>
          </a:xfrm>
          <a:prstGeom prst="rect">
            <a:avLst/>
          </a:prstGeom>
          <a:solidFill>
            <a:srgbClr val="00E676"/>
          </a:solidFill>
          <a:ln/>
        </p:spPr>
      </p:sp>
      <p:sp>
        <p:nvSpPr>
          <p:cNvPr id="23" name="Text 21"/>
          <p:cNvSpPr/>
          <p:nvPr/>
        </p:nvSpPr>
        <p:spPr>
          <a:xfrm>
            <a:off x="6236208" y="987552"/>
            <a:ext cx="1005840" cy="201168"/>
          </a:xfrm>
          <a:prstGeom prst="rect">
            <a:avLst/>
          </a:prstGeom>
          <a:solidFill>
            <a:srgbClr val="00E676"/>
          </a:solidFill>
          <a:ln/>
        </p:spPr>
        <p:txBody>
          <a:bodyPr wrap="square" lIns="0" tIns="0" rIns="0" bIns="0" rtlCol="0" anchor="ctr"/>
          <a:lstStyle/>
          <a:p>
            <a:pPr algn="ctr" indent="0" marL="0">
              <a:buNone/>
            </a:pPr>
            <a:r>
              <a:rPr lang="en-US" sz="700" b="1" dirty="0">
                <a:solidFill>
                  <a:srgbClr val="0B0E1A"/>
                </a:solidFill>
              </a:rPr>
              <a:t>HYBRID</a:t>
            </a:r>
            <a:endParaRPr lang="en-US" sz="700" dirty="0"/>
          </a:p>
        </p:txBody>
      </p:sp>
      <p:sp>
        <p:nvSpPr>
          <p:cNvPr id="24" name="Text 22"/>
          <p:cNvSpPr/>
          <p:nvPr/>
        </p:nvSpPr>
        <p:spPr>
          <a:xfrm>
            <a:off x="8275320" y="969264"/>
            <a:ext cx="457200" cy="256032"/>
          </a:xfrm>
          <a:prstGeom prst="rect">
            <a:avLst/>
          </a:prstGeom>
          <a:noFill/>
          <a:ln/>
        </p:spPr>
        <p:txBody>
          <a:bodyPr wrap="square" lIns="0" tIns="0" rIns="0" bIns="0" rtlCol="0" anchor="ctr"/>
          <a:lstStyle/>
          <a:p>
            <a:pPr algn="r" indent="0" marL="0">
              <a:buNone/>
            </a:pPr>
            <a:r>
              <a:rPr lang="en-US" sz="1100" b="1" dirty="0">
                <a:solidFill>
                  <a:srgbClr val="00E676"/>
                </a:solidFill>
              </a:rPr>
              <a:t>03</a:t>
            </a:r>
            <a:endParaRPr lang="en-US" sz="1100" dirty="0"/>
          </a:p>
        </p:txBody>
      </p:sp>
      <p:sp>
        <p:nvSpPr>
          <p:cNvPr id="25" name="Text 23"/>
          <p:cNvSpPr/>
          <p:nvPr/>
        </p:nvSpPr>
        <p:spPr>
          <a:xfrm>
            <a:off x="6126480" y="1216152"/>
            <a:ext cx="2651760" cy="475488"/>
          </a:xfrm>
          <a:prstGeom prst="rect">
            <a:avLst/>
          </a:prstGeom>
          <a:noFill/>
          <a:ln/>
        </p:spPr>
        <p:txBody>
          <a:bodyPr wrap="square" lIns="0" tIns="0" rIns="0" bIns="0" rtlCol="0" anchor="ctr"/>
          <a:lstStyle/>
          <a:p>
            <a:pPr algn="ctr" indent="0" marL="0">
              <a:buNone/>
            </a:pPr>
            <a:r>
              <a:rPr lang="en-US" sz="2800" b="1" dirty="0">
                <a:solidFill>
                  <a:srgbClr val="00E676"/>
                </a:solidFill>
              </a:rPr>
              <a:t>BOTH</a:t>
            </a:r>
            <a:pPr algn="ctr" indent="0" marL="0">
              <a:buNone/>
            </a:pPr>
            <a:r>
              <a:rPr lang="en-US" sz="1000" dirty="0">
                <a:solidFill>
                  <a:srgbClr val="FFFFFF"/>
                </a:solidFill>
              </a:rPr>
              <a:t>，TMSBU 兩者皆受益</a:t>
            </a:r>
            <a:endParaRPr lang="en-US" sz="2800" dirty="0"/>
          </a:p>
        </p:txBody>
      </p:sp>
      <p:sp>
        <p:nvSpPr>
          <p:cNvPr id="26" name="Text 24"/>
          <p:cNvSpPr/>
          <p:nvPr/>
        </p:nvSpPr>
        <p:spPr>
          <a:xfrm>
            <a:off x="6236208" y="1700784"/>
            <a:ext cx="2432304" cy="256032"/>
          </a:xfrm>
          <a:prstGeom prst="rect">
            <a:avLst/>
          </a:prstGeom>
          <a:noFill/>
          <a:ln/>
        </p:spPr>
        <p:txBody>
          <a:bodyPr wrap="square" lIns="0" tIns="0" rIns="0" bIns="0" rtlCol="0" anchor="ctr"/>
          <a:lstStyle/>
          <a:p>
            <a:pPr indent="0" marL="0">
              <a:buNone/>
            </a:pPr>
            <a:r>
              <a:rPr lang="en-US" sz="1000" b="1" dirty="0">
                <a:solidFill>
                  <a:srgbClr val="FFFFFF"/>
                </a:solidFill>
              </a:rPr>
              <a:t>Air + Liquid Coexist</a:t>
            </a:r>
            <a:endParaRPr lang="en-US" sz="1000" dirty="0"/>
          </a:p>
        </p:txBody>
      </p:sp>
      <p:sp>
        <p:nvSpPr>
          <p:cNvPr id="27" name="Text 25"/>
          <p:cNvSpPr/>
          <p:nvPr/>
        </p:nvSpPr>
        <p:spPr>
          <a:xfrm>
            <a:off x="6236208" y="1938528"/>
            <a:ext cx="2432304" cy="256032"/>
          </a:xfrm>
          <a:prstGeom prst="rect">
            <a:avLst/>
          </a:prstGeom>
          <a:noFill/>
          <a:ln/>
        </p:spPr>
        <p:txBody>
          <a:bodyPr wrap="square" lIns="0" tIns="0" rIns="0" bIns="0" rtlCol="0" anchor="ctr"/>
          <a:lstStyle/>
          <a:p>
            <a:pPr indent="0" marL="0">
              <a:buNone/>
            </a:pPr>
            <a:r>
              <a:rPr lang="en-US" sz="800" dirty="0">
                <a:solidFill>
                  <a:srgbClr val="9CA3AF"/>
                </a:solidFill>
              </a:rPr>
              <a:t>，TMSBU 兩者皆受益</a:t>
            </a:r>
            <a:endParaRPr lang="en-US" sz="800" dirty="0"/>
          </a:p>
        </p:txBody>
      </p:sp>
      <p:sp>
        <p:nvSpPr>
          <p:cNvPr id="28" name="Shape 26"/>
          <p:cNvSpPr/>
          <p:nvPr/>
        </p:nvSpPr>
        <p:spPr>
          <a:xfrm>
            <a:off x="1737360" y="2450592"/>
            <a:ext cx="2834640" cy="1417320"/>
          </a:xfrm>
          <a:prstGeom prst="rect">
            <a:avLst/>
          </a:prstGeom>
          <a:solidFill>
            <a:srgbClr val="111827"/>
          </a:solidFill>
          <a:ln w="19050">
            <a:solidFill>
              <a:srgbClr val="F59E0B"/>
            </a:solidFill>
            <a:prstDash val="solid"/>
          </a:ln>
          <a:effectLst>
            <a:outerShdw sx="100000" sy="100000" kx="0" ky="0" algn="bl" rotWithShape="0" blurRad="76200" dist="25400" dir="8100000">
              <a:srgbClr val="000000">
                <a:alpha val="30000"/>
              </a:srgbClr>
            </a:outerShdw>
          </a:effectLst>
        </p:spPr>
      </p:sp>
      <p:sp>
        <p:nvSpPr>
          <p:cNvPr id="29" name="Shape 27"/>
          <p:cNvSpPr/>
          <p:nvPr/>
        </p:nvSpPr>
        <p:spPr>
          <a:xfrm>
            <a:off x="1737360" y="2450592"/>
            <a:ext cx="2834640" cy="54864"/>
          </a:xfrm>
          <a:prstGeom prst="rect">
            <a:avLst/>
          </a:prstGeom>
          <a:solidFill>
            <a:srgbClr val="F59E0B"/>
          </a:solidFill>
          <a:ln/>
        </p:spPr>
      </p:sp>
      <p:sp>
        <p:nvSpPr>
          <p:cNvPr id="30" name="Text 28"/>
          <p:cNvSpPr/>
          <p:nvPr/>
        </p:nvSpPr>
        <p:spPr>
          <a:xfrm>
            <a:off x="1847088" y="2542032"/>
            <a:ext cx="1005840" cy="201168"/>
          </a:xfrm>
          <a:prstGeom prst="rect">
            <a:avLst/>
          </a:prstGeom>
          <a:solidFill>
            <a:srgbClr val="F59E0B"/>
          </a:solidFill>
          <a:ln/>
        </p:spPr>
        <p:txBody>
          <a:bodyPr wrap="square" lIns="0" tIns="0" rIns="0" bIns="0" rtlCol="0" anchor="ctr"/>
          <a:lstStyle/>
          <a:p>
            <a:pPr algn="ctr" indent="0" marL="0">
              <a:buNone/>
            </a:pPr>
            <a:r>
              <a:rPr lang="en-US" sz="700" b="1" dirty="0">
                <a:solidFill>
                  <a:srgbClr val="0B0E1A"/>
                </a:solidFill>
              </a:rPr>
              <a:t>OPPORTUNITY</a:t>
            </a:r>
            <a:endParaRPr lang="en-US" sz="700" dirty="0"/>
          </a:p>
        </p:txBody>
      </p:sp>
      <p:sp>
        <p:nvSpPr>
          <p:cNvPr id="31" name="Text 29"/>
          <p:cNvSpPr/>
          <p:nvPr/>
        </p:nvSpPr>
        <p:spPr>
          <a:xfrm>
            <a:off x="4069080" y="2523744"/>
            <a:ext cx="457200" cy="256032"/>
          </a:xfrm>
          <a:prstGeom prst="rect">
            <a:avLst/>
          </a:prstGeom>
          <a:noFill/>
          <a:ln/>
        </p:spPr>
        <p:txBody>
          <a:bodyPr wrap="square" lIns="0" tIns="0" rIns="0" bIns="0" rtlCol="0" anchor="ctr"/>
          <a:lstStyle/>
          <a:p>
            <a:pPr algn="r" indent="0" marL="0">
              <a:buNone/>
            </a:pPr>
            <a:r>
              <a:rPr lang="en-US" sz="1100" b="1" dirty="0">
                <a:solidFill>
                  <a:srgbClr val="F59E0B"/>
                </a:solidFill>
              </a:rPr>
              <a:t>04</a:t>
            </a:r>
            <a:endParaRPr lang="en-US" sz="1100" dirty="0"/>
          </a:p>
        </p:txBody>
      </p:sp>
      <p:sp>
        <p:nvSpPr>
          <p:cNvPr id="32" name="Text 30"/>
          <p:cNvSpPr/>
          <p:nvPr/>
        </p:nvSpPr>
        <p:spPr>
          <a:xfrm>
            <a:off x="1737360" y="2770632"/>
            <a:ext cx="2834640" cy="475488"/>
          </a:xfrm>
          <a:prstGeom prst="rect">
            <a:avLst/>
          </a:prstGeom>
          <a:noFill/>
          <a:ln/>
        </p:spPr>
        <p:txBody>
          <a:bodyPr wrap="square" lIns="0" tIns="0" rIns="0" bIns="0" rtlCol="0" anchor="ctr"/>
          <a:lstStyle/>
          <a:p>
            <a:pPr algn="ctr" indent="0" marL="0">
              <a:buNone/>
            </a:pPr>
            <a:r>
              <a:rPr lang="en-US" sz="2800" b="1" dirty="0">
                <a:solidFill>
                  <a:srgbClr val="F59E0B"/>
                </a:solidFill>
              </a:rPr>
              <a:t>$1.8B</a:t>
            </a:r>
            <a:pPr algn="ctr" indent="0" marL="0">
              <a:buNone/>
            </a:pPr>
            <a:r>
              <a:rPr lang="en-US" sz="1000" dirty="0">
                <a:solidFill>
                  <a:srgbClr val="FFFFFF"/>
                </a:solidFill>
              </a:rPr>
              <a:t>SOM addressable (assumptions apply)</a:t>
            </a:r>
            <a:endParaRPr lang="en-US" sz="2800" dirty="0"/>
          </a:p>
        </p:txBody>
      </p:sp>
      <p:sp>
        <p:nvSpPr>
          <p:cNvPr id="33" name="Text 31"/>
          <p:cNvSpPr/>
          <p:nvPr/>
        </p:nvSpPr>
        <p:spPr>
          <a:xfrm>
            <a:off x="1847088" y="3255264"/>
            <a:ext cx="2615184" cy="256032"/>
          </a:xfrm>
          <a:prstGeom prst="rect">
            <a:avLst/>
          </a:prstGeom>
          <a:noFill/>
          <a:ln/>
        </p:spPr>
        <p:txBody>
          <a:bodyPr wrap="square" lIns="0" tIns="0" rIns="0" bIns="0" rtlCol="0" anchor="ctr"/>
          <a:lstStyle/>
          <a:p>
            <a:pPr indent="0" marL="0">
              <a:buNone/>
            </a:pPr>
            <a:r>
              <a:rPr lang="en-US" sz="1000" b="1" dirty="0">
                <a:solidFill>
                  <a:srgbClr val="FFFFFF"/>
                </a:solidFill>
              </a:rPr>
              <a:t>TMSBU: Component → System Solution</a:t>
            </a:r>
            <a:endParaRPr lang="en-US" sz="1000" dirty="0"/>
          </a:p>
        </p:txBody>
      </p:sp>
      <p:sp>
        <p:nvSpPr>
          <p:cNvPr id="34" name="Text 32"/>
          <p:cNvSpPr/>
          <p:nvPr/>
        </p:nvSpPr>
        <p:spPr>
          <a:xfrm>
            <a:off x="1847088" y="3493008"/>
            <a:ext cx="2615184" cy="256032"/>
          </a:xfrm>
          <a:prstGeom prst="rect">
            <a:avLst/>
          </a:prstGeom>
          <a:noFill/>
          <a:ln/>
        </p:spPr>
        <p:txBody>
          <a:bodyPr wrap="square" lIns="0" tIns="0" rIns="0" bIns="0" rtlCol="0" anchor="ctr"/>
          <a:lstStyle/>
          <a:p>
            <a:pPr indent="0" marL="0">
              <a:buNone/>
            </a:pPr>
            <a:r>
              <a:rPr lang="en-US" sz="800" dirty="0">
                <a:solidFill>
                  <a:srgbClr val="9CA3AF"/>
                </a:solidFill>
              </a:rPr>
              <a:t>SOM addressable (assumptions apply)</a:t>
            </a:r>
            <a:endParaRPr lang="en-US" sz="800" dirty="0"/>
          </a:p>
        </p:txBody>
      </p:sp>
      <p:sp>
        <p:nvSpPr>
          <p:cNvPr id="35" name="Shape 33"/>
          <p:cNvSpPr/>
          <p:nvPr/>
        </p:nvSpPr>
        <p:spPr>
          <a:xfrm>
            <a:off x="4754880" y="2450592"/>
            <a:ext cx="2834640" cy="1417320"/>
          </a:xfrm>
          <a:prstGeom prst="rect">
            <a:avLst/>
          </a:prstGeom>
          <a:solidFill>
            <a:srgbClr val="111827"/>
          </a:solidFill>
          <a:ln w="19050">
            <a:solidFill>
              <a:srgbClr val="A855F7"/>
            </a:solidFill>
            <a:prstDash val="solid"/>
          </a:ln>
          <a:effectLst>
            <a:outerShdw sx="100000" sy="100000" kx="0" ky="0" algn="bl" rotWithShape="0" blurRad="76200" dist="25400" dir="8100000">
              <a:srgbClr val="000000">
                <a:alpha val="30000"/>
              </a:srgbClr>
            </a:outerShdw>
          </a:effectLst>
        </p:spPr>
      </p:sp>
      <p:sp>
        <p:nvSpPr>
          <p:cNvPr id="36" name="Shape 34"/>
          <p:cNvSpPr/>
          <p:nvPr/>
        </p:nvSpPr>
        <p:spPr>
          <a:xfrm>
            <a:off x="4754880" y="2450592"/>
            <a:ext cx="2834640" cy="54864"/>
          </a:xfrm>
          <a:prstGeom prst="rect">
            <a:avLst/>
          </a:prstGeom>
          <a:solidFill>
            <a:srgbClr val="A855F7"/>
          </a:solidFill>
          <a:ln/>
        </p:spPr>
      </p:sp>
      <p:sp>
        <p:nvSpPr>
          <p:cNvPr id="37" name="Text 35"/>
          <p:cNvSpPr/>
          <p:nvPr/>
        </p:nvSpPr>
        <p:spPr>
          <a:xfrm>
            <a:off x="4864608" y="2542032"/>
            <a:ext cx="1005840" cy="201168"/>
          </a:xfrm>
          <a:prstGeom prst="rect">
            <a:avLst/>
          </a:prstGeom>
          <a:solidFill>
            <a:srgbClr val="A855F7"/>
          </a:solidFill>
          <a:ln/>
        </p:spPr>
        <p:txBody>
          <a:bodyPr wrap="square" lIns="0" tIns="0" rIns="0" bIns="0" rtlCol="0" anchor="ctr"/>
          <a:lstStyle/>
          <a:p>
            <a:pPr algn="ctr" indent="0" marL="0">
              <a:buNone/>
            </a:pPr>
            <a:r>
              <a:rPr lang="en-US" sz="700" b="1" dirty="0">
                <a:solidFill>
                  <a:srgbClr val="0B0E1A"/>
                </a:solidFill>
              </a:rPr>
              <a:t>ACTION</a:t>
            </a:r>
            <a:endParaRPr lang="en-US" sz="700" dirty="0"/>
          </a:p>
        </p:txBody>
      </p:sp>
      <p:sp>
        <p:nvSpPr>
          <p:cNvPr id="38" name="Text 36"/>
          <p:cNvSpPr/>
          <p:nvPr/>
        </p:nvSpPr>
        <p:spPr>
          <a:xfrm>
            <a:off x="7086600" y="2523744"/>
            <a:ext cx="457200" cy="256032"/>
          </a:xfrm>
          <a:prstGeom prst="rect">
            <a:avLst/>
          </a:prstGeom>
          <a:noFill/>
          <a:ln/>
        </p:spPr>
        <p:txBody>
          <a:bodyPr wrap="square" lIns="0" tIns="0" rIns="0" bIns="0" rtlCol="0" anchor="ctr"/>
          <a:lstStyle/>
          <a:p>
            <a:pPr algn="r" indent="0" marL="0">
              <a:buNone/>
            </a:pPr>
            <a:r>
              <a:rPr lang="en-US" sz="1100" b="1" dirty="0">
                <a:solidFill>
                  <a:srgbClr val="A855F7"/>
                </a:solidFill>
              </a:rPr>
              <a:t>05</a:t>
            </a:r>
            <a:endParaRPr lang="en-US" sz="1100" dirty="0"/>
          </a:p>
        </p:txBody>
      </p:sp>
      <p:sp>
        <p:nvSpPr>
          <p:cNvPr id="39" name="Text 37"/>
          <p:cNvSpPr/>
          <p:nvPr/>
        </p:nvSpPr>
        <p:spPr>
          <a:xfrm>
            <a:off x="4754880" y="2770632"/>
            <a:ext cx="2834640" cy="475488"/>
          </a:xfrm>
          <a:prstGeom prst="rect">
            <a:avLst/>
          </a:prstGeom>
          <a:noFill/>
          <a:ln/>
        </p:spPr>
        <p:txBody>
          <a:bodyPr wrap="square" lIns="0" tIns="0" rIns="0" bIns="0" rtlCol="0" anchor="ctr"/>
          <a:lstStyle/>
          <a:p>
            <a:pPr algn="ctr" indent="0" marL="0">
              <a:buNone/>
            </a:pPr>
            <a:r>
              <a:rPr lang="en-US" sz="2800" b="1" dirty="0">
                <a:solidFill>
                  <a:srgbClr val="A855F7"/>
                </a:solidFill>
              </a:rPr>
              <a:t>NOW</a:t>
            </a:r>
            <a:pPr algn="ctr" indent="0" marL="0">
              <a:buNone/>
            </a:pPr>
            <a:r>
              <a:rPr lang="en-US" sz="1000" dirty="0">
                <a:solidFill>
                  <a:srgbClr val="FFFFFF"/>
                </a:solidFill>
              </a:rPr>
              <a:t>Phase 1 需立即啟動</a:t>
            </a:r>
            <a:endParaRPr lang="en-US" sz="2800" dirty="0"/>
          </a:p>
        </p:txBody>
      </p:sp>
      <p:sp>
        <p:nvSpPr>
          <p:cNvPr id="40" name="Text 38"/>
          <p:cNvSpPr/>
          <p:nvPr/>
        </p:nvSpPr>
        <p:spPr>
          <a:xfrm>
            <a:off x="4864608" y="3255264"/>
            <a:ext cx="2615184" cy="256032"/>
          </a:xfrm>
          <a:prstGeom prst="rect">
            <a:avLst/>
          </a:prstGeom>
          <a:noFill/>
          <a:ln/>
        </p:spPr>
        <p:txBody>
          <a:bodyPr wrap="square" lIns="0" tIns="0" rIns="0" bIns="0" rtlCol="0" anchor="ctr"/>
          <a:lstStyle/>
          <a:p>
            <a:pPr indent="0" marL="0">
              <a:buNone/>
            </a:pPr>
            <a:r>
              <a:rPr lang="en-US" sz="1000" b="1" dirty="0">
                <a:solidFill>
                  <a:srgbClr val="FFFFFF"/>
                </a:solidFill>
              </a:rPr>
              <a:t>6–18 Months: Critical Window</a:t>
            </a:r>
            <a:endParaRPr lang="en-US" sz="1000" dirty="0"/>
          </a:p>
        </p:txBody>
      </p:sp>
      <p:sp>
        <p:nvSpPr>
          <p:cNvPr id="41" name="Text 39"/>
          <p:cNvSpPr/>
          <p:nvPr/>
        </p:nvSpPr>
        <p:spPr>
          <a:xfrm>
            <a:off x="4864608" y="3493008"/>
            <a:ext cx="2615184" cy="256032"/>
          </a:xfrm>
          <a:prstGeom prst="rect">
            <a:avLst/>
          </a:prstGeom>
          <a:noFill/>
          <a:ln/>
        </p:spPr>
        <p:txBody>
          <a:bodyPr wrap="square" lIns="0" tIns="0" rIns="0" bIns="0" rtlCol="0" anchor="ctr"/>
          <a:lstStyle/>
          <a:p>
            <a:pPr indent="0" marL="0">
              <a:buNone/>
            </a:pPr>
            <a:r>
              <a:rPr lang="en-US" sz="800" dirty="0">
                <a:solidFill>
                  <a:srgbClr val="9CA3AF"/>
                </a:solidFill>
              </a:rPr>
              <a:t>Phase 1 需立即啟動</a:t>
            </a:r>
            <a:endParaRPr lang="en-US" sz="800" dirty="0"/>
          </a:p>
        </p:txBody>
      </p:sp>
      <p:sp>
        <p:nvSpPr>
          <p:cNvPr id="42" name="Shape 40"/>
          <p:cNvSpPr/>
          <p:nvPr/>
        </p:nvSpPr>
        <p:spPr>
          <a:xfrm>
            <a:off x="365760" y="4005072"/>
            <a:ext cx="8412480" cy="502920"/>
          </a:xfrm>
          <a:prstGeom prst="rect">
            <a:avLst/>
          </a:prstGeom>
          <a:solidFill>
            <a:srgbClr val="00E5FF">
              <a:alpha val="8000"/>
            </a:srgbClr>
          </a:solidFill>
          <a:ln w="10160">
            <a:solidFill>
              <a:srgbClr val="00E5FF"/>
            </a:solidFill>
            <a:prstDash val="solid"/>
          </a:ln>
        </p:spPr>
      </p:sp>
      <p:sp>
        <p:nvSpPr>
          <p:cNvPr id="43" name="Text 41"/>
          <p:cNvSpPr/>
          <p:nvPr/>
        </p:nvSpPr>
        <p:spPr>
          <a:xfrm>
            <a:off x="457200" y="4005072"/>
            <a:ext cx="8229600" cy="502920"/>
          </a:xfrm>
          <a:prstGeom prst="rect">
            <a:avLst/>
          </a:prstGeom>
          <a:noFill/>
          <a:ln/>
        </p:spPr>
        <p:txBody>
          <a:bodyPr wrap="square" lIns="0" tIns="0" rIns="0" bIns="0" rtlCol="0" anchor="ctr"/>
          <a:lstStyle/>
          <a:p>
            <a:pPr indent="0" marL="0">
              <a:buNone/>
            </a:pPr>
            <a:r>
              <a:rPr lang="en-US" sz="1200" b="1" dirty="0">
                <a:solidFill>
                  <a:srgbClr val="00E5FF"/>
                </a:solidFill>
              </a:rPr>
              <a:t>💡  The future belongs to thermal system integrators — not component suppliers.</a:t>
            </a:r>
            <a:endParaRPr lang="en-US" sz="1200" dirty="0"/>
          </a:p>
        </p:txBody>
      </p:sp>
      <p:sp>
        <p:nvSpPr>
          <p:cNvPr id="44" name="Text 42"/>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Sources: MarketsandMarkets (TAM) | Gartner (adoption rate) | NVIDIA official specs | TMSBU analysis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0E5FF"/>
          </a:solidFill>
          <a:ln w="12700">
            <a:solidFill>
              <a:srgbClr val="00E5FF"/>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03</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Market Inflection: AI Compute Density</a:t>
            </a:r>
            <a:endParaRPr lang="en-US" sz="2800" dirty="0"/>
          </a:p>
          <a:p>
            <a:pPr indent="0" marL="0">
              <a:buNone/>
            </a:pPr>
            <a:r>
              <a:rPr lang="en-US" sz="2800" b="1" dirty="0">
                <a:solidFill>
                  <a:srgbClr val="FFFFFF"/>
                </a:solidFill>
              </a:rPr>
              <a:t>Creates Thermal Bottleneck</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GPU TDP 突破風冷散熱上限，散熱瓶頸成為 AI 基礎建設擴張的硬約束</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214884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411480" y="886968"/>
            <a:ext cx="8321040" cy="2103120"/>
          </a:xfrm>
          <a:prstGeom prst="rect">
            <a:avLst/>
          </a:prstGeom>
        </p:spPr>
      </p:pic>
      <p:sp>
        <p:nvSpPr>
          <p:cNvPr id="9" name="Shape 6"/>
          <p:cNvSpPr/>
          <p:nvPr/>
        </p:nvSpPr>
        <p:spPr>
          <a:xfrm>
            <a:off x="365760" y="3154680"/>
            <a:ext cx="2651760" cy="804672"/>
          </a:xfrm>
          <a:prstGeom prst="rect">
            <a:avLst/>
          </a:prstGeom>
          <a:solidFill>
            <a:srgbClr val="00E5FF">
              <a:alpha val="10000"/>
            </a:srgbClr>
          </a:solidFill>
          <a:ln w="19050">
            <a:solidFill>
              <a:srgbClr val="00E5FF"/>
            </a:solidFill>
            <a:prstDash val="solid"/>
          </a:ln>
          <a:effectLst>
            <a:outerShdw sx="100000" sy="100000" kx="0" ky="0" algn="bl" rotWithShape="0" blurRad="76200" dist="25400" dir="8100000">
              <a:srgbClr val="000000">
                <a:alpha val="25000"/>
              </a:srgbClr>
            </a:outerShdw>
          </a:effectLst>
        </p:spPr>
      </p:sp>
      <p:sp>
        <p:nvSpPr>
          <p:cNvPr id="10" name="Shape 7"/>
          <p:cNvSpPr/>
          <p:nvPr/>
        </p:nvSpPr>
        <p:spPr>
          <a:xfrm>
            <a:off x="365760" y="3154680"/>
            <a:ext cx="2651760" cy="45720"/>
          </a:xfrm>
          <a:prstGeom prst="rect">
            <a:avLst/>
          </a:prstGeom>
          <a:solidFill>
            <a:srgbClr val="00E5FF"/>
          </a:solidFill>
          <a:ln w="12700">
            <a:solidFill>
              <a:srgbClr val="00E5FF"/>
            </a:solidFill>
            <a:prstDash val="solid"/>
          </a:ln>
        </p:spPr>
      </p:sp>
      <p:sp>
        <p:nvSpPr>
          <p:cNvPr id="11" name="Text 8"/>
          <p:cNvSpPr/>
          <p:nvPr/>
        </p:nvSpPr>
        <p:spPr>
          <a:xfrm>
            <a:off x="365760" y="3246120"/>
            <a:ext cx="2651760" cy="658368"/>
          </a:xfrm>
          <a:prstGeom prst="rect">
            <a:avLst/>
          </a:prstGeom>
          <a:noFill/>
          <a:ln/>
        </p:spPr>
        <p:txBody>
          <a:bodyPr wrap="square" lIns="0" tIns="0" rIns="0" bIns="0" rtlCol="0" anchor="ctr"/>
          <a:lstStyle/>
          <a:p>
            <a:pPr algn="ctr" indent="0" marL="0">
              <a:buNone/>
            </a:pPr>
            <a:r>
              <a:rPr lang="en-US" sz="3600" b="1" dirty="0">
                <a:solidFill>
                  <a:srgbClr val="00E5FF"/>
                </a:solidFill>
              </a:rPr>
              <a:t>1,400W</a:t>
            </a:r>
            <a:pPr algn="ctr" indent="0" marL="0">
              <a:buNone/>
            </a:pPr>
            <a:endParaRPr lang="en-US" sz="3600" dirty="0"/>
          </a:p>
        </p:txBody>
      </p:sp>
      <p:sp>
        <p:nvSpPr>
          <p:cNvPr id="12" name="Text 9"/>
          <p:cNvSpPr/>
          <p:nvPr/>
        </p:nvSpPr>
        <p:spPr>
          <a:xfrm>
            <a:off x="365760" y="3666744"/>
            <a:ext cx="2651760" cy="256032"/>
          </a:xfrm>
          <a:prstGeom prst="rect">
            <a:avLst/>
          </a:prstGeom>
          <a:noFill/>
          <a:ln/>
        </p:spPr>
        <p:txBody>
          <a:bodyPr wrap="square" lIns="0" tIns="0" rIns="0" bIns="0" rtlCol="0" anchor="ctr"/>
          <a:lstStyle/>
          <a:p>
            <a:pPr algn="ctr" indent="0" marL="0">
              <a:buNone/>
            </a:pPr>
            <a:r>
              <a:rPr lang="en-US" sz="900" dirty="0">
                <a:solidFill>
                  <a:srgbClr val="9CA3AF"/>
                </a:solidFill>
              </a:rPr>
              <a:t>GPU TDP @ 2027+ Rubin</a:t>
            </a:r>
            <a:endParaRPr lang="en-US" sz="900" dirty="0"/>
          </a:p>
        </p:txBody>
      </p:sp>
      <p:sp>
        <p:nvSpPr>
          <p:cNvPr id="13" name="Shape 10"/>
          <p:cNvSpPr/>
          <p:nvPr/>
        </p:nvSpPr>
        <p:spPr>
          <a:xfrm>
            <a:off x="3246120" y="3154680"/>
            <a:ext cx="2651760" cy="804672"/>
          </a:xfrm>
          <a:prstGeom prst="rect">
            <a:avLst/>
          </a:prstGeom>
          <a:solidFill>
            <a:srgbClr val="00E676">
              <a:alpha val="10000"/>
            </a:srgbClr>
          </a:solidFill>
          <a:ln w="19050">
            <a:solidFill>
              <a:srgbClr val="00E676"/>
            </a:solidFill>
            <a:prstDash val="solid"/>
          </a:ln>
          <a:effectLst>
            <a:outerShdw sx="100000" sy="100000" kx="0" ky="0" algn="bl" rotWithShape="0" blurRad="76200" dist="25400" dir="8100000">
              <a:srgbClr val="000000">
                <a:alpha val="25000"/>
              </a:srgbClr>
            </a:outerShdw>
          </a:effectLst>
        </p:spPr>
      </p:sp>
      <p:sp>
        <p:nvSpPr>
          <p:cNvPr id="14" name="Shape 11"/>
          <p:cNvSpPr/>
          <p:nvPr/>
        </p:nvSpPr>
        <p:spPr>
          <a:xfrm>
            <a:off x="3246120" y="3154680"/>
            <a:ext cx="2651760" cy="45720"/>
          </a:xfrm>
          <a:prstGeom prst="rect">
            <a:avLst/>
          </a:prstGeom>
          <a:solidFill>
            <a:srgbClr val="00E676"/>
          </a:solidFill>
          <a:ln w="12700">
            <a:solidFill>
              <a:srgbClr val="00E676"/>
            </a:solidFill>
            <a:prstDash val="solid"/>
          </a:ln>
        </p:spPr>
      </p:sp>
      <p:sp>
        <p:nvSpPr>
          <p:cNvPr id="15" name="Text 12"/>
          <p:cNvSpPr/>
          <p:nvPr/>
        </p:nvSpPr>
        <p:spPr>
          <a:xfrm>
            <a:off x="3246120" y="3246120"/>
            <a:ext cx="2651760" cy="658368"/>
          </a:xfrm>
          <a:prstGeom prst="rect">
            <a:avLst/>
          </a:prstGeom>
          <a:noFill/>
          <a:ln/>
        </p:spPr>
        <p:txBody>
          <a:bodyPr wrap="square" lIns="0" tIns="0" rIns="0" bIns="0" rtlCol="0" anchor="ctr"/>
          <a:lstStyle/>
          <a:p>
            <a:pPr algn="ctr" indent="0" marL="0">
              <a:buNone/>
            </a:pPr>
            <a:r>
              <a:rPr lang="en-US" sz="3600" b="1" dirty="0">
                <a:solidFill>
                  <a:srgbClr val="00E676"/>
                </a:solidFill>
              </a:rPr>
              <a:t>160kW</a:t>
            </a:r>
            <a:pPr algn="ctr" indent="0" marL="0">
              <a:buNone/>
            </a:pPr>
            <a:endParaRPr lang="en-US" sz="3600" dirty="0"/>
          </a:p>
        </p:txBody>
      </p:sp>
      <p:sp>
        <p:nvSpPr>
          <p:cNvPr id="16" name="Text 13"/>
          <p:cNvSpPr/>
          <p:nvPr/>
        </p:nvSpPr>
        <p:spPr>
          <a:xfrm>
            <a:off x="3246120" y="3666744"/>
            <a:ext cx="2651760" cy="256032"/>
          </a:xfrm>
          <a:prstGeom prst="rect">
            <a:avLst/>
          </a:prstGeom>
          <a:noFill/>
          <a:ln/>
        </p:spPr>
        <p:txBody>
          <a:bodyPr wrap="square" lIns="0" tIns="0" rIns="0" bIns="0" rtlCol="0" anchor="ctr"/>
          <a:lstStyle/>
          <a:p>
            <a:pPr algn="ctr" indent="0" marL="0">
              <a:buNone/>
            </a:pPr>
            <a:r>
              <a:rPr lang="en-US" sz="900" dirty="0">
                <a:solidFill>
                  <a:srgbClr val="9CA3AF"/>
                </a:solidFill>
              </a:rPr>
              <a:t>Rack Power @ 2027+ (est.)</a:t>
            </a:r>
            <a:endParaRPr lang="en-US" sz="900" dirty="0"/>
          </a:p>
        </p:txBody>
      </p:sp>
      <p:sp>
        <p:nvSpPr>
          <p:cNvPr id="17" name="Shape 14"/>
          <p:cNvSpPr/>
          <p:nvPr/>
        </p:nvSpPr>
        <p:spPr>
          <a:xfrm>
            <a:off x="6126480" y="3154680"/>
            <a:ext cx="2651760" cy="804672"/>
          </a:xfrm>
          <a:prstGeom prst="rect">
            <a:avLst/>
          </a:prstGeom>
          <a:solidFill>
            <a:srgbClr val="F59E0B">
              <a:alpha val="10000"/>
            </a:srgbClr>
          </a:solidFill>
          <a:ln w="19050">
            <a:solidFill>
              <a:srgbClr val="F59E0B"/>
            </a:solidFill>
            <a:prstDash val="solid"/>
          </a:ln>
          <a:effectLst>
            <a:outerShdw sx="100000" sy="100000" kx="0" ky="0" algn="bl" rotWithShape="0" blurRad="76200" dist="25400" dir="8100000">
              <a:srgbClr val="000000">
                <a:alpha val="25000"/>
              </a:srgbClr>
            </a:outerShdw>
          </a:effectLst>
        </p:spPr>
      </p:sp>
      <p:sp>
        <p:nvSpPr>
          <p:cNvPr id="18" name="Shape 15"/>
          <p:cNvSpPr/>
          <p:nvPr/>
        </p:nvSpPr>
        <p:spPr>
          <a:xfrm>
            <a:off x="6126480" y="3154680"/>
            <a:ext cx="2651760" cy="45720"/>
          </a:xfrm>
          <a:prstGeom prst="rect">
            <a:avLst/>
          </a:prstGeom>
          <a:solidFill>
            <a:srgbClr val="F59E0B"/>
          </a:solidFill>
          <a:ln w="12700">
            <a:solidFill>
              <a:srgbClr val="F59E0B"/>
            </a:solidFill>
            <a:prstDash val="solid"/>
          </a:ln>
        </p:spPr>
      </p:sp>
      <p:sp>
        <p:nvSpPr>
          <p:cNvPr id="19" name="Text 16"/>
          <p:cNvSpPr/>
          <p:nvPr/>
        </p:nvSpPr>
        <p:spPr>
          <a:xfrm>
            <a:off x="6126480" y="3246120"/>
            <a:ext cx="2651760" cy="658368"/>
          </a:xfrm>
          <a:prstGeom prst="rect">
            <a:avLst/>
          </a:prstGeom>
          <a:noFill/>
          <a:ln/>
        </p:spPr>
        <p:txBody>
          <a:bodyPr wrap="square" lIns="0" tIns="0" rIns="0" bIns="0" rtlCol="0" anchor="ctr"/>
          <a:lstStyle/>
          <a:p>
            <a:pPr algn="ctr" indent="0" marL="0">
              <a:buNone/>
            </a:pPr>
            <a:r>
              <a:rPr lang="en-US" sz="3600" b="1" dirty="0">
                <a:solidFill>
                  <a:srgbClr val="F59E0B"/>
                </a:solidFill>
              </a:rPr>
              <a:t>$39.1B</a:t>
            </a:r>
            <a:pPr algn="ctr" indent="0" marL="0">
              <a:buNone/>
            </a:pPr>
            <a:endParaRPr lang="en-US" sz="3600" dirty="0"/>
          </a:p>
        </p:txBody>
      </p:sp>
      <p:sp>
        <p:nvSpPr>
          <p:cNvPr id="20" name="Text 17"/>
          <p:cNvSpPr/>
          <p:nvPr/>
        </p:nvSpPr>
        <p:spPr>
          <a:xfrm>
            <a:off x="6126480" y="3666744"/>
            <a:ext cx="2651760" cy="256032"/>
          </a:xfrm>
          <a:prstGeom prst="rect">
            <a:avLst/>
          </a:prstGeom>
          <a:noFill/>
          <a:ln/>
        </p:spPr>
        <p:txBody>
          <a:bodyPr wrap="square" lIns="0" tIns="0" rIns="0" bIns="0" rtlCol="0" anchor="ctr"/>
          <a:lstStyle/>
          <a:p>
            <a:pPr algn="ctr" indent="0" marL="0">
              <a:buNone/>
            </a:pPr>
            <a:r>
              <a:rPr lang="en-US" sz="900" dirty="0">
                <a:solidFill>
                  <a:srgbClr val="9CA3AF"/>
                </a:solidFill>
              </a:rPr>
              <a:t>Liquid Cooling TAM by 2030</a:t>
            </a:r>
            <a:endParaRPr lang="en-US" sz="900" dirty="0"/>
          </a:p>
        </p:txBody>
      </p:sp>
      <p:sp>
        <p:nvSpPr>
          <p:cNvPr id="21" name="Shape 18"/>
          <p:cNvSpPr/>
          <p:nvPr/>
        </p:nvSpPr>
        <p:spPr>
          <a:xfrm>
            <a:off x="365760" y="4069080"/>
            <a:ext cx="8412480" cy="731520"/>
          </a:xfrm>
          <a:prstGeom prst="rect">
            <a:avLst/>
          </a:prstGeom>
          <a:solidFill>
            <a:srgbClr val="00E5FF">
              <a:alpha val="8000"/>
            </a:srgbClr>
          </a:solidFill>
          <a:ln w="10160">
            <a:solidFill>
              <a:srgbClr val="00E5FF"/>
            </a:solidFill>
            <a:prstDash val="solid"/>
          </a:ln>
        </p:spPr>
      </p:sp>
      <p:sp>
        <p:nvSpPr>
          <p:cNvPr id="22" name="Shape 19"/>
          <p:cNvSpPr/>
          <p:nvPr/>
        </p:nvSpPr>
        <p:spPr>
          <a:xfrm>
            <a:off x="365760" y="4069080"/>
            <a:ext cx="54864" cy="731520"/>
          </a:xfrm>
          <a:prstGeom prst="rect">
            <a:avLst/>
          </a:prstGeom>
          <a:solidFill>
            <a:srgbClr val="00E5FF"/>
          </a:solidFill>
          <a:ln/>
        </p:spPr>
      </p:sp>
      <p:sp>
        <p:nvSpPr>
          <p:cNvPr id="23" name="Text 20"/>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00E5FF"/>
                </a:solidFill>
              </a:rPr>
              <a:t>KEY INSIGHTS</a:t>
            </a:r>
            <a:endParaRPr lang="en-US" sz="700" dirty="0"/>
          </a:p>
        </p:txBody>
      </p:sp>
      <p:sp>
        <p:nvSpPr>
          <p:cNvPr id="24" name="Text 21"/>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GB200 NVL72（~80–130kW/rack）是風冷物理瓶頸的轉折點</a:t>
            </a:r>
            <a:endParaRPr lang="en-US" sz="1100" dirty="0"/>
          </a:p>
          <a:p>
            <a:pPr marL="342900" indent="-342900">
              <a:buSzPct val="100000"/>
              <a:buChar char="•"/>
            </a:pPr>
            <a:r>
              <a:rPr lang="en-US" sz="1100" dirty="0">
                <a:solidFill>
                  <a:srgbClr val="9CA3AF"/>
                </a:solidFill>
              </a:rPr>
              <a:t>Rubin（2027+）功率密度 160kW+，浸沒式冷卻可能成下一個轉折</a:t>
            </a:r>
            <a:endParaRPr lang="en-US" sz="1100" dirty="0"/>
          </a:p>
          <a:p>
            <a:pPr marL="342900" indent="-342900">
              <a:buSzPct val="100000"/>
              <a:buChar char="•"/>
            </a:pPr>
            <a:r>
              <a:rPr lang="en-US" sz="1100" dirty="0">
                <a:solidFill>
                  <a:srgbClr val="9CA3AF"/>
                </a:solidFill>
              </a:rPr>
              <a:t>散熱瓶頸 = 誰能解決散熱、誰就能贏得 AI 基礎建設市佔</a:t>
            </a:r>
            <a:endParaRPr lang="en-US" sz="1100" dirty="0"/>
          </a:p>
        </p:txBody>
      </p:sp>
      <p:sp>
        <p:nvSpPr>
          <p:cNvPr id="25" name="Text 22"/>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Sources: NVIDIA official GB200 specs | TrendForce rack power analysis | MarketsandMarkets TAM | Rubin = AnandTech projection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891B2"/>
          </a:solidFill>
          <a:ln w="12700">
            <a:solidFill>
              <a:srgbClr val="0891B2"/>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04</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Why Air Cooling Alone Is No Longer Enough</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Not Air vs. Liquid — The Future Is Hybrid Architecture</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3931920" cy="2331720"/>
          </a:xfrm>
          <a:prstGeom prst="rect">
            <a:avLst/>
          </a:prstGeom>
          <a:solidFill>
            <a:srgbClr val="111827"/>
          </a:solidFill>
          <a:ln w="19050">
            <a:solidFill>
              <a:srgbClr val="00E5FF"/>
            </a:solidFill>
            <a:prstDash val="solid"/>
          </a:ln>
          <a:effectLst>
            <a:outerShdw sx="100000" sy="100000" kx="0" ky="0" algn="bl" rotWithShape="0" blurRad="76200" dist="25400" dir="8100000">
              <a:srgbClr val="000000">
                <a:alpha val="30000"/>
              </a:srgbClr>
            </a:outerShdw>
          </a:effectLst>
        </p:spPr>
      </p:sp>
      <p:sp>
        <p:nvSpPr>
          <p:cNvPr id="8" name="Shape 6"/>
          <p:cNvSpPr/>
          <p:nvPr/>
        </p:nvSpPr>
        <p:spPr>
          <a:xfrm>
            <a:off x="365760" y="868680"/>
            <a:ext cx="3931920" cy="54864"/>
          </a:xfrm>
          <a:prstGeom prst="rect">
            <a:avLst/>
          </a:prstGeom>
          <a:solidFill>
            <a:srgbClr val="00E5FF"/>
          </a:solidFill>
          <a:ln/>
        </p:spPr>
      </p:sp>
      <p:sp>
        <p:nvSpPr>
          <p:cNvPr id="9" name="Text 7"/>
          <p:cNvSpPr/>
          <p:nvPr/>
        </p:nvSpPr>
        <p:spPr>
          <a:xfrm>
            <a:off x="457200" y="886968"/>
            <a:ext cx="3749040" cy="274320"/>
          </a:xfrm>
          <a:prstGeom prst="rect">
            <a:avLst/>
          </a:prstGeom>
          <a:noFill/>
          <a:ln/>
        </p:spPr>
        <p:txBody>
          <a:bodyPr wrap="square" lIns="0" tIns="0" rIns="0" bIns="0" rtlCol="0" anchor="ctr"/>
          <a:lstStyle/>
          <a:p>
            <a:pPr indent="0" marL="0">
              <a:buNone/>
            </a:pPr>
            <a:r>
              <a:rPr lang="en-US" sz="1100" b="1" dirty="0">
                <a:solidFill>
                  <a:srgbClr val="00E5FF"/>
                </a:solidFill>
              </a:rPr>
              <a:t>LIQUID COOLING</a:t>
            </a:r>
            <a:endParaRPr lang="en-US" sz="1100" dirty="0"/>
          </a:p>
        </p:txBody>
      </p:sp>
      <p:sp>
        <p:nvSpPr>
          <p:cNvPr id="10" name="Text 8"/>
          <p:cNvSpPr/>
          <p:nvPr/>
        </p:nvSpPr>
        <p:spPr>
          <a:xfrm>
            <a:off x="457200" y="1170432"/>
            <a:ext cx="3749040" cy="256032"/>
          </a:xfrm>
          <a:prstGeom prst="rect">
            <a:avLst/>
          </a:prstGeom>
          <a:noFill/>
          <a:ln/>
        </p:spPr>
        <p:txBody>
          <a:bodyPr wrap="square" lIns="0" tIns="0" rIns="0" bIns="0" rtlCol="0" anchor="ctr"/>
          <a:lstStyle/>
          <a:p>
            <a:pPr indent="0" marL="0">
              <a:buNone/>
            </a:pPr>
            <a:r>
              <a:rPr lang="en-US" sz="1300" b="1" dirty="0">
                <a:solidFill>
                  <a:srgbClr val="FFFFFF"/>
                </a:solidFill>
              </a:rPr>
              <a:t>Handles GPU / CPU Hotspot</a:t>
            </a:r>
            <a:endParaRPr lang="en-US" sz="1300" dirty="0"/>
          </a:p>
        </p:txBody>
      </p:sp>
      <p:sp>
        <p:nvSpPr>
          <p:cNvPr id="11" name="Text 9"/>
          <p:cNvSpPr/>
          <p:nvPr/>
        </p:nvSpPr>
        <p:spPr>
          <a:xfrm>
            <a:off x="457200" y="1444752"/>
            <a:ext cx="3749040" cy="1645920"/>
          </a:xfrm>
          <a:prstGeom prst="rect">
            <a:avLst/>
          </a:prstGeom>
          <a:noFill/>
          <a:ln/>
        </p:spPr>
        <p:txBody>
          <a:bodyPr wrap="square" rtlCol="0" anchor="ctr"/>
          <a:lstStyle/>
          <a:p>
            <a:pPr marL="342900" indent="-342900">
              <a:buSzPct val="100000"/>
              <a:buChar char="•"/>
            </a:pPr>
            <a:r>
              <a:rPr lang="en-US" sz="1100" dirty="0">
                <a:solidFill>
                  <a:srgbClr val="9CA3AF"/>
                </a:solidFill>
              </a:rPr>
              <a:t>GPU TDP 700W–1,400W+ 直接導熱</a:t>
            </a:r>
            <a:endParaRPr lang="en-US" sz="1100" dirty="0"/>
          </a:p>
          <a:p>
            <a:pPr marL="342900" indent="-342900">
              <a:buSzPct val="100000"/>
              <a:buChar char="•"/>
            </a:pPr>
            <a:r>
              <a:rPr lang="en-US" sz="1100" dirty="0">
                <a:solidFill>
                  <a:srgbClr val="9CA3AF"/>
                </a:solidFill>
              </a:rPr>
              <a:t>Cold Plate 直接接觸 die，效率 &gt; 95%</a:t>
            </a:r>
            <a:endParaRPr lang="en-US" sz="1100" dirty="0"/>
          </a:p>
          <a:p>
            <a:pPr marL="342900" indent="-342900">
              <a:buSzPct val="100000"/>
              <a:buChar char="•"/>
            </a:pPr>
            <a:r>
              <a:rPr lang="en-US" sz="1100" dirty="0">
                <a:solidFill>
                  <a:srgbClr val="9CA3AF"/>
                </a:solidFill>
              </a:rPr>
              <a:t>CDU 130kW+ 熱移除能力</a:t>
            </a:r>
            <a:endParaRPr lang="en-US" sz="1100" dirty="0"/>
          </a:p>
          <a:p>
            <a:pPr marL="342900" indent="-342900">
              <a:buSzPct val="100000"/>
              <a:buChar char="•"/>
            </a:pPr>
            <a:r>
              <a:rPr lang="en-US" sz="1100" dirty="0">
                <a:solidFill>
                  <a:srgbClr val="9CA3AF"/>
                </a:solidFill>
              </a:rPr>
              <a:t>Manifold 分流至多 server</a:t>
            </a:r>
            <a:endParaRPr lang="en-US" sz="1100" dirty="0"/>
          </a:p>
        </p:txBody>
      </p:sp>
      <p:sp>
        <p:nvSpPr>
          <p:cNvPr id="12" name="Shape 10"/>
          <p:cNvSpPr/>
          <p:nvPr/>
        </p:nvSpPr>
        <p:spPr>
          <a:xfrm>
            <a:off x="4846320" y="868680"/>
            <a:ext cx="3931920" cy="2331720"/>
          </a:xfrm>
          <a:prstGeom prst="rect">
            <a:avLst/>
          </a:prstGeom>
          <a:solidFill>
            <a:srgbClr val="111827"/>
          </a:solidFill>
          <a:ln w="19050">
            <a:solidFill>
              <a:srgbClr val="00E676"/>
            </a:solidFill>
            <a:prstDash val="solid"/>
          </a:ln>
          <a:effectLst>
            <a:outerShdw sx="100000" sy="100000" kx="0" ky="0" algn="bl" rotWithShape="0" blurRad="76200" dist="25400" dir="8100000">
              <a:srgbClr val="000000">
                <a:alpha val="30000"/>
              </a:srgbClr>
            </a:outerShdw>
          </a:effectLst>
        </p:spPr>
      </p:sp>
      <p:sp>
        <p:nvSpPr>
          <p:cNvPr id="13" name="Shape 11"/>
          <p:cNvSpPr/>
          <p:nvPr/>
        </p:nvSpPr>
        <p:spPr>
          <a:xfrm>
            <a:off x="4846320" y="868680"/>
            <a:ext cx="3931920" cy="54864"/>
          </a:xfrm>
          <a:prstGeom prst="rect">
            <a:avLst/>
          </a:prstGeom>
          <a:solidFill>
            <a:srgbClr val="00E676"/>
          </a:solidFill>
          <a:ln/>
        </p:spPr>
      </p:sp>
      <p:sp>
        <p:nvSpPr>
          <p:cNvPr id="14" name="Text 12"/>
          <p:cNvSpPr/>
          <p:nvPr/>
        </p:nvSpPr>
        <p:spPr>
          <a:xfrm>
            <a:off x="4937760" y="886968"/>
            <a:ext cx="3749040" cy="274320"/>
          </a:xfrm>
          <a:prstGeom prst="rect">
            <a:avLst/>
          </a:prstGeom>
          <a:noFill/>
          <a:ln/>
        </p:spPr>
        <p:txBody>
          <a:bodyPr wrap="square" lIns="0" tIns="0" rIns="0" bIns="0" rtlCol="0" anchor="ctr"/>
          <a:lstStyle/>
          <a:p>
            <a:pPr indent="0" marL="0">
              <a:buNone/>
            </a:pPr>
            <a:r>
              <a:rPr lang="en-US" sz="1100" b="1" dirty="0">
                <a:solidFill>
                  <a:srgbClr val="00E676"/>
                </a:solidFill>
              </a:rPr>
              <a:t>AIR COOLING</a:t>
            </a:r>
            <a:endParaRPr lang="en-US" sz="1100" dirty="0"/>
          </a:p>
        </p:txBody>
      </p:sp>
      <p:sp>
        <p:nvSpPr>
          <p:cNvPr id="15" name="Text 13"/>
          <p:cNvSpPr/>
          <p:nvPr/>
        </p:nvSpPr>
        <p:spPr>
          <a:xfrm>
            <a:off x="4937760" y="1170432"/>
            <a:ext cx="3749040" cy="256032"/>
          </a:xfrm>
          <a:prstGeom prst="rect">
            <a:avLst/>
          </a:prstGeom>
          <a:noFill/>
          <a:ln/>
        </p:spPr>
        <p:txBody>
          <a:bodyPr wrap="square" lIns="0" tIns="0" rIns="0" bIns="0" rtlCol="0" anchor="ctr"/>
          <a:lstStyle/>
          <a:p>
            <a:pPr indent="0" marL="0">
              <a:buNone/>
            </a:pPr>
            <a:r>
              <a:rPr lang="en-US" sz="1300" b="1" dirty="0">
                <a:solidFill>
                  <a:srgbClr val="FFFFFF"/>
                </a:solidFill>
              </a:rPr>
              <a:t>Handles Memory / PCB / Power</a:t>
            </a:r>
            <a:endParaRPr lang="en-US" sz="1300" dirty="0"/>
          </a:p>
        </p:txBody>
      </p:sp>
      <p:sp>
        <p:nvSpPr>
          <p:cNvPr id="16" name="Text 14"/>
          <p:cNvSpPr/>
          <p:nvPr/>
        </p:nvSpPr>
        <p:spPr>
          <a:xfrm>
            <a:off x="4937760" y="1444752"/>
            <a:ext cx="3749040" cy="1645920"/>
          </a:xfrm>
          <a:prstGeom prst="rect">
            <a:avLst/>
          </a:prstGeom>
          <a:noFill/>
          <a:ln/>
        </p:spPr>
        <p:txBody>
          <a:bodyPr wrap="square" rtlCol="0" anchor="ctr"/>
          <a:lstStyle/>
          <a:p>
            <a:pPr marL="342900" indent="-342900">
              <a:buSzPct val="100000"/>
              <a:buChar char="•"/>
            </a:pPr>
            <a:r>
              <a:rPr lang="en-US" sz="1100" dirty="0">
                <a:solidFill>
                  <a:srgbClr val="9CA3AF"/>
                </a:solidFill>
              </a:rPr>
              <a:t>HBM Memory（每模組 ~1kW）散熱</a:t>
            </a:r>
            <a:endParaRPr lang="en-US" sz="1100" dirty="0"/>
          </a:p>
          <a:p>
            <a:pPr marL="342900" indent="-342900">
              <a:buSzPct val="100000"/>
              <a:buChar char="•"/>
            </a:pPr>
            <a:r>
              <a:rPr lang="en-US" sz="1100" dirty="0">
                <a:solidFill>
                  <a:srgbClr val="9CA3AF"/>
                </a:solidFill>
              </a:rPr>
              <a:t>PCB / 電源供應模組</a:t>
            </a:r>
            <a:endParaRPr lang="en-US" sz="1100" dirty="0"/>
          </a:p>
          <a:p>
            <a:pPr marL="342900" indent="-342900">
              <a:buSzPct val="100000"/>
              <a:buChar char="•"/>
            </a:pPr>
            <a:r>
              <a:rPr lang="en-US" sz="1100" dirty="0">
                <a:solidFill>
                  <a:srgbClr val="9CA3AF"/>
                </a:solidFill>
              </a:rPr>
              <a:t>Networking / Storage 元件</a:t>
            </a:r>
            <a:endParaRPr lang="en-US" sz="1100" dirty="0"/>
          </a:p>
          <a:p>
            <a:pPr marL="342900" indent="-342900">
              <a:buSzPct val="100000"/>
              <a:buChar char="•"/>
            </a:pPr>
            <a:r>
              <a:rPr lang="en-US" sz="1100" dirty="0">
                <a:solidFill>
                  <a:srgbClr val="9CA3AF"/>
                </a:solidFill>
              </a:rPr>
              <a:t>低功率 accessory 元件</a:t>
            </a:r>
            <a:endParaRPr lang="en-US" sz="1100" dirty="0"/>
          </a:p>
        </p:txBody>
      </p:sp>
      <p:sp>
        <p:nvSpPr>
          <p:cNvPr id="17" name="Text 15"/>
          <p:cNvSpPr/>
          <p:nvPr/>
        </p:nvSpPr>
        <p:spPr>
          <a:xfrm>
            <a:off x="4206240" y="1554480"/>
            <a:ext cx="731520" cy="548640"/>
          </a:xfrm>
          <a:prstGeom prst="rect">
            <a:avLst/>
          </a:prstGeom>
          <a:noFill/>
          <a:ln/>
        </p:spPr>
        <p:txBody>
          <a:bodyPr wrap="square" rtlCol="0" anchor="ctr"/>
          <a:lstStyle/>
          <a:p>
            <a:pPr algn="ctr" indent="0" marL="0">
              <a:buNone/>
            </a:pPr>
            <a:r>
              <a:rPr lang="en-US" sz="2800" b="1" dirty="0">
                <a:solidFill>
                  <a:srgbClr val="FFFFFF"/>
                </a:solidFill>
              </a:rPr>
              <a:t>+</a:t>
            </a:r>
            <a:endParaRPr lang="en-US" sz="2800" dirty="0"/>
          </a:p>
        </p:txBody>
      </p:sp>
      <p:sp>
        <p:nvSpPr>
          <p:cNvPr id="18" name="Shape 16"/>
          <p:cNvSpPr/>
          <p:nvPr/>
        </p:nvSpPr>
        <p:spPr>
          <a:xfrm>
            <a:off x="365760" y="3337560"/>
            <a:ext cx="8412480" cy="594360"/>
          </a:xfrm>
          <a:prstGeom prst="rect">
            <a:avLst/>
          </a:prstGeom>
          <a:solidFill>
            <a:srgbClr val="FFFFFF">
              <a:alpha val="5000"/>
            </a:srgbClr>
          </a:solidFill>
          <a:ln w="25400">
            <a:solidFill>
              <a:srgbClr val="00E5FF"/>
            </a:solidFill>
            <a:prstDash val="solid"/>
          </a:ln>
        </p:spPr>
      </p:sp>
      <p:sp>
        <p:nvSpPr>
          <p:cNvPr id="19" name="Text 17"/>
          <p:cNvSpPr/>
          <p:nvPr/>
        </p:nvSpPr>
        <p:spPr>
          <a:xfrm>
            <a:off x="457200" y="3355848"/>
            <a:ext cx="8229600" cy="548640"/>
          </a:xfrm>
          <a:prstGeom prst="rect">
            <a:avLst/>
          </a:prstGeom>
          <a:noFill/>
          <a:ln/>
        </p:spPr>
        <p:txBody>
          <a:bodyPr wrap="square" lIns="0" tIns="0" rIns="0" bIns="0" rtlCol="0" anchor="ctr"/>
          <a:lstStyle/>
          <a:p>
            <a:pPr algn="ctr" indent="0" marL="0">
              <a:buNone/>
            </a:pPr>
            <a:r>
              <a:rPr lang="en-US" sz="1800" b="1" dirty="0">
                <a:solidFill>
                  <a:srgbClr val="00E5FF"/>
                </a:solidFill>
              </a:rPr>
              <a:t>Not Air vs. Liquid — The Future Is Hybrid Architecture</a:t>
            </a:r>
            <a:endParaRPr lang="en-US" sz="1800" dirty="0"/>
          </a:p>
        </p:txBody>
      </p:sp>
      <p:sp>
        <p:nvSpPr>
          <p:cNvPr id="20" name="Shape 18"/>
          <p:cNvSpPr/>
          <p:nvPr/>
        </p:nvSpPr>
        <p:spPr>
          <a:xfrm>
            <a:off x="365760" y="4023360"/>
            <a:ext cx="4572000" cy="777240"/>
          </a:xfrm>
          <a:prstGeom prst="rect">
            <a:avLst/>
          </a:prstGeom>
          <a:solidFill>
            <a:srgbClr val="111827"/>
          </a:solidFill>
          <a:ln w="12700">
            <a:solidFill>
              <a:srgbClr val="1E293B"/>
            </a:solidFill>
            <a:prstDash val="solid"/>
          </a:ln>
        </p:spPr>
      </p:sp>
      <p:pic>
        <p:nvPicPr>
          <p:cNvPr id="21" name="Image 0" descr="preencoded.png">    </p:cNvPr>
          <p:cNvPicPr>
            <a:picLocks noChangeAspect="1"/>
          </p:cNvPicPr>
          <p:nvPr/>
        </p:nvPicPr>
        <p:blipFill>
          <a:blip r:embed="rId1"/>
          <a:srcRect l="0" r="0" t="0" b="0"/>
          <a:stretch/>
        </p:blipFill>
        <p:spPr>
          <a:xfrm>
            <a:off x="384048" y="4041648"/>
            <a:ext cx="4526280" cy="731520"/>
          </a:xfrm>
          <a:prstGeom prst="rect">
            <a:avLst/>
          </a:prstGeom>
        </p:spPr>
      </p:pic>
      <p:sp>
        <p:nvSpPr>
          <p:cNvPr id="22" name="Shape 19"/>
          <p:cNvSpPr/>
          <p:nvPr/>
        </p:nvSpPr>
        <p:spPr>
          <a:xfrm>
            <a:off x="5120640" y="4023360"/>
            <a:ext cx="3657600" cy="777240"/>
          </a:xfrm>
          <a:prstGeom prst="rect">
            <a:avLst/>
          </a:prstGeom>
          <a:solidFill>
            <a:srgbClr val="00E676">
              <a:alpha val="8000"/>
            </a:srgbClr>
          </a:solidFill>
          <a:ln w="12700">
            <a:solidFill>
              <a:srgbClr val="00E676"/>
            </a:solidFill>
            <a:prstDash val="solid"/>
          </a:ln>
        </p:spPr>
      </p:sp>
      <p:sp>
        <p:nvSpPr>
          <p:cNvPr id="23" name="Text 20"/>
          <p:cNvSpPr/>
          <p:nvPr/>
        </p:nvSpPr>
        <p:spPr>
          <a:xfrm>
            <a:off x="5212080" y="4041648"/>
            <a:ext cx="3474720" cy="731520"/>
          </a:xfrm>
          <a:prstGeom prst="rect">
            <a:avLst/>
          </a:prstGeom>
          <a:noFill/>
          <a:ln/>
        </p:spPr>
        <p:txBody>
          <a:bodyPr wrap="square" rtlCol="0" anchor="ctr"/>
          <a:lstStyle/>
          <a:p>
            <a:pPr indent="0" marL="0">
              <a:buNone/>
            </a:pPr>
            <a:r>
              <a:rPr lang="en-US" sz="950" dirty="0">
                <a:solidFill>
                  <a:srgbClr val="00E676"/>
                </a:solidFill>
              </a:rPr>
              <a:t>TMSBU BENEFIT: Fan / VC / HS demand ↑ with liquid cooling adoption (more non-GPU components need air cooling)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0E676"/>
          </a:solidFill>
          <a:ln w="12700">
            <a:solidFill>
              <a:srgbClr val="00E676"/>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05</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Liquid Cooling Architecture Becomes</a:t>
            </a:r>
            <a:endParaRPr lang="en-US" sz="2800" dirty="0"/>
          </a:p>
          <a:p>
            <a:pPr indent="0" marL="0">
              <a:buNone/>
            </a:pPr>
            <a:r>
              <a:rPr lang="en-US" sz="2800" b="1" dirty="0">
                <a:solidFill>
                  <a:srgbClr val="FFFFFF"/>
                </a:solidFill>
              </a:rPr>
              <a:t>the New Standard</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液冷的價值在完整系統整合：Cold Plate → CDU → Manifold → Quick Connector</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84048" y="886968"/>
            <a:ext cx="8366760" cy="2971800"/>
          </a:xfrm>
          <a:prstGeom prst="rect">
            <a:avLst/>
          </a:prstGeom>
        </p:spPr>
      </p:pic>
      <p:sp>
        <p:nvSpPr>
          <p:cNvPr id="9" name="Shape 6"/>
          <p:cNvSpPr/>
          <p:nvPr/>
        </p:nvSpPr>
        <p:spPr>
          <a:xfrm>
            <a:off x="365760" y="4069080"/>
            <a:ext cx="8412480" cy="731520"/>
          </a:xfrm>
          <a:prstGeom prst="rect">
            <a:avLst/>
          </a:prstGeom>
          <a:solidFill>
            <a:srgbClr val="00E676">
              <a:alpha val="8000"/>
            </a:srgbClr>
          </a:solidFill>
          <a:ln w="10160">
            <a:solidFill>
              <a:srgbClr val="00E676"/>
            </a:solidFill>
            <a:prstDash val="solid"/>
          </a:ln>
        </p:spPr>
      </p:sp>
      <p:sp>
        <p:nvSpPr>
          <p:cNvPr id="10" name="Shape 7"/>
          <p:cNvSpPr/>
          <p:nvPr/>
        </p:nvSpPr>
        <p:spPr>
          <a:xfrm>
            <a:off x="365760" y="4069080"/>
            <a:ext cx="54864" cy="731520"/>
          </a:xfrm>
          <a:prstGeom prst="rect">
            <a:avLst/>
          </a:prstGeom>
          <a:solidFill>
            <a:srgbClr val="00E676"/>
          </a:solidFill>
          <a:ln/>
        </p:spPr>
      </p:sp>
      <p:sp>
        <p:nvSpPr>
          <p:cNvPr id="11" name="Text 8"/>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12" name="Text 9"/>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Cold Plate + CDU + Manifold + Quick Connector + Leak Detection = 完整液冷系統</a:t>
            </a:r>
            <a:endParaRPr lang="en-US" sz="1100" dirty="0"/>
          </a:p>
          <a:p>
            <a:pPr marL="342900" indent="-342900">
              <a:buSzPct val="100000"/>
              <a:buChar char="•"/>
            </a:pPr>
            <a:r>
              <a:rPr lang="en-US" sz="1100" dirty="0">
                <a:solidFill>
                  <a:srgbClr val="9CA3AF"/>
                </a:solidFill>
              </a:rPr>
              <a:t>系統整合複雜度是最高附加價值的來源 — 不是單一零件</a:t>
            </a:r>
            <a:endParaRPr lang="en-US" sz="1100" dirty="0"/>
          </a:p>
          <a:p>
            <a:pPr marL="342900" indent="-342900">
              <a:buSzPct val="100000"/>
              <a:buChar char="•"/>
            </a:pPr>
            <a:r>
              <a:rPr lang="en-US" sz="1100" dirty="0">
                <a:solidFill>
                  <a:srgbClr val="9CA3AF"/>
                </a:solidFill>
              </a:rPr>
              <a:t>Vendor 能提供完整系統者，才能拿下最高市佔與毛利</a:t>
            </a:r>
            <a:endParaRPr lang="en-US" sz="1100" dirty="0"/>
          </a:p>
        </p:txBody>
      </p:sp>
      <p:sp>
        <p:nvSpPr>
          <p:cNvPr id="13" name="Text 10"/>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 Industry analysis, TMSBU thermal engineering. Components: CoolIT, Rittal, Staubli public specs.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0E676"/>
          </a:solidFill>
          <a:ln w="12700">
            <a:solidFill>
              <a:srgbClr val="00E676"/>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06</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TMSBU Portfolio Mapping:</a:t>
            </a:r>
            <a:endParaRPr lang="en-US" sz="2800" dirty="0"/>
          </a:p>
          <a:p>
            <a:pPr indent="0" marL="0">
              <a:buNone/>
            </a:pPr>
            <a:r>
              <a:rPr lang="en-US" sz="2800" b="1" dirty="0">
                <a:solidFill>
                  <a:srgbClr val="FFFFFF"/>
                </a:solidFill>
              </a:rPr>
              <a:t>From Component to System Solution</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自然擴張路徑：零件 → 模組 → 系統 → 解決方案</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84048" y="886968"/>
            <a:ext cx="8366760" cy="2971800"/>
          </a:xfrm>
          <a:prstGeom prst="rect">
            <a:avLst/>
          </a:prstGeom>
        </p:spPr>
      </p:pic>
      <p:sp>
        <p:nvSpPr>
          <p:cNvPr id="9" name="Shape 6"/>
          <p:cNvSpPr/>
          <p:nvPr/>
        </p:nvSpPr>
        <p:spPr>
          <a:xfrm>
            <a:off x="365760" y="4069080"/>
            <a:ext cx="8412480" cy="731520"/>
          </a:xfrm>
          <a:prstGeom prst="rect">
            <a:avLst/>
          </a:prstGeom>
          <a:solidFill>
            <a:srgbClr val="00E676">
              <a:alpha val="8000"/>
            </a:srgbClr>
          </a:solidFill>
          <a:ln w="10160">
            <a:solidFill>
              <a:srgbClr val="00E676"/>
            </a:solidFill>
            <a:prstDash val="solid"/>
          </a:ln>
        </p:spPr>
      </p:sp>
      <p:sp>
        <p:nvSpPr>
          <p:cNvPr id="10" name="Shape 7"/>
          <p:cNvSpPr/>
          <p:nvPr/>
        </p:nvSpPr>
        <p:spPr>
          <a:xfrm>
            <a:off x="365760" y="4069080"/>
            <a:ext cx="54864" cy="731520"/>
          </a:xfrm>
          <a:prstGeom prst="rect">
            <a:avLst/>
          </a:prstGeom>
          <a:solidFill>
            <a:srgbClr val="00E676"/>
          </a:solidFill>
          <a:ln/>
        </p:spPr>
      </p:sp>
      <p:sp>
        <p:nvSpPr>
          <p:cNvPr id="11" name="Text 8"/>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12" name="Text 9"/>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CDU + Quick Connector + Manifold = TMSBU 最高價值的擴張方向</a:t>
            </a:r>
            <a:endParaRPr lang="en-US" sz="1100" dirty="0"/>
          </a:p>
          <a:p>
            <a:pPr marL="342900" indent="-342900">
              <a:buSzPct val="100000"/>
              <a:buChar char="•"/>
            </a:pPr>
            <a:r>
              <a:rPr lang="en-US" sz="1100" dirty="0">
                <a:solidFill>
                  <a:srgbClr val="9CA3AF"/>
                </a:solidFill>
              </a:rPr>
              <a:t>從零件報價升級到系統方案統包報價，改變商業模式</a:t>
            </a:r>
            <a:endParaRPr lang="en-US" sz="1100" dirty="0"/>
          </a:p>
          <a:p>
            <a:pPr marL="342900" indent="-342900">
              <a:buSzPct val="100000"/>
              <a:buChar char="•"/>
            </a:pPr>
            <a:r>
              <a:rPr lang="en-US" sz="1100" dirty="0">
                <a:solidFill>
                  <a:srgbClr val="9CA3AF"/>
                </a:solidFill>
              </a:rPr>
              <a:t>目標：成為客戶眼中不可或缺的 Thermal System Partner</a:t>
            </a:r>
            <a:endParaRPr lang="en-US" sz="1100" dirty="0"/>
          </a:p>
        </p:txBody>
      </p:sp>
      <p:sp>
        <p:nvSpPr>
          <p:cNvPr id="13" name="Text 10"/>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 TMSBU internal product portfolio analysis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A855F7"/>
          </a:solidFill>
          <a:ln w="12700">
            <a:solidFill>
              <a:srgbClr val="A855F7"/>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07</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Delta Group Synergy:</a:t>
            </a:r>
            <a:endParaRPr lang="en-US" sz="2800" dirty="0"/>
          </a:p>
          <a:p>
            <a:pPr indent="0" marL="0">
              <a:buNone/>
            </a:pPr>
            <a:r>
              <a:rPr lang="en-US" sz="2800" b="1" dirty="0">
                <a:solidFill>
                  <a:srgbClr val="FFFFFF"/>
                </a:solidFill>
              </a:rPr>
              <a:t>Why TMSBU Can Win in Liquid Cooling</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唯一同時具備風冷與液冷能力的供應商 + Delta 集團層級綜效</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84048" y="886968"/>
            <a:ext cx="8366760" cy="2971800"/>
          </a:xfrm>
          <a:prstGeom prst="rect">
            <a:avLst/>
          </a:prstGeom>
        </p:spPr>
      </p:pic>
      <p:sp>
        <p:nvSpPr>
          <p:cNvPr id="9" name="Shape 6"/>
          <p:cNvSpPr/>
          <p:nvPr/>
        </p:nvSpPr>
        <p:spPr>
          <a:xfrm>
            <a:off x="365760" y="4069080"/>
            <a:ext cx="8412480" cy="731520"/>
          </a:xfrm>
          <a:prstGeom prst="rect">
            <a:avLst/>
          </a:prstGeom>
          <a:solidFill>
            <a:srgbClr val="A855F7">
              <a:alpha val="8000"/>
            </a:srgbClr>
          </a:solidFill>
          <a:ln w="10160">
            <a:solidFill>
              <a:srgbClr val="A855F7"/>
            </a:solidFill>
            <a:prstDash val="solid"/>
          </a:ln>
        </p:spPr>
      </p:sp>
      <p:sp>
        <p:nvSpPr>
          <p:cNvPr id="10" name="Shape 7"/>
          <p:cNvSpPr/>
          <p:nvPr/>
        </p:nvSpPr>
        <p:spPr>
          <a:xfrm>
            <a:off x="365760" y="4069080"/>
            <a:ext cx="54864" cy="731520"/>
          </a:xfrm>
          <a:prstGeom prst="rect">
            <a:avLst/>
          </a:prstGeom>
          <a:solidFill>
            <a:srgbClr val="A855F7"/>
          </a:solidFill>
          <a:ln/>
        </p:spPr>
      </p:sp>
      <p:sp>
        <p:nvSpPr>
          <p:cNvPr id="11" name="Text 8"/>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A855F7"/>
                </a:solidFill>
              </a:rPr>
              <a:t>KEY INSIGHTS</a:t>
            </a:r>
            <a:endParaRPr lang="en-US" sz="700" dirty="0"/>
          </a:p>
        </p:txBody>
      </p:sp>
      <p:sp>
        <p:nvSpPr>
          <p:cNvPr id="12" name="Text 9"/>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Delta 集團唯一能 Chip-level → Rack-level → Facility-level 全段熱管理整合</a:t>
            </a:r>
            <a:endParaRPr lang="en-US" sz="1100" dirty="0"/>
          </a:p>
          <a:p>
            <a:pPr marL="342900" indent="-342900">
              <a:buSzPct val="100000"/>
              <a:buChar char="•"/>
            </a:pPr>
            <a:r>
              <a:rPr lang="en-US" sz="1100" dirty="0">
                <a:solidFill>
                  <a:srgbClr val="9CA3AF"/>
                </a:solidFill>
              </a:rPr>
              <a:t>Fan + Power + Control + DC Infra 集團綜效為競爭對手無法快速複製的護城河</a:t>
            </a:r>
            <a:endParaRPr lang="en-US" sz="1100" dirty="0"/>
          </a:p>
          <a:p>
            <a:pPr marL="342900" indent="-342900">
              <a:buSzPct val="100000"/>
              <a:buChar char="•"/>
            </a:pPr>
            <a:r>
              <a:rPr lang="en-US" sz="1100" dirty="0">
                <a:solidFill>
                  <a:srgbClr val="9CA3AF"/>
                </a:solidFill>
              </a:rPr>
              <a:t>Manufacturing scale + Global support network 支撐 Tier-1 客戶信任</a:t>
            </a:r>
            <a:endParaRPr lang="en-US" sz="1100" dirty="0"/>
          </a:p>
        </p:txBody>
      </p:sp>
      <p:sp>
        <p:nvSpPr>
          <p:cNvPr id="13" name="Text 10"/>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 Delta Electronics public information, TMSBU analysis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A855F7"/>
          </a:solidFill>
          <a:ln w="12700">
            <a:solidFill>
              <a:srgbClr val="A855F7"/>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08</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Market Opportunity: TAM / SAM / SOM</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系統層級解決方案擴大 TMSBU 可觸及市場規模</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84048" y="886968"/>
            <a:ext cx="8366760" cy="2971800"/>
          </a:xfrm>
          <a:prstGeom prst="rect">
            <a:avLst/>
          </a:prstGeom>
        </p:spPr>
      </p:pic>
      <p:sp>
        <p:nvSpPr>
          <p:cNvPr id="9" name="Shape 6"/>
          <p:cNvSpPr/>
          <p:nvPr/>
        </p:nvSpPr>
        <p:spPr>
          <a:xfrm>
            <a:off x="365760" y="4069080"/>
            <a:ext cx="8412480" cy="731520"/>
          </a:xfrm>
          <a:prstGeom prst="rect">
            <a:avLst/>
          </a:prstGeom>
          <a:solidFill>
            <a:srgbClr val="A855F7">
              <a:alpha val="8000"/>
            </a:srgbClr>
          </a:solidFill>
          <a:ln w="10160">
            <a:solidFill>
              <a:srgbClr val="A855F7"/>
            </a:solidFill>
            <a:prstDash val="solid"/>
          </a:ln>
        </p:spPr>
      </p:sp>
      <p:sp>
        <p:nvSpPr>
          <p:cNvPr id="10" name="Shape 7"/>
          <p:cNvSpPr/>
          <p:nvPr/>
        </p:nvSpPr>
        <p:spPr>
          <a:xfrm>
            <a:off x="365760" y="4069080"/>
            <a:ext cx="54864" cy="731520"/>
          </a:xfrm>
          <a:prstGeom prst="rect">
            <a:avLst/>
          </a:prstGeom>
          <a:solidFill>
            <a:srgbClr val="A855F7"/>
          </a:solidFill>
          <a:ln/>
        </p:spPr>
      </p:sp>
      <p:sp>
        <p:nvSpPr>
          <p:cNvPr id="11" name="Text 8"/>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A855F7"/>
                </a:solidFill>
              </a:rPr>
              <a:t>KEY INSIGHTS</a:t>
            </a:r>
            <a:endParaRPr lang="en-US" sz="700" dirty="0"/>
          </a:p>
        </p:txBody>
      </p:sp>
      <p:sp>
        <p:nvSpPr>
          <p:cNvPr id="12" name="Text 9"/>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TAM $39.1B（M&amp;M 2024）涵蓋整個 AI 資料中心液冷市場</a:t>
            </a:r>
            <a:endParaRPr lang="en-US" sz="1100" dirty="0"/>
          </a:p>
          <a:p>
            <a:pPr marL="342900" indent="-342900">
              <a:buSzPct val="100000"/>
              <a:buChar char="•"/>
            </a:pPr>
            <a:r>
              <a:rPr lang="en-US" sz="1100" dirty="0">
                <a:solidFill>
                  <a:srgbClr val="9CA3AF"/>
                </a:solidFill>
              </a:rPr>
              <a:t>SOM = 假設 TMSBU 滲透率 14% of SAM，需要 James 內部驗證</a:t>
            </a:r>
            <a:endParaRPr lang="en-US" sz="1100" dirty="0"/>
          </a:p>
          <a:p>
            <a:pPr marL="342900" indent="-342900">
              <a:buSzPct val="100000"/>
              <a:buChar char="•"/>
            </a:pPr>
            <a:r>
              <a:rPr lang="en-US" sz="1100" dirty="0">
                <a:solidFill>
                  <a:srgbClr val="9CA3AF"/>
                </a:solidFill>
              </a:rPr>
              <a:t>3 情境：保守 $0.8B / 基準 $1.8B / 積極 $3.2B — 取決於 TMSBU 執行速度</a:t>
            </a:r>
            <a:endParaRPr lang="en-US" sz="1100" dirty="0"/>
          </a:p>
        </p:txBody>
      </p:sp>
      <p:sp>
        <p:nvSpPr>
          <p:cNvPr id="13" name="Text 10"/>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 SOM figures are assumptions — need internal TMSBU validation. TAM: MarketsandMarkets. SAM: analyst estimate (~33% of TAM). Scenarios: TMSBU analysis.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EF4444"/>
          </a:solidFill>
          <a:ln w="12700">
            <a:solidFill>
              <a:srgbClr val="EF4444"/>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09</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Capability Gap &amp; Risk Assessment</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3 項最高優先風險：CDU 能力 / 洩漏可靠性 / 客戶認證週期</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274320"/>
          </a:xfrm>
          <a:prstGeom prst="rect">
            <a:avLst/>
          </a:prstGeom>
          <a:solidFill>
            <a:srgbClr val="1E293B"/>
          </a:solidFill>
          <a:ln w="6350">
            <a:solidFill>
              <a:srgbClr val="374151"/>
            </a:solidFill>
            <a:prstDash val="solid"/>
          </a:ln>
        </p:spPr>
      </p:sp>
      <p:sp>
        <p:nvSpPr>
          <p:cNvPr id="8" name="Text 6"/>
          <p:cNvSpPr/>
          <p:nvPr/>
        </p:nvSpPr>
        <p:spPr>
          <a:xfrm>
            <a:off x="365760" y="868680"/>
            <a:ext cx="3337560" cy="274320"/>
          </a:xfrm>
          <a:prstGeom prst="rect">
            <a:avLst/>
          </a:prstGeom>
          <a:noFill/>
          <a:ln/>
        </p:spPr>
        <p:txBody>
          <a:bodyPr wrap="square" lIns="0" tIns="0" rIns="0" bIns="0" rtlCol="0" anchor="ctr"/>
          <a:lstStyle/>
          <a:p>
            <a:pPr indent="0" marL="0">
              <a:buNone/>
            </a:pPr>
            <a:r>
              <a:rPr lang="en-US" sz="850" b="1" dirty="0">
                <a:solidFill>
                  <a:srgbClr val="00E5FF"/>
                </a:solidFill>
              </a:rPr>
              <a:t>Risk Item</a:t>
            </a:r>
            <a:endParaRPr lang="en-US" sz="850" dirty="0"/>
          </a:p>
        </p:txBody>
      </p:sp>
      <p:sp>
        <p:nvSpPr>
          <p:cNvPr id="9" name="Text 7"/>
          <p:cNvSpPr/>
          <p:nvPr/>
        </p:nvSpPr>
        <p:spPr>
          <a:xfrm>
            <a:off x="3794760" y="868680"/>
            <a:ext cx="777240" cy="274320"/>
          </a:xfrm>
          <a:prstGeom prst="rect">
            <a:avLst/>
          </a:prstGeom>
          <a:noFill/>
          <a:ln/>
        </p:spPr>
        <p:txBody>
          <a:bodyPr wrap="square" lIns="0" tIns="0" rIns="0" bIns="0" rtlCol="0" anchor="ctr"/>
          <a:lstStyle/>
          <a:p>
            <a:pPr indent="0" marL="0">
              <a:buNone/>
            </a:pPr>
            <a:r>
              <a:rPr lang="en-US" sz="850" b="1" dirty="0">
                <a:solidFill>
                  <a:srgbClr val="00E5FF"/>
                </a:solidFill>
              </a:rPr>
              <a:t>Impact</a:t>
            </a:r>
            <a:endParaRPr lang="en-US" sz="850" dirty="0"/>
          </a:p>
        </p:txBody>
      </p:sp>
      <p:sp>
        <p:nvSpPr>
          <p:cNvPr id="10" name="Text 8"/>
          <p:cNvSpPr/>
          <p:nvPr/>
        </p:nvSpPr>
        <p:spPr>
          <a:xfrm>
            <a:off x="4617720" y="868680"/>
            <a:ext cx="822960" cy="274320"/>
          </a:xfrm>
          <a:prstGeom prst="rect">
            <a:avLst/>
          </a:prstGeom>
          <a:noFill/>
          <a:ln/>
        </p:spPr>
        <p:txBody>
          <a:bodyPr wrap="square" lIns="0" tIns="0" rIns="0" bIns="0" rtlCol="0" anchor="ctr"/>
          <a:lstStyle/>
          <a:p>
            <a:pPr indent="0" marL="0">
              <a:buNone/>
            </a:pPr>
            <a:r>
              <a:rPr lang="en-US" sz="850" b="1" dirty="0">
                <a:solidFill>
                  <a:srgbClr val="00E5FF"/>
                </a:solidFill>
              </a:rPr>
              <a:t>Urgency</a:t>
            </a:r>
            <a:endParaRPr lang="en-US" sz="850" dirty="0"/>
          </a:p>
        </p:txBody>
      </p:sp>
      <p:sp>
        <p:nvSpPr>
          <p:cNvPr id="11" name="Text 9"/>
          <p:cNvSpPr/>
          <p:nvPr/>
        </p:nvSpPr>
        <p:spPr>
          <a:xfrm>
            <a:off x="5486400" y="868680"/>
            <a:ext cx="3291840" cy="274320"/>
          </a:xfrm>
          <a:prstGeom prst="rect">
            <a:avLst/>
          </a:prstGeom>
          <a:noFill/>
          <a:ln/>
        </p:spPr>
        <p:txBody>
          <a:bodyPr wrap="square" lIns="0" tIns="0" rIns="0" bIns="0" rtlCol="0" anchor="ctr"/>
          <a:lstStyle/>
          <a:p>
            <a:pPr indent="0" marL="0">
              <a:buNone/>
            </a:pPr>
            <a:r>
              <a:rPr lang="en-US" sz="850" b="1" dirty="0">
                <a:solidFill>
                  <a:srgbClr val="00E5FF"/>
                </a:solidFill>
              </a:rPr>
              <a:t>Priority Action</a:t>
            </a:r>
            <a:endParaRPr lang="en-US" sz="850" dirty="0"/>
          </a:p>
        </p:txBody>
      </p:sp>
      <p:sp>
        <p:nvSpPr>
          <p:cNvPr id="12" name="Shape 10"/>
          <p:cNvSpPr/>
          <p:nvPr/>
        </p:nvSpPr>
        <p:spPr>
          <a:xfrm>
            <a:off x="365760" y="1143000"/>
            <a:ext cx="8412480" cy="274320"/>
          </a:xfrm>
          <a:prstGeom prst="rect">
            <a:avLst/>
          </a:prstGeom>
          <a:solidFill>
            <a:srgbClr val="111827"/>
          </a:solidFill>
          <a:ln w="3810">
            <a:solidFill>
              <a:srgbClr val="1E293B"/>
            </a:solidFill>
            <a:prstDash val="solid"/>
          </a:ln>
        </p:spPr>
      </p:sp>
      <p:sp>
        <p:nvSpPr>
          <p:cNvPr id="13" name="Text 11"/>
          <p:cNvSpPr/>
          <p:nvPr/>
        </p:nvSpPr>
        <p:spPr>
          <a:xfrm>
            <a:off x="365760" y="1143000"/>
            <a:ext cx="3337560" cy="274320"/>
          </a:xfrm>
          <a:prstGeom prst="rect">
            <a:avLst/>
          </a:prstGeom>
          <a:noFill/>
          <a:ln/>
        </p:spPr>
        <p:txBody>
          <a:bodyPr wrap="square" lIns="0" tIns="0" rIns="0" bIns="0" rtlCol="0" anchor="ctr"/>
          <a:lstStyle/>
          <a:p>
            <a:pPr indent="0" marL="0">
              <a:buNone/>
            </a:pPr>
            <a:r>
              <a:rPr lang="en-US" sz="800" dirty="0">
                <a:solidFill>
                  <a:srgbClr val="FFFFFF"/>
                </a:solidFill>
              </a:rPr>
              <a:t>CDU Design &amp; Manufacturing</a:t>
            </a:r>
            <a:endParaRPr lang="en-US" sz="800" dirty="0"/>
          </a:p>
        </p:txBody>
      </p:sp>
      <p:sp>
        <p:nvSpPr>
          <p:cNvPr id="14" name="Shape 12"/>
          <p:cNvSpPr/>
          <p:nvPr/>
        </p:nvSpPr>
        <p:spPr>
          <a:xfrm>
            <a:off x="3840480" y="1188720"/>
            <a:ext cx="685800" cy="182880"/>
          </a:xfrm>
          <a:prstGeom prst="rect">
            <a:avLst/>
          </a:prstGeom>
          <a:solidFill>
            <a:srgbClr val="EF4444">
              <a:alpha val="30000"/>
            </a:srgbClr>
          </a:solidFill>
          <a:ln w="10160">
            <a:solidFill>
              <a:srgbClr val="EF4444"/>
            </a:solidFill>
            <a:prstDash val="solid"/>
          </a:ln>
        </p:spPr>
      </p:sp>
      <p:sp>
        <p:nvSpPr>
          <p:cNvPr id="15" name="Text 13"/>
          <p:cNvSpPr/>
          <p:nvPr/>
        </p:nvSpPr>
        <p:spPr>
          <a:xfrm>
            <a:off x="3794760" y="1143000"/>
            <a:ext cx="77724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16" name="Shape 14"/>
          <p:cNvSpPr/>
          <p:nvPr/>
        </p:nvSpPr>
        <p:spPr>
          <a:xfrm>
            <a:off x="4663440" y="1188720"/>
            <a:ext cx="731520" cy="182880"/>
          </a:xfrm>
          <a:prstGeom prst="rect">
            <a:avLst/>
          </a:prstGeom>
          <a:solidFill>
            <a:srgbClr val="EF4444">
              <a:alpha val="30000"/>
            </a:srgbClr>
          </a:solidFill>
          <a:ln w="10160">
            <a:solidFill>
              <a:srgbClr val="EF4444"/>
            </a:solidFill>
            <a:prstDash val="solid"/>
          </a:ln>
        </p:spPr>
      </p:sp>
      <p:sp>
        <p:nvSpPr>
          <p:cNvPr id="17" name="Text 15"/>
          <p:cNvSpPr/>
          <p:nvPr/>
        </p:nvSpPr>
        <p:spPr>
          <a:xfrm>
            <a:off x="4617720" y="1143000"/>
            <a:ext cx="82296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18" name="Text 16"/>
          <p:cNvSpPr/>
          <p:nvPr/>
        </p:nvSpPr>
        <p:spPr>
          <a:xfrm>
            <a:off x="5486400" y="1143000"/>
            <a:ext cx="3291840" cy="274320"/>
          </a:xfrm>
          <a:prstGeom prst="rect">
            <a:avLst/>
          </a:prstGeom>
          <a:noFill/>
          <a:ln/>
        </p:spPr>
        <p:txBody>
          <a:bodyPr wrap="square" lIns="0" tIns="0" rIns="0" bIns="0" rtlCol="0" anchor="ctr"/>
          <a:lstStyle/>
          <a:p>
            <a:pPr indent="0" marL="0">
              <a:buNone/>
            </a:pPr>
            <a:r>
              <a:rPr lang="en-US" sz="750" dirty="0">
                <a:solidFill>
                  <a:srgbClr val="9CA3AF"/>
                </a:solidFill>
              </a:rPr>
              <a:t>核心系統零件。合作或收購，Phase 1 決策</a:t>
            </a:r>
            <a:endParaRPr lang="en-US" sz="750" dirty="0"/>
          </a:p>
        </p:txBody>
      </p:sp>
      <p:sp>
        <p:nvSpPr>
          <p:cNvPr id="19" name="Shape 17"/>
          <p:cNvSpPr/>
          <p:nvPr/>
        </p:nvSpPr>
        <p:spPr>
          <a:xfrm>
            <a:off x="365760" y="1417320"/>
            <a:ext cx="8412480" cy="274320"/>
          </a:xfrm>
          <a:prstGeom prst="rect">
            <a:avLst/>
          </a:prstGeom>
          <a:solidFill>
            <a:srgbClr val="0D1117"/>
          </a:solidFill>
          <a:ln w="3810">
            <a:solidFill>
              <a:srgbClr val="1E293B"/>
            </a:solidFill>
            <a:prstDash val="solid"/>
          </a:ln>
        </p:spPr>
      </p:sp>
      <p:sp>
        <p:nvSpPr>
          <p:cNvPr id="20" name="Text 18"/>
          <p:cNvSpPr/>
          <p:nvPr/>
        </p:nvSpPr>
        <p:spPr>
          <a:xfrm>
            <a:off x="365760" y="1417320"/>
            <a:ext cx="3337560" cy="274320"/>
          </a:xfrm>
          <a:prstGeom prst="rect">
            <a:avLst/>
          </a:prstGeom>
          <a:noFill/>
          <a:ln/>
        </p:spPr>
        <p:txBody>
          <a:bodyPr wrap="square" lIns="0" tIns="0" rIns="0" bIns="0" rtlCol="0" anchor="ctr"/>
          <a:lstStyle/>
          <a:p>
            <a:pPr indent="0" marL="0">
              <a:buNone/>
            </a:pPr>
            <a:r>
              <a:rPr lang="en-US" sz="800" dirty="0">
                <a:solidFill>
                  <a:srgbClr val="FFFFFF"/>
                </a:solidFill>
              </a:rPr>
              <a:t>Leak Detection &amp; Reliability</a:t>
            </a:r>
            <a:endParaRPr lang="en-US" sz="800" dirty="0"/>
          </a:p>
        </p:txBody>
      </p:sp>
      <p:sp>
        <p:nvSpPr>
          <p:cNvPr id="21" name="Shape 19"/>
          <p:cNvSpPr/>
          <p:nvPr/>
        </p:nvSpPr>
        <p:spPr>
          <a:xfrm>
            <a:off x="3840480" y="1463040"/>
            <a:ext cx="685800" cy="182880"/>
          </a:xfrm>
          <a:prstGeom prst="rect">
            <a:avLst/>
          </a:prstGeom>
          <a:solidFill>
            <a:srgbClr val="EF4444">
              <a:alpha val="30000"/>
            </a:srgbClr>
          </a:solidFill>
          <a:ln w="10160">
            <a:solidFill>
              <a:srgbClr val="EF4444"/>
            </a:solidFill>
            <a:prstDash val="solid"/>
          </a:ln>
        </p:spPr>
      </p:sp>
      <p:sp>
        <p:nvSpPr>
          <p:cNvPr id="22" name="Text 20"/>
          <p:cNvSpPr/>
          <p:nvPr/>
        </p:nvSpPr>
        <p:spPr>
          <a:xfrm>
            <a:off x="3794760" y="1417320"/>
            <a:ext cx="77724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23" name="Shape 21"/>
          <p:cNvSpPr/>
          <p:nvPr/>
        </p:nvSpPr>
        <p:spPr>
          <a:xfrm>
            <a:off x="4663440" y="1463040"/>
            <a:ext cx="731520" cy="182880"/>
          </a:xfrm>
          <a:prstGeom prst="rect">
            <a:avLst/>
          </a:prstGeom>
          <a:solidFill>
            <a:srgbClr val="EF4444">
              <a:alpha val="30000"/>
            </a:srgbClr>
          </a:solidFill>
          <a:ln w="10160">
            <a:solidFill>
              <a:srgbClr val="EF4444"/>
            </a:solidFill>
            <a:prstDash val="solid"/>
          </a:ln>
        </p:spPr>
      </p:sp>
      <p:sp>
        <p:nvSpPr>
          <p:cNvPr id="24" name="Text 22"/>
          <p:cNvSpPr/>
          <p:nvPr/>
        </p:nvSpPr>
        <p:spPr>
          <a:xfrm>
            <a:off x="4617720" y="1417320"/>
            <a:ext cx="82296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25" name="Text 23"/>
          <p:cNvSpPr/>
          <p:nvPr/>
        </p:nvSpPr>
        <p:spPr>
          <a:xfrm>
            <a:off x="5486400" y="1417320"/>
            <a:ext cx="3291840" cy="274320"/>
          </a:xfrm>
          <a:prstGeom prst="rect">
            <a:avLst/>
          </a:prstGeom>
          <a:noFill/>
          <a:ln/>
        </p:spPr>
        <p:txBody>
          <a:bodyPr wrap="square" lIns="0" tIns="0" rIns="0" bIns="0" rtlCol="0" anchor="ctr"/>
          <a:lstStyle/>
          <a:p>
            <a:pPr indent="0" marL="0">
              <a:buNone/>
            </a:pPr>
            <a:r>
              <a:rPr lang="en-US" sz="750" dirty="0">
                <a:solidFill>
                  <a:srgbClr val="9CA3AF"/>
                </a:solidFill>
              </a:rPr>
              <a:t>單次洩漏可摧毀 $50萬 server。可靠性 non-negotiable</a:t>
            </a:r>
            <a:endParaRPr lang="en-US" sz="750" dirty="0"/>
          </a:p>
        </p:txBody>
      </p:sp>
      <p:sp>
        <p:nvSpPr>
          <p:cNvPr id="26" name="Shape 24"/>
          <p:cNvSpPr/>
          <p:nvPr/>
        </p:nvSpPr>
        <p:spPr>
          <a:xfrm>
            <a:off x="365760" y="1691640"/>
            <a:ext cx="8412480" cy="274320"/>
          </a:xfrm>
          <a:prstGeom prst="rect">
            <a:avLst/>
          </a:prstGeom>
          <a:solidFill>
            <a:srgbClr val="111827"/>
          </a:solidFill>
          <a:ln w="3810">
            <a:solidFill>
              <a:srgbClr val="1E293B"/>
            </a:solidFill>
            <a:prstDash val="solid"/>
          </a:ln>
        </p:spPr>
      </p:sp>
      <p:sp>
        <p:nvSpPr>
          <p:cNvPr id="27" name="Text 25"/>
          <p:cNvSpPr/>
          <p:nvPr/>
        </p:nvSpPr>
        <p:spPr>
          <a:xfrm>
            <a:off x="365760" y="1691640"/>
            <a:ext cx="3337560" cy="274320"/>
          </a:xfrm>
          <a:prstGeom prst="rect">
            <a:avLst/>
          </a:prstGeom>
          <a:noFill/>
          <a:ln/>
        </p:spPr>
        <p:txBody>
          <a:bodyPr wrap="square" lIns="0" tIns="0" rIns="0" bIns="0" rtlCol="0" anchor="ctr"/>
          <a:lstStyle/>
          <a:p>
            <a:pPr indent="0" marL="0">
              <a:buNone/>
            </a:pPr>
            <a:r>
              <a:rPr lang="en-US" sz="800" dirty="0">
                <a:solidFill>
                  <a:srgbClr val="FFFFFF"/>
                </a:solidFill>
              </a:rPr>
              <a:t>Customer Qualification Cycle</a:t>
            </a:r>
            <a:endParaRPr lang="en-US" sz="800" dirty="0"/>
          </a:p>
        </p:txBody>
      </p:sp>
      <p:sp>
        <p:nvSpPr>
          <p:cNvPr id="28" name="Shape 26"/>
          <p:cNvSpPr/>
          <p:nvPr/>
        </p:nvSpPr>
        <p:spPr>
          <a:xfrm>
            <a:off x="3840480" y="1737360"/>
            <a:ext cx="685800" cy="182880"/>
          </a:xfrm>
          <a:prstGeom prst="rect">
            <a:avLst/>
          </a:prstGeom>
          <a:solidFill>
            <a:srgbClr val="F59E0B">
              <a:alpha val="30000"/>
            </a:srgbClr>
          </a:solidFill>
          <a:ln w="10160">
            <a:solidFill>
              <a:srgbClr val="F59E0B"/>
            </a:solidFill>
            <a:prstDash val="solid"/>
          </a:ln>
        </p:spPr>
      </p:sp>
      <p:sp>
        <p:nvSpPr>
          <p:cNvPr id="29" name="Text 27"/>
          <p:cNvSpPr/>
          <p:nvPr/>
        </p:nvSpPr>
        <p:spPr>
          <a:xfrm>
            <a:off x="3794760" y="169164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30" name="Shape 28"/>
          <p:cNvSpPr/>
          <p:nvPr/>
        </p:nvSpPr>
        <p:spPr>
          <a:xfrm>
            <a:off x="4663440" y="1737360"/>
            <a:ext cx="731520" cy="182880"/>
          </a:xfrm>
          <a:prstGeom prst="rect">
            <a:avLst/>
          </a:prstGeom>
          <a:solidFill>
            <a:srgbClr val="EF4444">
              <a:alpha val="30000"/>
            </a:srgbClr>
          </a:solidFill>
          <a:ln w="10160">
            <a:solidFill>
              <a:srgbClr val="EF4444"/>
            </a:solidFill>
            <a:prstDash val="solid"/>
          </a:ln>
        </p:spPr>
      </p:sp>
      <p:sp>
        <p:nvSpPr>
          <p:cNvPr id="31" name="Text 29"/>
          <p:cNvSpPr/>
          <p:nvPr/>
        </p:nvSpPr>
        <p:spPr>
          <a:xfrm>
            <a:off x="4617720" y="1691640"/>
            <a:ext cx="82296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32" name="Text 30"/>
          <p:cNvSpPr/>
          <p:nvPr/>
        </p:nvSpPr>
        <p:spPr>
          <a:xfrm>
            <a:off x="5486400" y="1691640"/>
            <a:ext cx="3291840" cy="274320"/>
          </a:xfrm>
          <a:prstGeom prst="rect">
            <a:avLst/>
          </a:prstGeom>
          <a:noFill/>
          <a:ln/>
        </p:spPr>
        <p:txBody>
          <a:bodyPr wrap="square" lIns="0" tIns="0" rIns="0" bIns="0" rtlCol="0" anchor="ctr"/>
          <a:lstStyle/>
          <a:p>
            <a:pPr indent="0" marL="0">
              <a:buNone/>
            </a:pPr>
            <a:r>
              <a:rPr lang="en-US" sz="750" dirty="0">
                <a:solidFill>
                  <a:srgbClr val="9CA3AF"/>
                </a:solidFill>
              </a:rPr>
              <a:t>12-18 個月 design-in cycles。立即啟動</a:t>
            </a:r>
            <a:endParaRPr lang="en-US" sz="750" dirty="0"/>
          </a:p>
        </p:txBody>
      </p:sp>
      <p:sp>
        <p:nvSpPr>
          <p:cNvPr id="33" name="Shape 31"/>
          <p:cNvSpPr/>
          <p:nvPr/>
        </p:nvSpPr>
        <p:spPr>
          <a:xfrm>
            <a:off x="365760" y="1965960"/>
            <a:ext cx="8412480" cy="274320"/>
          </a:xfrm>
          <a:prstGeom prst="rect">
            <a:avLst/>
          </a:prstGeom>
          <a:solidFill>
            <a:srgbClr val="0D1117"/>
          </a:solidFill>
          <a:ln w="3810">
            <a:solidFill>
              <a:srgbClr val="1E293B"/>
            </a:solidFill>
            <a:prstDash val="solid"/>
          </a:ln>
        </p:spPr>
      </p:sp>
      <p:sp>
        <p:nvSpPr>
          <p:cNvPr id="34" name="Text 32"/>
          <p:cNvSpPr/>
          <p:nvPr/>
        </p:nvSpPr>
        <p:spPr>
          <a:xfrm>
            <a:off x="365760" y="1965960"/>
            <a:ext cx="3337560" cy="274320"/>
          </a:xfrm>
          <a:prstGeom prst="rect">
            <a:avLst/>
          </a:prstGeom>
          <a:noFill/>
          <a:ln/>
        </p:spPr>
        <p:txBody>
          <a:bodyPr wrap="square" lIns="0" tIns="0" rIns="0" bIns="0" rtlCol="0" anchor="ctr"/>
          <a:lstStyle/>
          <a:p>
            <a:pPr indent="0" marL="0">
              <a:buNone/>
            </a:pPr>
            <a:r>
              <a:rPr lang="en-US" sz="800" dirty="0">
                <a:solidFill>
                  <a:srgbClr val="FFFFFF"/>
                </a:solidFill>
              </a:rPr>
              <a:t>Quick Connector Qualification</a:t>
            </a:r>
            <a:endParaRPr lang="en-US" sz="800" dirty="0"/>
          </a:p>
        </p:txBody>
      </p:sp>
      <p:sp>
        <p:nvSpPr>
          <p:cNvPr id="35" name="Shape 33"/>
          <p:cNvSpPr/>
          <p:nvPr/>
        </p:nvSpPr>
        <p:spPr>
          <a:xfrm>
            <a:off x="3840480" y="2011680"/>
            <a:ext cx="685800" cy="182880"/>
          </a:xfrm>
          <a:prstGeom prst="rect">
            <a:avLst/>
          </a:prstGeom>
          <a:solidFill>
            <a:srgbClr val="EF4444">
              <a:alpha val="30000"/>
            </a:srgbClr>
          </a:solidFill>
          <a:ln w="10160">
            <a:solidFill>
              <a:srgbClr val="EF4444"/>
            </a:solidFill>
            <a:prstDash val="solid"/>
          </a:ln>
        </p:spPr>
      </p:sp>
      <p:sp>
        <p:nvSpPr>
          <p:cNvPr id="36" name="Text 34"/>
          <p:cNvSpPr/>
          <p:nvPr/>
        </p:nvSpPr>
        <p:spPr>
          <a:xfrm>
            <a:off x="3794760" y="1965960"/>
            <a:ext cx="77724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37" name="Shape 35"/>
          <p:cNvSpPr/>
          <p:nvPr/>
        </p:nvSpPr>
        <p:spPr>
          <a:xfrm>
            <a:off x="4663440" y="2011680"/>
            <a:ext cx="731520" cy="182880"/>
          </a:xfrm>
          <a:prstGeom prst="rect">
            <a:avLst/>
          </a:prstGeom>
          <a:solidFill>
            <a:srgbClr val="F59E0B">
              <a:alpha val="30000"/>
            </a:srgbClr>
          </a:solidFill>
          <a:ln w="10160">
            <a:solidFill>
              <a:srgbClr val="F59E0B"/>
            </a:solidFill>
            <a:prstDash val="solid"/>
          </a:ln>
        </p:spPr>
      </p:sp>
      <p:sp>
        <p:nvSpPr>
          <p:cNvPr id="38" name="Text 36"/>
          <p:cNvSpPr/>
          <p:nvPr/>
        </p:nvSpPr>
        <p:spPr>
          <a:xfrm>
            <a:off x="4617720" y="196596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39" name="Text 37"/>
          <p:cNvSpPr/>
          <p:nvPr/>
        </p:nvSpPr>
        <p:spPr>
          <a:xfrm>
            <a:off x="5486400" y="1965960"/>
            <a:ext cx="3291840" cy="274320"/>
          </a:xfrm>
          <a:prstGeom prst="rect">
            <a:avLst/>
          </a:prstGeom>
          <a:noFill/>
          <a:ln/>
        </p:spPr>
        <p:txBody>
          <a:bodyPr wrap="square" lIns="0" tIns="0" rIns="0" bIns="0" rtlCol="0" anchor="ctr"/>
          <a:lstStyle/>
          <a:p>
            <a:pPr indent="0" marL="0">
              <a:buNone/>
            </a:pPr>
            <a:r>
              <a:rPr lang="en-US" sz="750" dirty="0">
                <a:solidFill>
                  <a:srgbClr val="9CA3AF"/>
                </a:solidFill>
              </a:rPr>
              <a:t>Staubli/Liiver 夥伴關係確認</a:t>
            </a:r>
            <a:endParaRPr lang="en-US" sz="750" dirty="0"/>
          </a:p>
        </p:txBody>
      </p:sp>
      <p:sp>
        <p:nvSpPr>
          <p:cNvPr id="40" name="Shape 38"/>
          <p:cNvSpPr/>
          <p:nvPr/>
        </p:nvSpPr>
        <p:spPr>
          <a:xfrm>
            <a:off x="365760" y="2240280"/>
            <a:ext cx="8412480" cy="274320"/>
          </a:xfrm>
          <a:prstGeom prst="rect">
            <a:avLst/>
          </a:prstGeom>
          <a:solidFill>
            <a:srgbClr val="111827"/>
          </a:solidFill>
          <a:ln w="3810">
            <a:solidFill>
              <a:srgbClr val="1E293B"/>
            </a:solidFill>
            <a:prstDash val="solid"/>
          </a:ln>
        </p:spPr>
      </p:sp>
      <p:sp>
        <p:nvSpPr>
          <p:cNvPr id="41" name="Text 39"/>
          <p:cNvSpPr/>
          <p:nvPr/>
        </p:nvSpPr>
        <p:spPr>
          <a:xfrm>
            <a:off x="365760" y="2240280"/>
            <a:ext cx="3337560" cy="274320"/>
          </a:xfrm>
          <a:prstGeom prst="rect">
            <a:avLst/>
          </a:prstGeom>
          <a:noFill/>
          <a:ln/>
        </p:spPr>
        <p:txBody>
          <a:bodyPr wrap="square" lIns="0" tIns="0" rIns="0" bIns="0" rtlCol="0" anchor="ctr"/>
          <a:lstStyle/>
          <a:p>
            <a:pPr indent="0" marL="0">
              <a:buNone/>
            </a:pPr>
            <a:r>
              <a:rPr lang="en-US" sz="800" dirty="0">
                <a:solidFill>
                  <a:srgbClr val="FFFFFF"/>
                </a:solidFill>
              </a:rPr>
              <a:t>Coolant Compatibility</a:t>
            </a:r>
            <a:endParaRPr lang="en-US" sz="800" dirty="0"/>
          </a:p>
        </p:txBody>
      </p:sp>
      <p:sp>
        <p:nvSpPr>
          <p:cNvPr id="42" name="Shape 40"/>
          <p:cNvSpPr/>
          <p:nvPr/>
        </p:nvSpPr>
        <p:spPr>
          <a:xfrm>
            <a:off x="3840480" y="2286000"/>
            <a:ext cx="685800" cy="182880"/>
          </a:xfrm>
          <a:prstGeom prst="rect">
            <a:avLst/>
          </a:prstGeom>
          <a:solidFill>
            <a:srgbClr val="F59E0B">
              <a:alpha val="30000"/>
            </a:srgbClr>
          </a:solidFill>
          <a:ln w="10160">
            <a:solidFill>
              <a:srgbClr val="F59E0B"/>
            </a:solidFill>
            <a:prstDash val="solid"/>
          </a:ln>
        </p:spPr>
      </p:sp>
      <p:sp>
        <p:nvSpPr>
          <p:cNvPr id="43" name="Text 41"/>
          <p:cNvSpPr/>
          <p:nvPr/>
        </p:nvSpPr>
        <p:spPr>
          <a:xfrm>
            <a:off x="3794760" y="224028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44" name="Shape 42"/>
          <p:cNvSpPr/>
          <p:nvPr/>
        </p:nvSpPr>
        <p:spPr>
          <a:xfrm>
            <a:off x="4663440" y="2286000"/>
            <a:ext cx="731520" cy="182880"/>
          </a:xfrm>
          <a:prstGeom prst="rect">
            <a:avLst/>
          </a:prstGeom>
          <a:solidFill>
            <a:srgbClr val="F59E0B">
              <a:alpha val="30000"/>
            </a:srgbClr>
          </a:solidFill>
          <a:ln w="10160">
            <a:solidFill>
              <a:srgbClr val="F59E0B"/>
            </a:solidFill>
            <a:prstDash val="solid"/>
          </a:ln>
        </p:spPr>
      </p:sp>
      <p:sp>
        <p:nvSpPr>
          <p:cNvPr id="45" name="Text 43"/>
          <p:cNvSpPr/>
          <p:nvPr/>
        </p:nvSpPr>
        <p:spPr>
          <a:xfrm>
            <a:off x="4617720" y="224028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46" name="Text 44"/>
          <p:cNvSpPr/>
          <p:nvPr/>
        </p:nvSpPr>
        <p:spPr>
          <a:xfrm>
            <a:off x="5486400" y="2240280"/>
            <a:ext cx="3291840" cy="274320"/>
          </a:xfrm>
          <a:prstGeom prst="rect">
            <a:avLst/>
          </a:prstGeom>
          <a:noFill/>
          <a:ln/>
        </p:spPr>
        <p:txBody>
          <a:bodyPr wrap="square" lIns="0" tIns="0" rIns="0" bIns="0" rtlCol="0" anchor="ctr"/>
          <a:lstStyle/>
          <a:p>
            <a:pPr indent="0" marL="0">
              <a:buNone/>
            </a:pPr>
            <a:r>
              <a:rPr lang="en-US" sz="750" dirty="0">
                <a:solidFill>
                  <a:srgbClr val="9CA3AF"/>
                </a:solidFill>
              </a:rPr>
              <a:t>OEM 專屬 coolant specs，需早期 engagement</a:t>
            </a:r>
            <a:endParaRPr lang="en-US" sz="750" dirty="0"/>
          </a:p>
        </p:txBody>
      </p:sp>
      <p:sp>
        <p:nvSpPr>
          <p:cNvPr id="47" name="Shape 45"/>
          <p:cNvSpPr/>
          <p:nvPr/>
        </p:nvSpPr>
        <p:spPr>
          <a:xfrm>
            <a:off x="365760" y="2514600"/>
            <a:ext cx="8412480" cy="274320"/>
          </a:xfrm>
          <a:prstGeom prst="rect">
            <a:avLst/>
          </a:prstGeom>
          <a:solidFill>
            <a:srgbClr val="0D1117"/>
          </a:solidFill>
          <a:ln w="3810">
            <a:solidFill>
              <a:srgbClr val="1E293B"/>
            </a:solidFill>
            <a:prstDash val="solid"/>
          </a:ln>
        </p:spPr>
      </p:sp>
      <p:sp>
        <p:nvSpPr>
          <p:cNvPr id="48" name="Text 46"/>
          <p:cNvSpPr/>
          <p:nvPr/>
        </p:nvSpPr>
        <p:spPr>
          <a:xfrm>
            <a:off x="365760" y="2514600"/>
            <a:ext cx="3337560" cy="274320"/>
          </a:xfrm>
          <a:prstGeom prst="rect">
            <a:avLst/>
          </a:prstGeom>
          <a:noFill/>
          <a:ln/>
        </p:spPr>
        <p:txBody>
          <a:bodyPr wrap="square" lIns="0" tIns="0" rIns="0" bIns="0" rtlCol="0" anchor="ctr"/>
          <a:lstStyle/>
          <a:p>
            <a:pPr indent="0" marL="0">
              <a:buNone/>
            </a:pPr>
            <a:r>
              <a:rPr lang="en-US" sz="800" dirty="0">
                <a:solidFill>
                  <a:srgbClr val="FFFFFF"/>
                </a:solidFill>
              </a:rPr>
              <a:t>Thermal Simulation &amp; Testing</a:t>
            </a:r>
            <a:endParaRPr lang="en-US" sz="800" dirty="0"/>
          </a:p>
        </p:txBody>
      </p:sp>
      <p:sp>
        <p:nvSpPr>
          <p:cNvPr id="49" name="Shape 47"/>
          <p:cNvSpPr/>
          <p:nvPr/>
        </p:nvSpPr>
        <p:spPr>
          <a:xfrm>
            <a:off x="3840480" y="2560320"/>
            <a:ext cx="685800" cy="182880"/>
          </a:xfrm>
          <a:prstGeom prst="rect">
            <a:avLst/>
          </a:prstGeom>
          <a:solidFill>
            <a:srgbClr val="F59E0B">
              <a:alpha val="30000"/>
            </a:srgbClr>
          </a:solidFill>
          <a:ln w="10160">
            <a:solidFill>
              <a:srgbClr val="F59E0B"/>
            </a:solidFill>
            <a:prstDash val="solid"/>
          </a:ln>
        </p:spPr>
      </p:sp>
      <p:sp>
        <p:nvSpPr>
          <p:cNvPr id="50" name="Text 48"/>
          <p:cNvSpPr/>
          <p:nvPr/>
        </p:nvSpPr>
        <p:spPr>
          <a:xfrm>
            <a:off x="3794760" y="251460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51" name="Shape 49"/>
          <p:cNvSpPr/>
          <p:nvPr/>
        </p:nvSpPr>
        <p:spPr>
          <a:xfrm>
            <a:off x="4663440" y="2560320"/>
            <a:ext cx="731520" cy="182880"/>
          </a:xfrm>
          <a:prstGeom prst="rect">
            <a:avLst/>
          </a:prstGeom>
          <a:solidFill>
            <a:srgbClr val="F59E0B">
              <a:alpha val="30000"/>
            </a:srgbClr>
          </a:solidFill>
          <a:ln w="10160">
            <a:solidFill>
              <a:srgbClr val="F59E0B"/>
            </a:solidFill>
            <a:prstDash val="solid"/>
          </a:ln>
        </p:spPr>
      </p:sp>
      <p:sp>
        <p:nvSpPr>
          <p:cNvPr id="52" name="Text 50"/>
          <p:cNvSpPr/>
          <p:nvPr/>
        </p:nvSpPr>
        <p:spPr>
          <a:xfrm>
            <a:off x="4617720" y="251460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53" name="Text 51"/>
          <p:cNvSpPr/>
          <p:nvPr/>
        </p:nvSpPr>
        <p:spPr>
          <a:xfrm>
            <a:off x="5486400" y="2514600"/>
            <a:ext cx="3291840" cy="274320"/>
          </a:xfrm>
          <a:prstGeom prst="rect">
            <a:avLst/>
          </a:prstGeom>
          <a:noFill/>
          <a:ln/>
        </p:spPr>
        <p:txBody>
          <a:bodyPr wrap="square" lIns="0" tIns="0" rIns="0" bIns="0" rtlCol="0" anchor="ctr"/>
          <a:lstStyle/>
          <a:p>
            <a:pPr indent="0" marL="0">
              <a:buNone/>
            </a:pPr>
            <a:r>
              <a:rPr lang="en-US" sz="750" dirty="0">
                <a:solidFill>
                  <a:srgbClr val="9CA3AF"/>
                </a:solidFill>
              </a:rPr>
              <a:t>Chip-to-rack 多物理場模擬能力建立</a:t>
            </a:r>
            <a:endParaRPr lang="en-US" sz="750" dirty="0"/>
          </a:p>
        </p:txBody>
      </p:sp>
      <p:sp>
        <p:nvSpPr>
          <p:cNvPr id="54" name="Shape 52"/>
          <p:cNvSpPr/>
          <p:nvPr/>
        </p:nvSpPr>
        <p:spPr>
          <a:xfrm>
            <a:off x="365760" y="2788920"/>
            <a:ext cx="8412480" cy="274320"/>
          </a:xfrm>
          <a:prstGeom prst="rect">
            <a:avLst/>
          </a:prstGeom>
          <a:solidFill>
            <a:srgbClr val="111827"/>
          </a:solidFill>
          <a:ln w="3810">
            <a:solidFill>
              <a:srgbClr val="1E293B"/>
            </a:solidFill>
            <a:prstDash val="solid"/>
          </a:ln>
        </p:spPr>
      </p:sp>
      <p:sp>
        <p:nvSpPr>
          <p:cNvPr id="55" name="Text 53"/>
          <p:cNvSpPr/>
          <p:nvPr/>
        </p:nvSpPr>
        <p:spPr>
          <a:xfrm>
            <a:off x="365760" y="2788920"/>
            <a:ext cx="3337560" cy="274320"/>
          </a:xfrm>
          <a:prstGeom prst="rect">
            <a:avLst/>
          </a:prstGeom>
          <a:noFill/>
          <a:ln/>
        </p:spPr>
        <p:txBody>
          <a:bodyPr wrap="square" lIns="0" tIns="0" rIns="0" bIns="0" rtlCol="0" anchor="ctr"/>
          <a:lstStyle/>
          <a:p>
            <a:pPr indent="0" marL="0">
              <a:buNone/>
            </a:pPr>
            <a:r>
              <a:rPr lang="en-US" sz="800" dirty="0">
                <a:solidFill>
                  <a:srgbClr val="FFFFFF"/>
                </a:solidFill>
              </a:rPr>
              <a:t>Integration Responsibility</a:t>
            </a:r>
            <a:endParaRPr lang="en-US" sz="800" dirty="0"/>
          </a:p>
        </p:txBody>
      </p:sp>
      <p:sp>
        <p:nvSpPr>
          <p:cNvPr id="56" name="Shape 54"/>
          <p:cNvSpPr/>
          <p:nvPr/>
        </p:nvSpPr>
        <p:spPr>
          <a:xfrm>
            <a:off x="3840480" y="2834640"/>
            <a:ext cx="685800" cy="182880"/>
          </a:xfrm>
          <a:prstGeom prst="rect">
            <a:avLst/>
          </a:prstGeom>
          <a:solidFill>
            <a:srgbClr val="EF4444">
              <a:alpha val="30000"/>
            </a:srgbClr>
          </a:solidFill>
          <a:ln w="10160">
            <a:solidFill>
              <a:srgbClr val="EF4444"/>
            </a:solidFill>
            <a:prstDash val="solid"/>
          </a:ln>
        </p:spPr>
      </p:sp>
      <p:sp>
        <p:nvSpPr>
          <p:cNvPr id="57" name="Text 55"/>
          <p:cNvSpPr/>
          <p:nvPr/>
        </p:nvSpPr>
        <p:spPr>
          <a:xfrm>
            <a:off x="3794760" y="2788920"/>
            <a:ext cx="777240" cy="274320"/>
          </a:xfrm>
          <a:prstGeom prst="rect">
            <a:avLst/>
          </a:prstGeom>
          <a:noFill/>
          <a:ln/>
        </p:spPr>
        <p:txBody>
          <a:bodyPr wrap="square" lIns="0" tIns="0" rIns="0" bIns="0" rtlCol="0" anchor="ctr"/>
          <a:lstStyle/>
          <a:p>
            <a:pPr algn="ctr" indent="0" marL="0">
              <a:buNone/>
            </a:pPr>
            <a:r>
              <a:rPr lang="en-US" sz="800" b="1" dirty="0">
                <a:solidFill>
                  <a:srgbClr val="EF4444"/>
                </a:solidFill>
              </a:rPr>
              <a:t>HIGH</a:t>
            </a:r>
            <a:endParaRPr lang="en-US" sz="800" dirty="0"/>
          </a:p>
        </p:txBody>
      </p:sp>
      <p:sp>
        <p:nvSpPr>
          <p:cNvPr id="58" name="Shape 56"/>
          <p:cNvSpPr/>
          <p:nvPr/>
        </p:nvSpPr>
        <p:spPr>
          <a:xfrm>
            <a:off x="4663440" y="2834640"/>
            <a:ext cx="731520" cy="182880"/>
          </a:xfrm>
          <a:prstGeom prst="rect">
            <a:avLst/>
          </a:prstGeom>
          <a:solidFill>
            <a:srgbClr val="F59E0B">
              <a:alpha val="30000"/>
            </a:srgbClr>
          </a:solidFill>
          <a:ln w="10160">
            <a:solidFill>
              <a:srgbClr val="F59E0B"/>
            </a:solidFill>
            <a:prstDash val="solid"/>
          </a:ln>
        </p:spPr>
      </p:sp>
      <p:sp>
        <p:nvSpPr>
          <p:cNvPr id="59" name="Text 57"/>
          <p:cNvSpPr/>
          <p:nvPr/>
        </p:nvSpPr>
        <p:spPr>
          <a:xfrm>
            <a:off x="4617720" y="278892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60" name="Text 58"/>
          <p:cNvSpPr/>
          <p:nvPr/>
        </p:nvSpPr>
        <p:spPr>
          <a:xfrm>
            <a:off x="5486400" y="2788920"/>
            <a:ext cx="3291840" cy="274320"/>
          </a:xfrm>
          <a:prstGeom prst="rect">
            <a:avLst/>
          </a:prstGeom>
          <a:noFill/>
          <a:ln/>
        </p:spPr>
        <p:txBody>
          <a:bodyPr wrap="square" lIns="0" tIns="0" rIns="0" bIns="0" rtlCol="0" anchor="ctr"/>
          <a:lstStyle/>
          <a:p>
            <a:pPr indent="0" marL="0">
              <a:buNone/>
            </a:pPr>
            <a:r>
              <a:rPr lang="en-US" sz="750" dirty="0">
                <a:solidFill>
                  <a:srgbClr val="9CA3AF"/>
                </a:solidFill>
              </a:rPr>
              <a:t>系統銷售邊界與保固責任需提前定義</a:t>
            </a:r>
            <a:endParaRPr lang="en-US" sz="750" dirty="0"/>
          </a:p>
        </p:txBody>
      </p:sp>
      <p:sp>
        <p:nvSpPr>
          <p:cNvPr id="61" name="Shape 59"/>
          <p:cNvSpPr/>
          <p:nvPr/>
        </p:nvSpPr>
        <p:spPr>
          <a:xfrm>
            <a:off x="365760" y="3063240"/>
            <a:ext cx="8412480" cy="274320"/>
          </a:xfrm>
          <a:prstGeom prst="rect">
            <a:avLst/>
          </a:prstGeom>
          <a:solidFill>
            <a:srgbClr val="0D1117"/>
          </a:solidFill>
          <a:ln w="3810">
            <a:solidFill>
              <a:srgbClr val="1E293B"/>
            </a:solidFill>
            <a:prstDash val="solid"/>
          </a:ln>
        </p:spPr>
      </p:sp>
      <p:sp>
        <p:nvSpPr>
          <p:cNvPr id="62" name="Text 60"/>
          <p:cNvSpPr/>
          <p:nvPr/>
        </p:nvSpPr>
        <p:spPr>
          <a:xfrm>
            <a:off x="365760" y="3063240"/>
            <a:ext cx="3337560" cy="274320"/>
          </a:xfrm>
          <a:prstGeom prst="rect">
            <a:avLst/>
          </a:prstGeom>
          <a:noFill/>
          <a:ln/>
        </p:spPr>
        <p:txBody>
          <a:bodyPr wrap="square" lIns="0" tIns="0" rIns="0" bIns="0" rtlCol="0" anchor="ctr"/>
          <a:lstStyle/>
          <a:p>
            <a:pPr indent="0" marL="0">
              <a:buNone/>
            </a:pPr>
            <a:r>
              <a:rPr lang="en-US" sz="800" dirty="0">
                <a:solidFill>
                  <a:srgbClr val="FFFFFF"/>
                </a:solidFill>
              </a:rPr>
              <a:t>Global Support Network</a:t>
            </a:r>
            <a:endParaRPr lang="en-US" sz="800" dirty="0"/>
          </a:p>
        </p:txBody>
      </p:sp>
      <p:sp>
        <p:nvSpPr>
          <p:cNvPr id="63" name="Shape 61"/>
          <p:cNvSpPr/>
          <p:nvPr/>
        </p:nvSpPr>
        <p:spPr>
          <a:xfrm>
            <a:off x="3840480" y="3108960"/>
            <a:ext cx="685800" cy="182880"/>
          </a:xfrm>
          <a:prstGeom prst="rect">
            <a:avLst/>
          </a:prstGeom>
          <a:solidFill>
            <a:srgbClr val="F59E0B">
              <a:alpha val="30000"/>
            </a:srgbClr>
          </a:solidFill>
          <a:ln w="10160">
            <a:solidFill>
              <a:srgbClr val="F59E0B"/>
            </a:solidFill>
            <a:prstDash val="solid"/>
          </a:ln>
        </p:spPr>
      </p:sp>
      <p:sp>
        <p:nvSpPr>
          <p:cNvPr id="64" name="Text 62"/>
          <p:cNvSpPr/>
          <p:nvPr/>
        </p:nvSpPr>
        <p:spPr>
          <a:xfrm>
            <a:off x="3794760" y="306324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65" name="Shape 63"/>
          <p:cNvSpPr/>
          <p:nvPr/>
        </p:nvSpPr>
        <p:spPr>
          <a:xfrm>
            <a:off x="4663440" y="3108960"/>
            <a:ext cx="731520" cy="182880"/>
          </a:xfrm>
          <a:prstGeom prst="rect">
            <a:avLst/>
          </a:prstGeom>
          <a:solidFill>
            <a:srgbClr val="00E676">
              <a:alpha val="30000"/>
            </a:srgbClr>
          </a:solidFill>
          <a:ln w="10160">
            <a:solidFill>
              <a:srgbClr val="00E676"/>
            </a:solidFill>
            <a:prstDash val="solid"/>
          </a:ln>
        </p:spPr>
      </p:sp>
      <p:sp>
        <p:nvSpPr>
          <p:cNvPr id="66" name="Text 64"/>
          <p:cNvSpPr/>
          <p:nvPr/>
        </p:nvSpPr>
        <p:spPr>
          <a:xfrm>
            <a:off x="4617720" y="3063240"/>
            <a:ext cx="822960" cy="274320"/>
          </a:xfrm>
          <a:prstGeom prst="rect">
            <a:avLst/>
          </a:prstGeom>
          <a:noFill/>
          <a:ln/>
        </p:spPr>
        <p:txBody>
          <a:bodyPr wrap="square" lIns="0" tIns="0" rIns="0" bIns="0" rtlCol="0" anchor="ctr"/>
          <a:lstStyle/>
          <a:p>
            <a:pPr algn="ctr" indent="0" marL="0">
              <a:buNone/>
            </a:pPr>
            <a:r>
              <a:rPr lang="en-US" sz="800" b="1" dirty="0">
                <a:solidFill>
                  <a:srgbClr val="00E676"/>
                </a:solidFill>
              </a:rPr>
              <a:t>LOW</a:t>
            </a:r>
            <a:endParaRPr lang="en-US" sz="800" dirty="0"/>
          </a:p>
        </p:txBody>
      </p:sp>
      <p:sp>
        <p:nvSpPr>
          <p:cNvPr id="67" name="Text 65"/>
          <p:cNvSpPr/>
          <p:nvPr/>
        </p:nvSpPr>
        <p:spPr>
          <a:xfrm>
            <a:off x="5486400" y="3063240"/>
            <a:ext cx="3291840" cy="274320"/>
          </a:xfrm>
          <a:prstGeom prst="rect">
            <a:avLst/>
          </a:prstGeom>
          <a:noFill/>
          <a:ln/>
        </p:spPr>
        <p:txBody>
          <a:bodyPr wrap="square" lIns="0" tIns="0" rIns="0" bIns="0" rtlCol="0" anchor="ctr"/>
          <a:lstStyle/>
          <a:p>
            <a:pPr indent="0" marL="0">
              <a:buNone/>
            </a:pPr>
            <a:r>
              <a:rPr lang="en-US" sz="750" dirty="0">
                <a:solidFill>
                  <a:srgbClr val="9CA3AF"/>
                </a:solidFill>
              </a:rPr>
              <a:t>Tier-1 hyperscaler 合約門檻</a:t>
            </a:r>
            <a:endParaRPr lang="en-US" sz="750" dirty="0"/>
          </a:p>
        </p:txBody>
      </p:sp>
      <p:sp>
        <p:nvSpPr>
          <p:cNvPr id="68" name="Shape 66"/>
          <p:cNvSpPr/>
          <p:nvPr/>
        </p:nvSpPr>
        <p:spPr>
          <a:xfrm>
            <a:off x="365760" y="3337560"/>
            <a:ext cx="8412480" cy="274320"/>
          </a:xfrm>
          <a:prstGeom prst="rect">
            <a:avLst/>
          </a:prstGeom>
          <a:solidFill>
            <a:srgbClr val="111827"/>
          </a:solidFill>
          <a:ln w="3810">
            <a:solidFill>
              <a:srgbClr val="1E293B"/>
            </a:solidFill>
            <a:prstDash val="solid"/>
          </a:ln>
        </p:spPr>
      </p:sp>
      <p:sp>
        <p:nvSpPr>
          <p:cNvPr id="69" name="Text 67"/>
          <p:cNvSpPr/>
          <p:nvPr/>
        </p:nvSpPr>
        <p:spPr>
          <a:xfrm>
            <a:off x="365760" y="3337560"/>
            <a:ext cx="3337560" cy="274320"/>
          </a:xfrm>
          <a:prstGeom prst="rect">
            <a:avLst/>
          </a:prstGeom>
          <a:noFill/>
          <a:ln/>
        </p:spPr>
        <p:txBody>
          <a:bodyPr wrap="square" lIns="0" tIns="0" rIns="0" bIns="0" rtlCol="0" anchor="ctr"/>
          <a:lstStyle/>
          <a:p>
            <a:pPr indent="0" marL="0">
              <a:buNone/>
            </a:pPr>
            <a:r>
              <a:rPr lang="en-US" sz="800" dirty="0">
                <a:solidFill>
                  <a:srgbClr val="FFFFFF"/>
                </a:solidFill>
              </a:rPr>
              <a:t>China Supply Chain Price War</a:t>
            </a:r>
            <a:endParaRPr lang="en-US" sz="800" dirty="0"/>
          </a:p>
        </p:txBody>
      </p:sp>
      <p:sp>
        <p:nvSpPr>
          <p:cNvPr id="70" name="Shape 68"/>
          <p:cNvSpPr/>
          <p:nvPr/>
        </p:nvSpPr>
        <p:spPr>
          <a:xfrm>
            <a:off x="3840480" y="3383280"/>
            <a:ext cx="685800" cy="182880"/>
          </a:xfrm>
          <a:prstGeom prst="rect">
            <a:avLst/>
          </a:prstGeom>
          <a:solidFill>
            <a:srgbClr val="F59E0B">
              <a:alpha val="30000"/>
            </a:srgbClr>
          </a:solidFill>
          <a:ln w="10160">
            <a:solidFill>
              <a:srgbClr val="F59E0B"/>
            </a:solidFill>
            <a:prstDash val="solid"/>
          </a:ln>
        </p:spPr>
      </p:sp>
      <p:sp>
        <p:nvSpPr>
          <p:cNvPr id="71" name="Text 69"/>
          <p:cNvSpPr/>
          <p:nvPr/>
        </p:nvSpPr>
        <p:spPr>
          <a:xfrm>
            <a:off x="3794760" y="333756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72" name="Shape 70"/>
          <p:cNvSpPr/>
          <p:nvPr/>
        </p:nvSpPr>
        <p:spPr>
          <a:xfrm>
            <a:off x="4663440" y="3383280"/>
            <a:ext cx="731520" cy="182880"/>
          </a:xfrm>
          <a:prstGeom prst="rect">
            <a:avLst/>
          </a:prstGeom>
          <a:solidFill>
            <a:srgbClr val="F59E0B">
              <a:alpha val="30000"/>
            </a:srgbClr>
          </a:solidFill>
          <a:ln w="10160">
            <a:solidFill>
              <a:srgbClr val="F59E0B"/>
            </a:solidFill>
            <a:prstDash val="solid"/>
          </a:ln>
        </p:spPr>
      </p:sp>
      <p:sp>
        <p:nvSpPr>
          <p:cNvPr id="73" name="Text 71"/>
          <p:cNvSpPr/>
          <p:nvPr/>
        </p:nvSpPr>
        <p:spPr>
          <a:xfrm>
            <a:off x="4617720" y="333756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74" name="Text 72"/>
          <p:cNvSpPr/>
          <p:nvPr/>
        </p:nvSpPr>
        <p:spPr>
          <a:xfrm>
            <a:off x="5486400" y="3337560"/>
            <a:ext cx="3291840" cy="274320"/>
          </a:xfrm>
          <a:prstGeom prst="rect">
            <a:avLst/>
          </a:prstGeom>
          <a:noFill/>
          <a:ln/>
        </p:spPr>
        <p:txBody>
          <a:bodyPr wrap="square" lIns="0" tIns="0" rIns="0" bIns="0" rtlCol="0" anchor="ctr"/>
          <a:lstStyle/>
          <a:p>
            <a:pPr indent="0" marL="0">
              <a:buNone/>
            </a:pPr>
            <a:r>
              <a:rPr lang="en-US" sz="750" dirty="0">
                <a:solidFill>
                  <a:srgbClr val="9CA3AF"/>
                </a:solidFill>
              </a:rPr>
              <a:t>冷板 / Manifold 成本競爭，以品質差異化</a:t>
            </a:r>
            <a:endParaRPr lang="en-US" sz="750" dirty="0"/>
          </a:p>
        </p:txBody>
      </p:sp>
      <p:sp>
        <p:nvSpPr>
          <p:cNvPr id="75" name="Shape 73"/>
          <p:cNvSpPr/>
          <p:nvPr/>
        </p:nvSpPr>
        <p:spPr>
          <a:xfrm>
            <a:off x="365760" y="3611880"/>
            <a:ext cx="8412480" cy="274320"/>
          </a:xfrm>
          <a:prstGeom prst="rect">
            <a:avLst/>
          </a:prstGeom>
          <a:solidFill>
            <a:srgbClr val="0D1117"/>
          </a:solidFill>
          <a:ln w="3810">
            <a:solidFill>
              <a:srgbClr val="1E293B"/>
            </a:solidFill>
            <a:prstDash val="solid"/>
          </a:ln>
        </p:spPr>
      </p:sp>
      <p:sp>
        <p:nvSpPr>
          <p:cNvPr id="76" name="Text 74"/>
          <p:cNvSpPr/>
          <p:nvPr/>
        </p:nvSpPr>
        <p:spPr>
          <a:xfrm>
            <a:off x="365760" y="3611880"/>
            <a:ext cx="3337560" cy="274320"/>
          </a:xfrm>
          <a:prstGeom prst="rect">
            <a:avLst/>
          </a:prstGeom>
          <a:noFill/>
          <a:ln/>
        </p:spPr>
        <p:txBody>
          <a:bodyPr wrap="square" lIns="0" tIns="0" rIns="0" bIns="0" rtlCol="0" anchor="ctr"/>
          <a:lstStyle/>
          <a:p>
            <a:pPr indent="0" marL="0">
              <a:buNone/>
            </a:pPr>
            <a:r>
              <a:rPr lang="en-US" sz="800" dirty="0">
                <a:solidFill>
                  <a:srgbClr val="FFFFFF"/>
                </a:solidFill>
              </a:rPr>
              <a:t>Talent / Skill Gap</a:t>
            </a:r>
            <a:endParaRPr lang="en-US" sz="800" dirty="0"/>
          </a:p>
        </p:txBody>
      </p:sp>
      <p:sp>
        <p:nvSpPr>
          <p:cNvPr id="77" name="Shape 75"/>
          <p:cNvSpPr/>
          <p:nvPr/>
        </p:nvSpPr>
        <p:spPr>
          <a:xfrm>
            <a:off x="3840480" y="3657600"/>
            <a:ext cx="685800" cy="182880"/>
          </a:xfrm>
          <a:prstGeom prst="rect">
            <a:avLst/>
          </a:prstGeom>
          <a:solidFill>
            <a:srgbClr val="F59E0B">
              <a:alpha val="30000"/>
            </a:srgbClr>
          </a:solidFill>
          <a:ln w="10160">
            <a:solidFill>
              <a:srgbClr val="F59E0B"/>
            </a:solidFill>
            <a:prstDash val="solid"/>
          </a:ln>
        </p:spPr>
      </p:sp>
      <p:sp>
        <p:nvSpPr>
          <p:cNvPr id="78" name="Text 76"/>
          <p:cNvSpPr/>
          <p:nvPr/>
        </p:nvSpPr>
        <p:spPr>
          <a:xfrm>
            <a:off x="3794760" y="3611880"/>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79" name="Shape 77"/>
          <p:cNvSpPr/>
          <p:nvPr/>
        </p:nvSpPr>
        <p:spPr>
          <a:xfrm>
            <a:off x="4663440" y="3657600"/>
            <a:ext cx="731520" cy="182880"/>
          </a:xfrm>
          <a:prstGeom prst="rect">
            <a:avLst/>
          </a:prstGeom>
          <a:solidFill>
            <a:srgbClr val="F59E0B">
              <a:alpha val="30000"/>
            </a:srgbClr>
          </a:solidFill>
          <a:ln w="10160">
            <a:solidFill>
              <a:srgbClr val="F59E0B"/>
            </a:solidFill>
            <a:prstDash val="solid"/>
          </a:ln>
        </p:spPr>
      </p:sp>
      <p:sp>
        <p:nvSpPr>
          <p:cNvPr id="80" name="Text 78"/>
          <p:cNvSpPr/>
          <p:nvPr/>
        </p:nvSpPr>
        <p:spPr>
          <a:xfrm>
            <a:off x="4617720" y="3611880"/>
            <a:ext cx="822960" cy="274320"/>
          </a:xfrm>
          <a:prstGeom prst="rect">
            <a:avLst/>
          </a:prstGeom>
          <a:noFill/>
          <a:ln/>
        </p:spPr>
        <p:txBody>
          <a:bodyPr wrap="square" lIns="0" tIns="0" rIns="0" bIns="0" rtlCol="0" anchor="ctr"/>
          <a:lstStyle/>
          <a:p>
            <a:pPr algn="ctr" indent="0" marL="0">
              <a:buNone/>
            </a:pPr>
            <a:r>
              <a:rPr lang="en-US" sz="800" b="1" dirty="0">
                <a:solidFill>
                  <a:srgbClr val="F59E0B"/>
                </a:solidFill>
              </a:rPr>
              <a:t>MED</a:t>
            </a:r>
            <a:endParaRPr lang="en-US" sz="800" dirty="0"/>
          </a:p>
        </p:txBody>
      </p:sp>
      <p:sp>
        <p:nvSpPr>
          <p:cNvPr id="81" name="Text 79"/>
          <p:cNvSpPr/>
          <p:nvPr/>
        </p:nvSpPr>
        <p:spPr>
          <a:xfrm>
            <a:off x="5486400" y="3611880"/>
            <a:ext cx="3291840" cy="274320"/>
          </a:xfrm>
          <a:prstGeom prst="rect">
            <a:avLst/>
          </a:prstGeom>
          <a:noFill/>
          <a:ln/>
        </p:spPr>
        <p:txBody>
          <a:bodyPr wrap="square" lIns="0" tIns="0" rIns="0" bIns="0" rtlCol="0" anchor="ctr"/>
          <a:lstStyle/>
          <a:p>
            <a:pPr indent="0" marL="0">
              <a:buNone/>
            </a:pPr>
            <a:r>
              <a:rPr lang="en-US" sz="750" dirty="0">
                <a:solidFill>
                  <a:srgbClr val="9CA3AF"/>
                </a:solidFill>
              </a:rPr>
              <a:t>液冷系統工程師人才儲備</a:t>
            </a:r>
            <a:endParaRPr lang="en-US" sz="750" dirty="0"/>
          </a:p>
        </p:txBody>
      </p:sp>
      <p:sp>
        <p:nvSpPr>
          <p:cNvPr id="82" name="Shape 80"/>
          <p:cNvSpPr/>
          <p:nvPr/>
        </p:nvSpPr>
        <p:spPr>
          <a:xfrm>
            <a:off x="365760" y="4160520"/>
            <a:ext cx="8412480" cy="640080"/>
          </a:xfrm>
          <a:prstGeom prst="rect">
            <a:avLst/>
          </a:prstGeom>
          <a:solidFill>
            <a:srgbClr val="EF4444">
              <a:alpha val="8000"/>
            </a:srgbClr>
          </a:solidFill>
          <a:ln w="19050">
            <a:solidFill>
              <a:srgbClr val="EF4444"/>
            </a:solidFill>
            <a:prstDash val="solid"/>
          </a:ln>
        </p:spPr>
      </p:sp>
      <p:sp>
        <p:nvSpPr>
          <p:cNvPr id="83" name="Shape 81"/>
          <p:cNvSpPr/>
          <p:nvPr/>
        </p:nvSpPr>
        <p:spPr>
          <a:xfrm>
            <a:off x="365760" y="4160520"/>
            <a:ext cx="64008" cy="640080"/>
          </a:xfrm>
          <a:prstGeom prst="rect">
            <a:avLst/>
          </a:prstGeom>
          <a:solidFill>
            <a:srgbClr val="EF4444"/>
          </a:solidFill>
          <a:ln/>
        </p:spPr>
      </p:sp>
      <p:sp>
        <p:nvSpPr>
          <p:cNvPr id="84" name="Text 82"/>
          <p:cNvSpPr/>
          <p:nvPr/>
        </p:nvSpPr>
        <p:spPr>
          <a:xfrm>
            <a:off x="502920" y="4178808"/>
            <a:ext cx="2286000" cy="228600"/>
          </a:xfrm>
          <a:prstGeom prst="rect">
            <a:avLst/>
          </a:prstGeom>
          <a:noFill/>
          <a:ln/>
        </p:spPr>
        <p:txBody>
          <a:bodyPr wrap="square" lIns="0" tIns="0" rIns="0" bIns="0" rtlCol="0" anchor="ctr"/>
          <a:lstStyle/>
          <a:p>
            <a:pPr indent="0" marL="0">
              <a:buNone/>
            </a:pPr>
            <a:r>
              <a:rPr lang="en-US" sz="800" b="1" dirty="0">
                <a:solidFill>
                  <a:srgbClr val="EF4444"/>
                </a:solidFill>
              </a:rPr>
              <a:t>IMMEDIATE PRIORITIES</a:t>
            </a:r>
            <a:endParaRPr lang="en-US" sz="800" dirty="0"/>
          </a:p>
        </p:txBody>
      </p:sp>
      <p:sp>
        <p:nvSpPr>
          <p:cNvPr id="85" name="Text 83"/>
          <p:cNvSpPr/>
          <p:nvPr/>
        </p:nvSpPr>
        <p:spPr>
          <a:xfrm>
            <a:off x="502920" y="4407408"/>
            <a:ext cx="8229600" cy="320040"/>
          </a:xfrm>
          <a:prstGeom prst="rect">
            <a:avLst/>
          </a:prstGeom>
          <a:noFill/>
          <a:ln/>
        </p:spPr>
        <p:txBody>
          <a:bodyPr wrap="square" lIns="0" tIns="0" rIns="0" bIns="0" rtlCol="0" anchor="ctr"/>
          <a:lstStyle/>
          <a:p>
            <a:pPr indent="0" marL="0">
              <a:buNone/>
            </a:pPr>
            <a:r>
              <a:rPr lang="en-US" sz="1100" dirty="0">
                <a:solidFill>
                  <a:srgbClr val="FFFFFF"/>
                </a:solidFill>
              </a:rPr>
              <a:t>① CDU Strategy (in-house / partner / acquire)  |  ② Leak reliability (quick connector qualification)  |  ③ Customer qualification cycle (start NOW)</a:t>
            </a:r>
            <a:endParaRPr lang="en-US" sz="1100" dirty="0"/>
          </a:p>
        </p:txBody>
      </p:sp>
      <p:sp>
        <p:nvSpPr>
          <p:cNvPr id="86" name="Text 84"/>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 TMSBU internal risk assessment. Urgency = time sensitivity. Impact = business consequence if risk materializes.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41148"/>
          </a:xfrm>
          <a:prstGeom prst="rect">
            <a:avLst/>
          </a:prstGeom>
          <a:solidFill>
            <a:srgbClr val="00E676"/>
          </a:solidFill>
          <a:ln w="12700">
            <a:solidFill>
              <a:srgbClr val="00E676"/>
            </a:solidFill>
            <a:prstDash val="solid"/>
          </a:ln>
        </p:spPr>
      </p:sp>
      <p:sp>
        <p:nvSpPr>
          <p:cNvPr id="3" name="Text 1"/>
          <p:cNvSpPr/>
          <p:nvPr/>
        </p:nvSpPr>
        <p:spPr>
          <a:xfrm>
            <a:off x="8366760" y="73152"/>
            <a:ext cx="457200" cy="320040"/>
          </a:xfrm>
          <a:prstGeom prst="rect">
            <a:avLst/>
          </a:prstGeom>
          <a:noFill/>
          <a:ln/>
        </p:spPr>
        <p:txBody>
          <a:bodyPr wrap="square" lIns="0" tIns="0" rIns="0" bIns="0" rtlCol="0" anchor="ctr"/>
          <a:lstStyle/>
          <a:p>
            <a:pPr algn="r" indent="0" marL="0">
              <a:buNone/>
            </a:pPr>
            <a:r>
              <a:rPr lang="en-US" sz="1000" dirty="0">
                <a:solidFill>
                  <a:srgbClr val="6B7280"/>
                </a:solidFill>
              </a:rPr>
              <a:t>10</a:t>
            </a:r>
            <a:endParaRPr lang="en-US" sz="1000" dirty="0"/>
          </a:p>
        </p:txBody>
      </p:sp>
      <p:sp>
        <p:nvSpPr>
          <p:cNvPr id="4" name="Text 2"/>
          <p:cNvSpPr/>
          <p:nvPr/>
        </p:nvSpPr>
        <p:spPr>
          <a:xfrm>
            <a:off x="365760" y="91440"/>
            <a:ext cx="7772400" cy="457200"/>
          </a:xfrm>
          <a:prstGeom prst="rect">
            <a:avLst/>
          </a:prstGeom>
          <a:noFill/>
          <a:ln/>
        </p:spPr>
        <p:txBody>
          <a:bodyPr wrap="square" lIns="0" tIns="0" rIns="0" bIns="0" rtlCol="0" anchor="b"/>
          <a:lstStyle/>
          <a:p>
            <a:pPr indent="0" marL="0">
              <a:buNone/>
            </a:pPr>
            <a:r>
              <a:rPr lang="en-US" sz="2800" b="1" dirty="0">
                <a:solidFill>
                  <a:srgbClr val="FFFFFF"/>
                </a:solidFill>
              </a:rPr>
              <a:t>Strategic Roadmap &amp; Recommended Actions</a:t>
            </a:r>
            <a:endParaRPr lang="en-US" sz="2800" dirty="0"/>
          </a:p>
        </p:txBody>
      </p:sp>
      <p:sp>
        <p:nvSpPr>
          <p:cNvPr id="5" name="Text 3"/>
          <p:cNvSpPr/>
          <p:nvPr/>
        </p:nvSpPr>
        <p:spPr>
          <a:xfrm>
            <a:off x="365760" y="530352"/>
            <a:ext cx="8412480" cy="256032"/>
          </a:xfrm>
          <a:prstGeom prst="rect">
            <a:avLst/>
          </a:prstGeom>
          <a:noFill/>
          <a:ln/>
        </p:spPr>
        <p:txBody>
          <a:bodyPr wrap="square" lIns="0" tIns="0" rIns="0" bIns="0" rtlCol="0" anchor="t"/>
          <a:lstStyle/>
          <a:p>
            <a:pPr indent="0" marL="0">
              <a:buNone/>
            </a:pPr>
            <a:r>
              <a:rPr lang="en-US" sz="1400" i="1" dirty="0">
                <a:solidFill>
                  <a:srgbClr val="00E5FF"/>
                </a:solidFill>
              </a:rPr>
              <a:t>4 階段 6-18 個月 Roadmap：Phase 1 基礎 → Phase 4 規模化</a:t>
            </a:r>
            <a:endParaRPr lang="en-US" sz="1400" dirty="0"/>
          </a:p>
        </p:txBody>
      </p:sp>
      <p:sp>
        <p:nvSpPr>
          <p:cNvPr id="6" name="Shape 4"/>
          <p:cNvSpPr/>
          <p:nvPr/>
        </p:nvSpPr>
        <p:spPr>
          <a:xfrm>
            <a:off x="365760" y="804672"/>
            <a:ext cx="8412480" cy="0"/>
          </a:xfrm>
          <a:prstGeom prst="line">
            <a:avLst/>
          </a:prstGeom>
          <a:noFill/>
          <a:ln w="6350">
            <a:solidFill>
              <a:srgbClr val="1E293B"/>
            </a:solidFill>
            <a:prstDash val="solid"/>
          </a:ln>
        </p:spPr>
      </p:sp>
      <p:sp>
        <p:nvSpPr>
          <p:cNvPr id="7" name="Shape 5"/>
          <p:cNvSpPr/>
          <p:nvPr/>
        </p:nvSpPr>
        <p:spPr>
          <a:xfrm>
            <a:off x="365760" y="868680"/>
            <a:ext cx="841248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384048" y="886968"/>
            <a:ext cx="8366760" cy="2971800"/>
          </a:xfrm>
          <a:prstGeom prst="rect">
            <a:avLst/>
          </a:prstGeom>
        </p:spPr>
      </p:pic>
      <p:sp>
        <p:nvSpPr>
          <p:cNvPr id="9" name="Shape 6"/>
          <p:cNvSpPr/>
          <p:nvPr/>
        </p:nvSpPr>
        <p:spPr>
          <a:xfrm>
            <a:off x="365760" y="4023360"/>
            <a:ext cx="2011680" cy="54864"/>
          </a:xfrm>
          <a:prstGeom prst="rect">
            <a:avLst/>
          </a:prstGeom>
          <a:solidFill>
            <a:srgbClr val="0891B2"/>
          </a:solidFill>
          <a:ln/>
        </p:spPr>
      </p:sp>
      <p:sp>
        <p:nvSpPr>
          <p:cNvPr id="10" name="Text 7"/>
          <p:cNvSpPr/>
          <p:nvPr/>
        </p:nvSpPr>
        <p:spPr>
          <a:xfrm>
            <a:off x="365760" y="4087368"/>
            <a:ext cx="2011680" cy="228600"/>
          </a:xfrm>
          <a:prstGeom prst="rect">
            <a:avLst/>
          </a:prstGeom>
          <a:noFill/>
          <a:ln/>
        </p:spPr>
        <p:txBody>
          <a:bodyPr wrap="square" lIns="0" tIns="0" rIns="0" bIns="0" rtlCol="0" anchor="ctr"/>
          <a:lstStyle/>
          <a:p>
            <a:pPr indent="0" marL="0">
              <a:buNone/>
            </a:pPr>
            <a:r>
              <a:rPr lang="en-US" sz="850" b="1" dirty="0">
                <a:solidFill>
                  <a:srgbClr val="0891B2"/>
                </a:solidFill>
              </a:rPr>
              <a:t>Phase 1: 0–3M</a:t>
            </a:r>
            <a:endParaRPr lang="en-US" sz="850" dirty="0"/>
          </a:p>
        </p:txBody>
      </p:sp>
      <p:sp>
        <p:nvSpPr>
          <p:cNvPr id="11" name="Text 8"/>
          <p:cNvSpPr/>
          <p:nvPr/>
        </p:nvSpPr>
        <p:spPr>
          <a:xfrm>
            <a:off x="365760" y="4315968"/>
            <a:ext cx="2011680" cy="411480"/>
          </a:xfrm>
          <a:prstGeom prst="rect">
            <a:avLst/>
          </a:prstGeom>
          <a:noFill/>
          <a:ln/>
        </p:spPr>
        <p:txBody>
          <a:bodyPr wrap="square" lIns="0" tIns="0" rIns="0" bIns="0" rtlCol="0" anchor="ctr"/>
          <a:lstStyle/>
          <a:p>
            <a:pPr indent="0" marL="0">
              <a:buNone/>
            </a:pPr>
            <a:r>
              <a:rPr lang="en-US" sz="750" dirty="0">
                <a:solidFill>
                  <a:srgbClr val="9CA3AF"/>
                </a:solidFill>
              </a:rPr>
              <a:t>Confirm CDU partner • Benchmark GB200/GB300 • Build product gap list • Identify target customers</a:t>
            </a:r>
            <a:endParaRPr lang="en-US" sz="750" dirty="0"/>
          </a:p>
        </p:txBody>
      </p:sp>
      <p:sp>
        <p:nvSpPr>
          <p:cNvPr id="12" name="Shape 9"/>
          <p:cNvSpPr/>
          <p:nvPr/>
        </p:nvSpPr>
        <p:spPr>
          <a:xfrm>
            <a:off x="2514600" y="4023360"/>
            <a:ext cx="2011680" cy="54864"/>
          </a:xfrm>
          <a:prstGeom prst="rect">
            <a:avLst/>
          </a:prstGeom>
          <a:solidFill>
            <a:srgbClr val="00E5FF"/>
          </a:solidFill>
          <a:ln/>
        </p:spPr>
      </p:sp>
      <p:sp>
        <p:nvSpPr>
          <p:cNvPr id="13" name="Text 10"/>
          <p:cNvSpPr/>
          <p:nvPr/>
        </p:nvSpPr>
        <p:spPr>
          <a:xfrm>
            <a:off x="2514600" y="4087368"/>
            <a:ext cx="2011680" cy="228600"/>
          </a:xfrm>
          <a:prstGeom prst="rect">
            <a:avLst/>
          </a:prstGeom>
          <a:noFill/>
          <a:ln/>
        </p:spPr>
        <p:txBody>
          <a:bodyPr wrap="square" lIns="0" tIns="0" rIns="0" bIns="0" rtlCol="0" anchor="ctr"/>
          <a:lstStyle/>
          <a:p>
            <a:pPr indent="0" marL="0">
              <a:buNone/>
            </a:pPr>
            <a:r>
              <a:rPr lang="en-US" sz="850" b="1" dirty="0">
                <a:solidFill>
                  <a:srgbClr val="00E5FF"/>
                </a:solidFill>
              </a:rPr>
              <a:t>Phase 2: 3–6M</a:t>
            </a:r>
            <a:endParaRPr lang="en-US" sz="850" dirty="0"/>
          </a:p>
        </p:txBody>
      </p:sp>
      <p:sp>
        <p:nvSpPr>
          <p:cNvPr id="14" name="Text 11"/>
          <p:cNvSpPr/>
          <p:nvPr/>
        </p:nvSpPr>
        <p:spPr>
          <a:xfrm>
            <a:off x="2514600" y="4315968"/>
            <a:ext cx="2011680" cy="411480"/>
          </a:xfrm>
          <a:prstGeom prst="rect">
            <a:avLst/>
          </a:prstGeom>
          <a:noFill/>
          <a:ln/>
        </p:spPr>
        <p:txBody>
          <a:bodyPr wrap="square" lIns="0" tIns="0" rIns="0" bIns="0" rtlCol="0" anchor="ctr"/>
          <a:lstStyle/>
          <a:p>
            <a:pPr indent="0" marL="0">
              <a:buNone/>
            </a:pPr>
            <a:r>
              <a:rPr lang="en-US" sz="750" dirty="0">
                <a:solidFill>
                  <a:srgbClr val="9CA3AF"/>
                </a:solidFill>
              </a:rPr>
              <a:t>Cold plate + fan module proto • Validation equipment • Thermal TI discussions • Business case</a:t>
            </a:r>
            <a:endParaRPr lang="en-US" sz="750" dirty="0"/>
          </a:p>
        </p:txBody>
      </p:sp>
      <p:sp>
        <p:nvSpPr>
          <p:cNvPr id="15" name="Shape 12"/>
          <p:cNvSpPr/>
          <p:nvPr/>
        </p:nvSpPr>
        <p:spPr>
          <a:xfrm>
            <a:off x="4663440" y="4023360"/>
            <a:ext cx="2011680" cy="54864"/>
          </a:xfrm>
          <a:prstGeom prst="rect">
            <a:avLst/>
          </a:prstGeom>
          <a:solidFill>
            <a:srgbClr val="00E676"/>
          </a:solidFill>
          <a:ln/>
        </p:spPr>
      </p:sp>
      <p:sp>
        <p:nvSpPr>
          <p:cNvPr id="16" name="Text 13"/>
          <p:cNvSpPr/>
          <p:nvPr/>
        </p:nvSpPr>
        <p:spPr>
          <a:xfrm>
            <a:off x="4663440" y="4087368"/>
            <a:ext cx="2011680" cy="228600"/>
          </a:xfrm>
          <a:prstGeom prst="rect">
            <a:avLst/>
          </a:prstGeom>
          <a:noFill/>
          <a:ln/>
        </p:spPr>
        <p:txBody>
          <a:bodyPr wrap="square" lIns="0" tIns="0" rIns="0" bIns="0" rtlCol="0" anchor="ctr"/>
          <a:lstStyle/>
          <a:p>
            <a:pPr indent="0" marL="0">
              <a:buNone/>
            </a:pPr>
            <a:r>
              <a:rPr lang="en-US" sz="850" b="1" dirty="0">
                <a:solidFill>
                  <a:srgbClr val="00E676"/>
                </a:solidFill>
              </a:rPr>
              <a:t>Phase 3: 6–12M</a:t>
            </a:r>
            <a:endParaRPr lang="en-US" sz="850" dirty="0"/>
          </a:p>
        </p:txBody>
      </p:sp>
      <p:sp>
        <p:nvSpPr>
          <p:cNvPr id="17" name="Text 14"/>
          <p:cNvSpPr/>
          <p:nvPr/>
        </p:nvSpPr>
        <p:spPr>
          <a:xfrm>
            <a:off x="4663440" y="4315968"/>
            <a:ext cx="2011680" cy="411480"/>
          </a:xfrm>
          <a:prstGeom prst="rect">
            <a:avLst/>
          </a:prstGeom>
          <a:noFill/>
          <a:ln/>
        </p:spPr>
        <p:txBody>
          <a:bodyPr wrap="square" lIns="0" tIns="0" rIns="0" bIns="0" rtlCol="0" anchor="ctr"/>
          <a:lstStyle/>
          <a:p>
            <a:pPr indent="0" marL="0">
              <a:buNone/>
            </a:pPr>
            <a:r>
              <a:rPr lang="en-US" sz="750" dirty="0">
                <a:solidFill>
                  <a:srgbClr val="9CA3AF"/>
                </a:solidFill>
              </a:rPr>
              <a:t>CDU/manifold kit proto • Quick connector qualification • Rack cooling demo • Tier-1 engagement</a:t>
            </a:r>
            <a:endParaRPr lang="en-US" sz="750" dirty="0"/>
          </a:p>
        </p:txBody>
      </p:sp>
      <p:sp>
        <p:nvSpPr>
          <p:cNvPr id="18" name="Shape 15"/>
          <p:cNvSpPr/>
          <p:nvPr/>
        </p:nvSpPr>
        <p:spPr>
          <a:xfrm>
            <a:off x="6812280" y="4023360"/>
            <a:ext cx="2011680" cy="54864"/>
          </a:xfrm>
          <a:prstGeom prst="rect">
            <a:avLst/>
          </a:prstGeom>
          <a:solidFill>
            <a:srgbClr val="76FF03"/>
          </a:solidFill>
          <a:ln/>
        </p:spPr>
      </p:sp>
      <p:sp>
        <p:nvSpPr>
          <p:cNvPr id="19" name="Text 16"/>
          <p:cNvSpPr/>
          <p:nvPr/>
        </p:nvSpPr>
        <p:spPr>
          <a:xfrm>
            <a:off x="6812280" y="4087368"/>
            <a:ext cx="2011680" cy="228600"/>
          </a:xfrm>
          <a:prstGeom prst="rect">
            <a:avLst/>
          </a:prstGeom>
          <a:noFill/>
          <a:ln/>
        </p:spPr>
        <p:txBody>
          <a:bodyPr wrap="square" lIns="0" tIns="0" rIns="0" bIns="0" rtlCol="0" anchor="ctr"/>
          <a:lstStyle/>
          <a:p>
            <a:pPr indent="0" marL="0">
              <a:buNone/>
            </a:pPr>
            <a:r>
              <a:rPr lang="en-US" sz="850" b="1" dirty="0">
                <a:solidFill>
                  <a:srgbClr val="76FF03"/>
                </a:solidFill>
              </a:rPr>
              <a:t>Phase 4: 12–18M</a:t>
            </a:r>
            <a:endParaRPr lang="en-US" sz="850" dirty="0"/>
          </a:p>
        </p:txBody>
      </p:sp>
      <p:sp>
        <p:nvSpPr>
          <p:cNvPr id="20" name="Text 17"/>
          <p:cNvSpPr/>
          <p:nvPr/>
        </p:nvSpPr>
        <p:spPr>
          <a:xfrm>
            <a:off x="6812280" y="4315968"/>
            <a:ext cx="2011680" cy="411480"/>
          </a:xfrm>
          <a:prstGeom prst="rect">
            <a:avLst/>
          </a:prstGeom>
          <a:noFill/>
          <a:ln/>
        </p:spPr>
        <p:txBody>
          <a:bodyPr wrap="square" lIns="0" tIns="0" rIns="0" bIns="0" rtlCol="0" anchor="ctr"/>
          <a:lstStyle/>
          <a:p>
            <a:pPr indent="0" marL="0">
              <a:buNone/>
            </a:pPr>
            <a:r>
              <a:rPr lang="en-US" sz="750" dirty="0">
                <a:solidFill>
                  <a:srgbClr val="9CA3AF"/>
                </a:solidFill>
              </a:rPr>
              <a:t>Solution selling model • AMC service design • Reference customer • Mass production plan</a:t>
            </a:r>
            <a:endParaRPr lang="en-US" sz="750" dirty="0"/>
          </a:p>
        </p:txBody>
      </p:sp>
      <p:sp>
        <p:nvSpPr>
          <p:cNvPr id="21" name="Shape 18"/>
          <p:cNvSpPr/>
          <p:nvPr/>
        </p:nvSpPr>
        <p:spPr>
          <a:xfrm>
            <a:off x="365760" y="4069080"/>
            <a:ext cx="8412480" cy="731520"/>
          </a:xfrm>
          <a:prstGeom prst="rect">
            <a:avLst/>
          </a:prstGeom>
          <a:solidFill>
            <a:srgbClr val="00E676">
              <a:alpha val="8000"/>
            </a:srgbClr>
          </a:solidFill>
          <a:ln w="10160">
            <a:solidFill>
              <a:srgbClr val="00E676"/>
            </a:solidFill>
            <a:prstDash val="solid"/>
          </a:ln>
        </p:spPr>
      </p:sp>
      <p:sp>
        <p:nvSpPr>
          <p:cNvPr id="22" name="Shape 19"/>
          <p:cNvSpPr/>
          <p:nvPr/>
        </p:nvSpPr>
        <p:spPr>
          <a:xfrm>
            <a:off x="365760" y="4069080"/>
            <a:ext cx="54864" cy="731520"/>
          </a:xfrm>
          <a:prstGeom prst="rect">
            <a:avLst/>
          </a:prstGeom>
          <a:solidFill>
            <a:srgbClr val="00E676"/>
          </a:solidFill>
          <a:ln/>
        </p:spPr>
      </p:sp>
      <p:sp>
        <p:nvSpPr>
          <p:cNvPr id="23" name="Text 20"/>
          <p:cNvSpPr/>
          <p:nvPr/>
        </p:nvSpPr>
        <p:spPr>
          <a:xfrm>
            <a:off x="502920" y="4105656"/>
            <a:ext cx="1371600" cy="201168"/>
          </a:xfrm>
          <a:prstGeom prst="rect">
            <a:avLst/>
          </a:prstGeom>
          <a:noFill/>
          <a:ln/>
        </p:spPr>
        <p:txBody>
          <a:bodyPr wrap="square" lIns="0" tIns="0" rIns="0" bIns="0" rtlCol="0" anchor="ctr"/>
          <a:lstStyle/>
          <a:p>
            <a:pPr indent="0" marL="0">
              <a:buNone/>
            </a:pPr>
            <a:r>
              <a:rPr lang="en-US" sz="700" b="1" dirty="0">
                <a:solidFill>
                  <a:srgbClr val="00E676"/>
                </a:solidFill>
              </a:rPr>
              <a:t>KEY INSIGHTS</a:t>
            </a:r>
            <a:endParaRPr lang="en-US" sz="700" dirty="0"/>
          </a:p>
        </p:txBody>
      </p:sp>
      <p:sp>
        <p:nvSpPr>
          <p:cNvPr id="24" name="Text 21"/>
          <p:cNvSpPr/>
          <p:nvPr/>
        </p:nvSpPr>
        <p:spPr>
          <a:xfrm>
            <a:off x="502920" y="4270248"/>
            <a:ext cx="8138160" cy="493776"/>
          </a:xfrm>
          <a:prstGeom prst="rect">
            <a:avLst/>
          </a:prstGeom>
          <a:noFill/>
          <a:ln/>
        </p:spPr>
        <p:txBody>
          <a:bodyPr wrap="square" rtlCol="0" anchor="ctr"/>
          <a:lstStyle/>
          <a:p>
            <a:pPr marL="342900" indent="-342900">
              <a:buSzPct val="100000"/>
              <a:buChar char="•"/>
            </a:pPr>
            <a:r>
              <a:rPr lang="en-US" sz="1100" dirty="0">
                <a:solidFill>
                  <a:srgbClr val="9CA3AF"/>
                </a:solidFill>
              </a:rPr>
              <a:t>Phase 1 最重要決策：CDU 是內部開發 / 合作夥伴 / 併購？這將決定 TMSBU 液冷策略成敗</a:t>
            </a:r>
            <a:endParaRPr lang="en-US" sz="1100" dirty="0"/>
          </a:p>
          <a:p>
            <a:pPr marL="342900" indent="-342900">
              <a:buSzPct val="100000"/>
              <a:buChar char="•"/>
            </a:pPr>
            <a:r>
              <a:rPr lang="en-US" sz="1100" dirty="0">
                <a:solidFill>
                  <a:srgbClr val="9CA3AF"/>
                </a:solidFill>
              </a:rPr>
              <a:t>所有 Phase 的最終目標：從 Component Supplier 轉型為 Thermal System Solution Provider</a:t>
            </a:r>
            <a:endParaRPr lang="en-US" sz="1100" dirty="0"/>
          </a:p>
          <a:p>
            <a:pPr marL="342900" indent="-342900">
              <a:buSzPct val="100000"/>
              <a:buChar char="•"/>
            </a:pPr>
            <a:r>
              <a:rPr lang="en-US" sz="1100" dirty="0">
                <a:solidFill>
                  <a:srgbClr val="9CA3AF"/>
                </a:solidFill>
              </a:rPr>
              <a:t>落後的代價：失去 GB300/Rubin 平台的供應商資格，影響未來 5-10 年競爭地位</a:t>
            </a:r>
            <a:endParaRPr lang="en-US" sz="1100" dirty="0"/>
          </a:p>
        </p:txBody>
      </p:sp>
      <p:sp>
        <p:nvSpPr>
          <p:cNvPr id="25" name="Text 22"/>
          <p:cNvSpPr/>
          <p:nvPr/>
        </p:nvSpPr>
        <p:spPr>
          <a:xfrm>
            <a:off x="365760" y="4846320"/>
            <a:ext cx="8412480" cy="256032"/>
          </a:xfrm>
          <a:prstGeom prst="rect">
            <a:avLst/>
          </a:prstGeom>
          <a:noFill/>
          <a:ln/>
        </p:spPr>
        <p:txBody>
          <a:bodyPr wrap="square" lIns="0" tIns="0" rIns="0" bIns="0" rtlCol="0" anchor="ctr"/>
          <a:lstStyle/>
          <a:p>
            <a:pPr indent="0" marL="0">
              <a:buNone/>
            </a:pPr>
            <a:r>
              <a:rPr lang="en-US" sz="700" i="1" dirty="0">
                <a:solidFill>
                  <a:srgbClr val="6B7280"/>
                </a:solidFill>
              </a:rPr>
              <a:t>Source: TMSBU strategic planning analysis. Timelines are indicative and subject to internal alignment.</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Server Liquid Cooling: TMSBU Strategic Roadmap V3</dc:title>
  <dc:subject>PptxGenJS Presentation</dc:subject>
  <dc:creator>James Chen / TMSBU</dc:creator>
  <cp:lastModifiedBy>James Chen / TMSBU</cp:lastModifiedBy>
  <cp:revision>1</cp:revision>
  <dcterms:created xsi:type="dcterms:W3CDTF">2026-05-03T19:04:06Z</dcterms:created>
  <dcterms:modified xsi:type="dcterms:W3CDTF">2026-05-03T19:04:06Z</dcterms:modified>
</cp:coreProperties>
</file>