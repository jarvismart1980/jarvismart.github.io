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covers the commercial opportunity and strategic roadmap for TMSBU in AI server liquid cooling. Target audience: TMSBU leadership, BU heads, group executives, and key customers. Key message: liquid cooling is not a product upgrade — it is a business model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executive message: Liquid cooling is not just a new product category — it requires TMSBU to transform from a component supplier (fan, heat sink, VC) into a thermal system solution provider. This involves new capabilities (CDU design, quick connectors, system integration), new customer relationships (direct engagement with server ODMs and hyperscalers), and a new business model (solution contracts vs. component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rack power density inflection point is GB200 NVL72 at 80-130kW per rack. This is 4-6x higher than traditional air-cooled racks. The consequence: liquid cooling shifts from optional to mandatory. Sources: NVIDIA GB200 NVL72 specs (public), TrendForce AI server rack power analysis, MarketsandMarkets liquid cooling market report. The Rubin generation (2027+) pushes to 160kW+/rack, making alternative cooling architectures (immersion) a potential next inflection.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is not 'air vs liquid' — it is 'air AND liquid.' Liquid cooling handles the high-power GPU/CPU thermal load. Air cooling remains essential for memory (HBM stacks at 1kW per module), PCBs, power delivery components, and networking. This means TMSBU's fan business does not decline with liquid cooling adoption — it grows because more air cooling is needed to support non-GPU components in liquid-cooled servers. The hybrid architecture is the new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Liquid cooling is not a single product — it is a system with 5 key components: (1) Cold Plates at chip level with direct contact cooling; (2) CDUs (Coolant Distribution Units) that circulate and reject heat at rack or row level; (3) Manifolds that distribute coolant to multiple servers; (4) Quick Connectors that enable hot-swap maintenance without draining the system; (5) Leak detection and monitoring for reliability. The system integration complexity is where the highest value resides. Vendors who can provide the complete system — not just components — will capture the majority of the value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TMSBU's current product portfolio covers the component layer well: fans, heat sinks, heat pipes, vapor chambers, and 3D VCs. The natural next steps are: (1) Module layer — cold plates and liquid-cooled thermal modules; (2) System layer — CDU, manifolds, quick connectors, and rack cooling kits; (3) Solution layer — turn-key thermal solutions, PUE optimization services, thermal design-in partnerships, and annual maintenance contracts. The critical capability gaps to fill: CDU design and manufacturing, quick connector qualification, and leak detection. These can be built internally, acquired, or partnered.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assumptions: TAM $39.1B by 2030 (MarketsandMarkets, 2024). Cold plate, CDU, manifold+QC estimated at ~33% of TAM combined (analyst estimate — need validation). SOM (TMSBU addressable) assumed at 14% of SAM based on Delta's current thermal component share in server market. This is an assumption that requires validation through customer engagement and competitive analysis. The SOM estimate excludes potential new logo wins from system solution differentiation.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TMSBU's competitive advantage is its unique combination of: (1) Air cooling expertise and manufacturing scale (fans, heat sinks, vapor chambers); (2) Early entry into liquid cooling with existing cold plate capabilities; (3) Delta Group-level synergies in power delivery, control systems, and data center infrastructure; (4) Long-standing customer relationships with server ODMs and OEMs. The main competitive risk is Chinese thermal management suppliers (China液冷供应链) who are rapidly scaling and could compete on price in the cold plate and manifold market. Differentiation through system integration quality, reliability, and global support network is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3 risks requiring immediate action: (1) CDU capability — TMSBU does not currently have CDU design/manufacturing. Options: partner with CDU specialists (CoolIT, Condair), acquire a CDU company, or develop in-house. Decision needed in Phase 1. (2) Leak reliability — a single leak incident can destroy a $500K server. Quick connector qualification and leak detection are non-negotiable. (3) Customer qualification cycle — Tier-1 server OEMs and hyperscalers have 12-18 month design-in cycles. Starting NOW is essential to be considered for GB300/Rubin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6-18 month roadmap has 4 phases: Phase 1 (0-3 months): Foundation — confirm target customers, benchmark GB200/GB300 thermal architecture, identify CDU and quick connector partners, build a complete product gap list. Phase 2 (3-6 months): Development — develop cold plate + hybrid air/liquid reference module, establish thermal validation capability, start thermal design-in discussions with customers, finalize the TAM/SAM business case. Phase 3 (6-12 months): Proto &amp; Engage — prototype CDU/manifold system kit, qualify quick connectors and leak detection, create rack-level demo system, engage Tier-1 server OEM/ODM and cloud customers. Phase 4 (12-18 months): Scale — transition from product selling to solution selling, design annual maintenance/service model, establish first reference customer, prepare for mass production and global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3657600"/>
            <a:ext cx="9144000" cy="1485900"/>
          </a:xfrm>
          <a:prstGeom prst="rect">
            <a:avLst/>
          </a:prstGeom>
          <a:solidFill>
            <a:srgbClr val="0B0E1A">
              <a:alpha val="70000"/>
            </a:srgbClr>
          </a:solidFill>
          <a:ln/>
        </p:spPr>
      </p:sp>
      <p:sp>
        <p:nvSpPr>
          <p:cNvPr id="4" name="Text 1"/>
          <p:cNvSpPr/>
          <p:nvPr/>
        </p:nvSpPr>
        <p:spPr>
          <a:xfrm>
            <a:off x="457200" y="3794760"/>
            <a:ext cx="8229600" cy="548640"/>
          </a:xfrm>
          <a:prstGeom prst="rect">
            <a:avLst/>
          </a:prstGeom>
          <a:noFill/>
          <a:ln/>
        </p:spPr>
        <p:txBody>
          <a:bodyPr wrap="square" rtlCol="0" anchor="ctr"/>
          <a:lstStyle/>
          <a:p>
            <a:pPr indent="0" marL="0">
              <a:buNone/>
            </a:pPr>
            <a:r>
              <a:rPr lang="en-US" sz="2600" b="1" dirty="0">
                <a:solidFill>
                  <a:srgbClr val="FFFFFF"/>
                </a:solidFill>
              </a:rPr>
              <a:t>AI Server Liquid Cooling:</a:t>
            </a:r>
            <a:endParaRPr lang="en-US" sz="2600" dirty="0"/>
          </a:p>
        </p:txBody>
      </p:sp>
      <p:sp>
        <p:nvSpPr>
          <p:cNvPr id="5" name="Text 2"/>
          <p:cNvSpPr/>
          <p:nvPr/>
        </p:nvSpPr>
        <p:spPr>
          <a:xfrm>
            <a:off x="457200" y="4315968"/>
            <a:ext cx="8229600" cy="411480"/>
          </a:xfrm>
          <a:prstGeom prst="rect">
            <a:avLst/>
          </a:prstGeom>
          <a:noFill/>
          <a:ln/>
        </p:spPr>
        <p:txBody>
          <a:bodyPr wrap="square" rtlCol="0" anchor="ctr"/>
          <a:lstStyle/>
          <a:p>
            <a:pPr indent="0" marL="0">
              <a:buNone/>
            </a:pPr>
            <a:r>
              <a:rPr lang="en-US" sz="1800" b="1" dirty="0">
                <a:solidFill>
                  <a:srgbClr val="00E5FF"/>
                </a:solidFill>
              </a:rPr>
              <a:t>TMSBU Commercial Opportunity &amp; Strategic Roadmap</a:t>
            </a:r>
            <a:endParaRPr lang="en-US" sz="1800" dirty="0"/>
          </a:p>
        </p:txBody>
      </p:sp>
      <p:sp>
        <p:nvSpPr>
          <p:cNvPr id="6" name="Text 3"/>
          <p:cNvSpPr/>
          <p:nvPr/>
        </p:nvSpPr>
        <p:spPr>
          <a:xfrm>
            <a:off x="457200" y="4709160"/>
            <a:ext cx="8229600" cy="320040"/>
          </a:xfrm>
          <a:prstGeom prst="rect">
            <a:avLst/>
          </a:prstGeom>
          <a:noFill/>
          <a:ln/>
        </p:spPr>
        <p:txBody>
          <a:bodyPr wrap="square" rtlCol="0" anchor="ctr"/>
          <a:lstStyle/>
          <a:p>
            <a:pPr indent="0" marL="0">
              <a:buNone/>
            </a:pPr>
            <a:r>
              <a:rPr lang="en-US" sz="1100" i="1" dirty="0">
                <a:solidFill>
                  <a:srgbClr val="9CA3AF"/>
                </a:solidFill>
              </a:rPr>
              <a:t>From Component Supplier to Thermal System Solution Provider</a:t>
            </a:r>
            <a:endParaRPr lang="en-US" sz="1100" dirty="0"/>
          </a:p>
        </p:txBody>
      </p:sp>
      <p:sp>
        <p:nvSpPr>
          <p:cNvPr id="7" name="Shape 4"/>
          <p:cNvSpPr/>
          <p:nvPr/>
        </p:nvSpPr>
        <p:spPr>
          <a:xfrm>
            <a:off x="0" y="4983480"/>
            <a:ext cx="9144000" cy="160020"/>
          </a:xfrm>
          <a:prstGeom prst="rect">
            <a:avLst/>
          </a:prstGeom>
          <a:solidFill>
            <a:srgbClr val="00E5FF"/>
          </a:solidFill>
          <a:ln w="12700">
            <a:solidFill>
              <a:srgbClr val="00E5FF"/>
            </a:solidFill>
            <a:prstDash val="solid"/>
          </a:ln>
        </p:spPr>
      </p:sp>
      <p:sp>
        <p:nvSpPr>
          <p:cNvPr id="8" name="Text 5"/>
          <p:cNvSpPr/>
          <p:nvPr/>
        </p:nvSpPr>
        <p:spPr>
          <a:xfrm>
            <a:off x="457200" y="5010912"/>
            <a:ext cx="8229600" cy="109728"/>
          </a:xfrm>
          <a:prstGeom prst="rect">
            <a:avLst/>
          </a:prstGeom>
          <a:noFill/>
          <a:ln/>
        </p:spPr>
        <p:txBody>
          <a:bodyPr wrap="square" rtlCol="0" anchor="ctr"/>
          <a:lstStyle/>
          <a:p>
            <a:pPr indent="0" marL="0">
              <a:buNone/>
            </a:pPr>
            <a:r>
              <a:rPr lang="en-US" sz="800" b="1" dirty="0">
                <a:solidFill>
                  <a:srgbClr val="0B0E1A"/>
                </a:solidFill>
              </a:rPr>
              <a:t>Delta Electronics  |  TMSBU  |  Confidential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E5FF"/>
          </a:solidFill>
          <a:ln w="12700">
            <a:solidFill>
              <a:srgbClr val="00E5FF"/>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02</a:t>
            </a:r>
            <a:endParaRPr lang="en-US" sz="1100" dirty="0"/>
          </a:p>
        </p:txBody>
      </p:sp>
      <p:sp>
        <p:nvSpPr>
          <p:cNvPr id="4" name="Text 2"/>
          <p:cNvSpPr/>
          <p:nvPr/>
        </p:nvSpPr>
        <p:spPr>
          <a:xfrm>
            <a:off x="457200" y="182880"/>
            <a:ext cx="6400800" cy="594360"/>
          </a:xfrm>
          <a:prstGeom prst="rect">
            <a:avLst/>
          </a:prstGeom>
          <a:noFill/>
          <a:ln/>
        </p:spPr>
        <p:txBody>
          <a:bodyPr wrap="square" rtlCol="0" anchor="ctr"/>
          <a:lstStyle/>
          <a:p>
            <a:pPr indent="0" marL="0">
              <a:buNone/>
            </a:pPr>
            <a:r>
              <a:rPr lang="en-US" sz="2400" b="1" dirty="0">
                <a:solidFill>
                  <a:srgbClr val="FFFFFF"/>
                </a:solidFill>
              </a:rPr>
              <a:t>Executive Summary</a:t>
            </a:r>
            <a:endParaRPr lang="en-US" sz="2400" dirty="0"/>
          </a:p>
        </p:txBody>
      </p:sp>
      <p:sp>
        <p:nvSpPr>
          <p:cNvPr id="5" name="Text 3"/>
          <p:cNvSpPr/>
          <p:nvPr/>
        </p:nvSpPr>
        <p:spPr>
          <a:xfrm>
            <a:off x="457200" y="749808"/>
            <a:ext cx="8229600" cy="347472"/>
          </a:xfrm>
          <a:prstGeom prst="rect">
            <a:avLst/>
          </a:prstGeom>
          <a:noFill/>
          <a:ln/>
        </p:spPr>
        <p:txBody>
          <a:bodyPr wrap="square" rtlCol="0" anchor="ctr"/>
          <a:lstStyle/>
          <a:p>
            <a:pPr indent="0" marL="0">
              <a:buNone/>
            </a:pPr>
            <a:r>
              <a:rPr lang="en-US" sz="1100" i="1" dirty="0">
                <a:solidFill>
                  <a:srgbClr val="00E5FF"/>
                </a:solidFill>
              </a:rPr>
              <a:t>液冷不是產品升級，而是商業模式的轉型</a:t>
            </a:r>
            <a:endParaRPr lang="en-US" sz="1100" dirty="0"/>
          </a:p>
        </p:txBody>
      </p:sp>
      <p:sp>
        <p:nvSpPr>
          <p:cNvPr id="6" name="Shape 4"/>
          <p:cNvSpPr/>
          <p:nvPr/>
        </p:nvSpPr>
        <p:spPr>
          <a:xfrm>
            <a:off x="457200" y="1325880"/>
            <a:ext cx="8229600" cy="566928"/>
          </a:xfrm>
          <a:prstGeom prst="rect">
            <a:avLst/>
          </a:prstGeom>
          <a:solidFill>
            <a:srgbClr val="00E5FF">
              <a:alpha val="12000"/>
            </a:srgbClr>
          </a:solidFill>
          <a:ln w="12700">
            <a:solidFill>
              <a:srgbClr val="00E5FF"/>
            </a:solidFill>
            <a:prstDash val="solid"/>
          </a:ln>
        </p:spPr>
      </p:sp>
      <p:sp>
        <p:nvSpPr>
          <p:cNvPr id="7" name="Text 5"/>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00E5FF"/>
                </a:solidFill>
              </a:rPr>
              <a:t>Liquid cooling is not only a product opportunity — it is a business model transition for TMSBU</a:t>
            </a:r>
            <a:endParaRPr lang="en-US" sz="1050" dirty="0"/>
          </a:p>
        </p:txBody>
      </p:sp>
      <p:sp>
        <p:nvSpPr>
          <p:cNvPr id="8" name="Shape 6"/>
          <p:cNvSpPr/>
          <p:nvPr/>
        </p:nvSpPr>
        <p:spPr>
          <a:xfrm>
            <a:off x="457200" y="1993392"/>
            <a:ext cx="4023360" cy="1115568"/>
          </a:xfrm>
          <a:prstGeom prst="rect">
            <a:avLst/>
          </a:prstGeom>
          <a:solidFill>
            <a:srgbClr val="111827"/>
          </a:solidFill>
          <a:ln w="19050">
            <a:solidFill>
              <a:srgbClr val="00E5FF"/>
            </a:solidFill>
            <a:prstDash val="solid"/>
          </a:ln>
          <a:effectLst>
            <a:outerShdw sx="100000" sy="100000" kx="0" ky="0" algn="bl" rotWithShape="0" blurRad="101600" dist="38100" dir="8100000">
              <a:srgbClr val="000000">
                <a:alpha val="35000"/>
              </a:srgbClr>
            </a:outerShdw>
          </a:effectLst>
        </p:spPr>
      </p:sp>
      <p:sp>
        <p:nvSpPr>
          <p:cNvPr id="9" name="Shape 7"/>
          <p:cNvSpPr/>
          <p:nvPr/>
        </p:nvSpPr>
        <p:spPr>
          <a:xfrm>
            <a:off x="457200" y="1993392"/>
            <a:ext cx="64008" cy="1115568"/>
          </a:xfrm>
          <a:prstGeom prst="rect">
            <a:avLst/>
          </a:prstGeom>
          <a:solidFill>
            <a:srgbClr val="00E5FF"/>
          </a:solidFill>
          <a:ln/>
        </p:spPr>
      </p:sp>
      <p:sp>
        <p:nvSpPr>
          <p:cNvPr id="10" name="Text 8"/>
          <p:cNvSpPr/>
          <p:nvPr/>
        </p:nvSpPr>
        <p:spPr>
          <a:xfrm>
            <a:off x="594360" y="2066544"/>
            <a:ext cx="457200" cy="320040"/>
          </a:xfrm>
          <a:prstGeom prst="rect">
            <a:avLst/>
          </a:prstGeom>
          <a:noFill/>
          <a:ln/>
        </p:spPr>
        <p:txBody>
          <a:bodyPr wrap="square" rtlCol="0" anchor="ctr"/>
          <a:lstStyle/>
          <a:p>
            <a:pPr indent="0" marL="0">
              <a:buNone/>
            </a:pPr>
            <a:r>
              <a:rPr lang="en-US" sz="1400" b="1" dirty="0">
                <a:solidFill>
                  <a:srgbClr val="00E5FF"/>
                </a:solidFill>
              </a:rPr>
              <a:t>01</a:t>
            </a:r>
            <a:endParaRPr lang="en-US" sz="1400" dirty="0"/>
          </a:p>
        </p:txBody>
      </p:sp>
      <p:sp>
        <p:nvSpPr>
          <p:cNvPr id="11" name="Text 9"/>
          <p:cNvSpPr/>
          <p:nvPr/>
        </p:nvSpPr>
        <p:spPr>
          <a:xfrm>
            <a:off x="1051560" y="2084832"/>
            <a:ext cx="914400" cy="256032"/>
          </a:xfrm>
          <a:prstGeom prst="rect">
            <a:avLst/>
          </a:prstGeom>
          <a:solidFill>
            <a:srgbClr val="00E5FF"/>
          </a:solidFill>
          <a:ln/>
        </p:spPr>
        <p:txBody>
          <a:bodyPr wrap="square" rtlCol="0" anchor="ctr"/>
          <a:lstStyle/>
          <a:p>
            <a:pPr algn="ctr" indent="0" marL="0">
              <a:buNone/>
            </a:pPr>
            <a:r>
              <a:rPr lang="en-US" sz="700" b="1" dirty="0">
                <a:solidFill>
                  <a:srgbClr val="0B0E1A"/>
                </a:solidFill>
              </a:rPr>
              <a:t>TREND</a:t>
            </a:r>
            <a:endParaRPr lang="en-US" sz="700" dirty="0"/>
          </a:p>
        </p:txBody>
      </p:sp>
      <p:sp>
        <p:nvSpPr>
          <p:cNvPr id="12" name="Text 10"/>
          <p:cNvSpPr/>
          <p:nvPr/>
        </p:nvSpPr>
        <p:spPr>
          <a:xfrm>
            <a:off x="594360" y="2340864"/>
            <a:ext cx="3749040" cy="274320"/>
          </a:xfrm>
          <a:prstGeom prst="rect">
            <a:avLst/>
          </a:prstGeom>
          <a:noFill/>
          <a:ln/>
        </p:spPr>
        <p:txBody>
          <a:bodyPr wrap="square" rtlCol="0" anchor="ctr"/>
          <a:lstStyle/>
          <a:p>
            <a:pPr indent="0" marL="0">
              <a:buNone/>
            </a:pPr>
            <a:r>
              <a:rPr lang="en-US" sz="1050" b="1" dirty="0">
                <a:solidFill>
                  <a:srgbClr val="FFFFFF"/>
                </a:solidFill>
              </a:rPr>
              <a:t>AI GPU / Rack Power Exceeds Air Cooling</a:t>
            </a:r>
            <a:endParaRPr lang="en-US" sz="1050" dirty="0"/>
          </a:p>
        </p:txBody>
      </p:sp>
      <p:sp>
        <p:nvSpPr>
          <p:cNvPr id="13" name="Text 11"/>
          <p:cNvSpPr/>
          <p:nvPr/>
        </p:nvSpPr>
        <p:spPr>
          <a:xfrm>
            <a:off x="594360" y="2615184"/>
            <a:ext cx="3749040" cy="457200"/>
          </a:xfrm>
          <a:prstGeom prst="rect">
            <a:avLst/>
          </a:prstGeom>
          <a:noFill/>
          <a:ln/>
        </p:spPr>
        <p:txBody>
          <a:bodyPr wrap="square" rtlCol="0" anchor="ctr"/>
          <a:lstStyle/>
          <a:p>
            <a:pPr indent="0" marL="0">
              <a:buNone/>
            </a:pPr>
            <a:r>
              <a:rPr lang="en-US" sz="850" dirty="0">
                <a:solidFill>
                  <a:srgbClr val="9CA3AF"/>
                </a:solidFill>
              </a:rPr>
              <a:t>GPU TDP突破700W，GB200 NVL72 rack power達130kW+。風冷已達物理瓶頸，散熱成為AI基礎建設擴張的硬約束。</a:t>
            </a:r>
            <a:endParaRPr lang="en-US" sz="850" dirty="0"/>
          </a:p>
        </p:txBody>
      </p:sp>
      <p:sp>
        <p:nvSpPr>
          <p:cNvPr id="14" name="Shape 12"/>
          <p:cNvSpPr/>
          <p:nvPr/>
        </p:nvSpPr>
        <p:spPr>
          <a:xfrm>
            <a:off x="4663440" y="1993392"/>
            <a:ext cx="4023360" cy="1115568"/>
          </a:xfrm>
          <a:prstGeom prst="rect">
            <a:avLst/>
          </a:prstGeom>
          <a:solidFill>
            <a:srgbClr val="111827"/>
          </a:solidFill>
          <a:ln w="19050">
            <a:solidFill>
              <a:srgbClr val="4FC3F7"/>
            </a:solidFill>
            <a:prstDash val="solid"/>
          </a:ln>
          <a:effectLst>
            <a:outerShdw sx="100000" sy="100000" kx="0" ky="0" algn="bl" rotWithShape="0" blurRad="101600" dist="38100" dir="8100000">
              <a:srgbClr val="000000">
                <a:alpha val="35000"/>
              </a:srgbClr>
            </a:outerShdw>
          </a:effectLst>
        </p:spPr>
      </p:sp>
      <p:sp>
        <p:nvSpPr>
          <p:cNvPr id="15" name="Shape 13"/>
          <p:cNvSpPr/>
          <p:nvPr/>
        </p:nvSpPr>
        <p:spPr>
          <a:xfrm>
            <a:off x="4663440" y="1993392"/>
            <a:ext cx="64008" cy="1115568"/>
          </a:xfrm>
          <a:prstGeom prst="rect">
            <a:avLst/>
          </a:prstGeom>
          <a:solidFill>
            <a:srgbClr val="4FC3F7"/>
          </a:solidFill>
          <a:ln/>
        </p:spPr>
      </p:sp>
      <p:sp>
        <p:nvSpPr>
          <p:cNvPr id="16" name="Text 14"/>
          <p:cNvSpPr/>
          <p:nvPr/>
        </p:nvSpPr>
        <p:spPr>
          <a:xfrm>
            <a:off x="4800600" y="2066544"/>
            <a:ext cx="457200" cy="320040"/>
          </a:xfrm>
          <a:prstGeom prst="rect">
            <a:avLst/>
          </a:prstGeom>
          <a:noFill/>
          <a:ln/>
        </p:spPr>
        <p:txBody>
          <a:bodyPr wrap="square" rtlCol="0" anchor="ctr"/>
          <a:lstStyle/>
          <a:p>
            <a:pPr indent="0" marL="0">
              <a:buNone/>
            </a:pPr>
            <a:r>
              <a:rPr lang="en-US" sz="1400" b="1" dirty="0">
                <a:solidFill>
                  <a:srgbClr val="4FC3F7"/>
                </a:solidFill>
              </a:rPr>
              <a:t>02</a:t>
            </a:r>
            <a:endParaRPr lang="en-US" sz="1400" dirty="0"/>
          </a:p>
        </p:txBody>
      </p:sp>
      <p:sp>
        <p:nvSpPr>
          <p:cNvPr id="17" name="Text 15"/>
          <p:cNvSpPr/>
          <p:nvPr/>
        </p:nvSpPr>
        <p:spPr>
          <a:xfrm>
            <a:off x="5257800" y="2084832"/>
            <a:ext cx="914400" cy="256032"/>
          </a:xfrm>
          <a:prstGeom prst="rect">
            <a:avLst/>
          </a:prstGeom>
          <a:solidFill>
            <a:srgbClr val="4FC3F7"/>
          </a:solidFill>
          <a:ln/>
        </p:spPr>
        <p:txBody>
          <a:bodyPr wrap="square" rtlCol="0" anchor="ctr"/>
          <a:lstStyle/>
          <a:p>
            <a:pPr algn="ctr" indent="0" marL="0">
              <a:buNone/>
            </a:pPr>
            <a:r>
              <a:rPr lang="en-US" sz="700" b="1" dirty="0">
                <a:solidFill>
                  <a:srgbClr val="0B0E1A"/>
                </a:solidFill>
              </a:rPr>
              <a:t>MARKET</a:t>
            </a:r>
            <a:endParaRPr lang="en-US" sz="700" dirty="0"/>
          </a:p>
        </p:txBody>
      </p:sp>
      <p:sp>
        <p:nvSpPr>
          <p:cNvPr id="18" name="Text 16"/>
          <p:cNvSpPr/>
          <p:nvPr/>
        </p:nvSpPr>
        <p:spPr>
          <a:xfrm>
            <a:off x="4800600" y="2340864"/>
            <a:ext cx="3749040" cy="274320"/>
          </a:xfrm>
          <a:prstGeom prst="rect">
            <a:avLst/>
          </a:prstGeom>
          <a:noFill/>
          <a:ln/>
        </p:spPr>
        <p:txBody>
          <a:bodyPr wrap="square" rtlCol="0" anchor="ctr"/>
          <a:lstStyle/>
          <a:p>
            <a:pPr indent="0" marL="0">
              <a:buNone/>
            </a:pPr>
            <a:r>
              <a:rPr lang="en-US" sz="1050" b="1" dirty="0">
                <a:solidFill>
                  <a:srgbClr val="FFFFFF"/>
                </a:solidFill>
              </a:rPr>
              <a:t>Liquid Cooling Adoption Accelerating</a:t>
            </a:r>
            <a:endParaRPr lang="en-US" sz="1050" dirty="0"/>
          </a:p>
        </p:txBody>
      </p:sp>
      <p:sp>
        <p:nvSpPr>
          <p:cNvPr id="19" name="Text 17"/>
          <p:cNvSpPr/>
          <p:nvPr/>
        </p:nvSpPr>
        <p:spPr>
          <a:xfrm>
            <a:off x="4800600" y="2615184"/>
            <a:ext cx="3749040" cy="457200"/>
          </a:xfrm>
          <a:prstGeom prst="rect">
            <a:avLst/>
          </a:prstGeom>
          <a:noFill/>
          <a:ln/>
        </p:spPr>
        <p:txBody>
          <a:bodyPr wrap="square" rtlCol="0" anchor="ctr"/>
          <a:lstStyle/>
          <a:p>
            <a:pPr indent="0" marL="0">
              <a:buNone/>
            </a:pPr>
            <a:r>
              <a:rPr lang="en-US" sz="850" dirty="0">
                <a:solidFill>
                  <a:srgbClr val="9CA3AF"/>
                </a:solidFill>
              </a:rPr>
              <a:t>液冷滲透率：2023年20% → 2026年60% → 2030年80%+。從選配變成新建AI資料中心的標準架構。</a:t>
            </a:r>
            <a:endParaRPr lang="en-US" sz="850" dirty="0"/>
          </a:p>
        </p:txBody>
      </p:sp>
      <p:sp>
        <p:nvSpPr>
          <p:cNvPr id="20" name="Shape 18"/>
          <p:cNvSpPr/>
          <p:nvPr/>
        </p:nvSpPr>
        <p:spPr>
          <a:xfrm>
            <a:off x="457200" y="3246120"/>
            <a:ext cx="4023360" cy="1115568"/>
          </a:xfrm>
          <a:prstGeom prst="rect">
            <a:avLst/>
          </a:prstGeom>
          <a:solidFill>
            <a:srgbClr val="111827"/>
          </a:solidFill>
          <a:ln w="19050">
            <a:solidFill>
              <a:srgbClr val="00E676"/>
            </a:solidFill>
            <a:prstDash val="solid"/>
          </a:ln>
          <a:effectLst>
            <a:outerShdw sx="100000" sy="100000" kx="0" ky="0" algn="bl" rotWithShape="0" blurRad="101600" dist="38100" dir="8100000">
              <a:srgbClr val="000000">
                <a:alpha val="35000"/>
              </a:srgbClr>
            </a:outerShdw>
          </a:effectLst>
        </p:spPr>
      </p:sp>
      <p:sp>
        <p:nvSpPr>
          <p:cNvPr id="21" name="Shape 19"/>
          <p:cNvSpPr/>
          <p:nvPr/>
        </p:nvSpPr>
        <p:spPr>
          <a:xfrm>
            <a:off x="457200" y="3246120"/>
            <a:ext cx="64008" cy="1115568"/>
          </a:xfrm>
          <a:prstGeom prst="rect">
            <a:avLst/>
          </a:prstGeom>
          <a:solidFill>
            <a:srgbClr val="00E676"/>
          </a:solidFill>
          <a:ln/>
        </p:spPr>
      </p:sp>
      <p:sp>
        <p:nvSpPr>
          <p:cNvPr id="22" name="Text 20"/>
          <p:cNvSpPr/>
          <p:nvPr/>
        </p:nvSpPr>
        <p:spPr>
          <a:xfrm>
            <a:off x="594360" y="3319272"/>
            <a:ext cx="457200" cy="320040"/>
          </a:xfrm>
          <a:prstGeom prst="rect">
            <a:avLst/>
          </a:prstGeom>
          <a:noFill/>
          <a:ln/>
        </p:spPr>
        <p:txBody>
          <a:bodyPr wrap="square" rtlCol="0" anchor="ctr"/>
          <a:lstStyle/>
          <a:p>
            <a:pPr indent="0" marL="0">
              <a:buNone/>
            </a:pPr>
            <a:r>
              <a:rPr lang="en-US" sz="1400" b="1" dirty="0">
                <a:solidFill>
                  <a:srgbClr val="00E676"/>
                </a:solidFill>
              </a:rPr>
              <a:t>03</a:t>
            </a:r>
            <a:endParaRPr lang="en-US" sz="1400" dirty="0"/>
          </a:p>
        </p:txBody>
      </p:sp>
      <p:sp>
        <p:nvSpPr>
          <p:cNvPr id="23" name="Text 21"/>
          <p:cNvSpPr/>
          <p:nvPr/>
        </p:nvSpPr>
        <p:spPr>
          <a:xfrm>
            <a:off x="1051560" y="3337560"/>
            <a:ext cx="914400" cy="256032"/>
          </a:xfrm>
          <a:prstGeom prst="rect">
            <a:avLst/>
          </a:prstGeom>
          <a:solidFill>
            <a:srgbClr val="00E676"/>
          </a:solidFill>
          <a:ln/>
        </p:spPr>
        <p:txBody>
          <a:bodyPr wrap="square" rtlCol="0" anchor="ctr"/>
          <a:lstStyle/>
          <a:p>
            <a:pPr algn="ctr" indent="0" marL="0">
              <a:buNone/>
            </a:pPr>
            <a:r>
              <a:rPr lang="en-US" sz="700" b="1" dirty="0">
                <a:solidFill>
                  <a:srgbClr val="0B0E1A"/>
                </a:solidFill>
              </a:rPr>
              <a:t>HYBRID</a:t>
            </a:r>
            <a:endParaRPr lang="en-US" sz="700" dirty="0"/>
          </a:p>
        </p:txBody>
      </p:sp>
      <p:sp>
        <p:nvSpPr>
          <p:cNvPr id="24" name="Text 22"/>
          <p:cNvSpPr/>
          <p:nvPr/>
        </p:nvSpPr>
        <p:spPr>
          <a:xfrm>
            <a:off x="594360" y="3593592"/>
            <a:ext cx="3749040" cy="274320"/>
          </a:xfrm>
          <a:prstGeom prst="rect">
            <a:avLst/>
          </a:prstGeom>
          <a:noFill/>
          <a:ln/>
        </p:spPr>
        <p:txBody>
          <a:bodyPr wrap="square" rtlCol="0" anchor="ctr"/>
          <a:lstStyle/>
          <a:p>
            <a:pPr indent="0" marL="0">
              <a:buNone/>
            </a:pPr>
            <a:r>
              <a:rPr lang="en-US" sz="1050" b="1" dirty="0">
                <a:solidFill>
                  <a:srgbClr val="FFFFFF"/>
                </a:solidFill>
              </a:rPr>
              <a:t>Hybrid Air + Liquid Remains Necessary</a:t>
            </a:r>
            <a:endParaRPr lang="en-US" sz="1050" dirty="0"/>
          </a:p>
        </p:txBody>
      </p:sp>
      <p:sp>
        <p:nvSpPr>
          <p:cNvPr id="25" name="Text 23"/>
          <p:cNvSpPr/>
          <p:nvPr/>
        </p:nvSpPr>
        <p:spPr>
          <a:xfrm>
            <a:off x="594360" y="3867912"/>
            <a:ext cx="3749040" cy="457200"/>
          </a:xfrm>
          <a:prstGeom prst="rect">
            <a:avLst/>
          </a:prstGeom>
          <a:noFill/>
          <a:ln/>
        </p:spPr>
        <p:txBody>
          <a:bodyPr wrap="square" rtlCol="0" anchor="ctr"/>
          <a:lstStyle/>
          <a:p>
            <a:pPr indent="0" marL="0">
              <a:buNone/>
            </a:pPr>
            <a:r>
              <a:rPr lang="en-US" sz="850" dirty="0">
                <a:solidFill>
                  <a:srgbClr val="9CA3AF"/>
                </a:solidFill>
              </a:rPr>
              <a:t>GPU本體用液冷，但memory、PCB、power delivery、networking仍需風冷。兩種散熱方式長期共存，TMSBU兩者皆受益。</a:t>
            </a:r>
            <a:endParaRPr lang="en-US" sz="850" dirty="0"/>
          </a:p>
        </p:txBody>
      </p:sp>
      <p:sp>
        <p:nvSpPr>
          <p:cNvPr id="26" name="Shape 24"/>
          <p:cNvSpPr/>
          <p:nvPr/>
        </p:nvSpPr>
        <p:spPr>
          <a:xfrm>
            <a:off x="4663440" y="3246120"/>
            <a:ext cx="4023360" cy="1115568"/>
          </a:xfrm>
          <a:prstGeom prst="rect">
            <a:avLst/>
          </a:prstGeom>
          <a:solidFill>
            <a:srgbClr val="111827"/>
          </a:solidFill>
          <a:ln w="19050">
            <a:solidFill>
              <a:srgbClr val="F59E0B"/>
            </a:solidFill>
            <a:prstDash val="solid"/>
          </a:ln>
          <a:effectLst>
            <a:outerShdw sx="100000" sy="100000" kx="0" ky="0" algn="bl" rotWithShape="0" blurRad="101600" dist="38100" dir="8100000">
              <a:srgbClr val="000000">
                <a:alpha val="35000"/>
              </a:srgbClr>
            </a:outerShdw>
          </a:effectLst>
        </p:spPr>
      </p:sp>
      <p:sp>
        <p:nvSpPr>
          <p:cNvPr id="27" name="Shape 25"/>
          <p:cNvSpPr/>
          <p:nvPr/>
        </p:nvSpPr>
        <p:spPr>
          <a:xfrm>
            <a:off x="4663440" y="3246120"/>
            <a:ext cx="64008" cy="1115568"/>
          </a:xfrm>
          <a:prstGeom prst="rect">
            <a:avLst/>
          </a:prstGeom>
          <a:solidFill>
            <a:srgbClr val="F59E0B"/>
          </a:solidFill>
          <a:ln/>
        </p:spPr>
      </p:sp>
      <p:sp>
        <p:nvSpPr>
          <p:cNvPr id="28" name="Text 26"/>
          <p:cNvSpPr/>
          <p:nvPr/>
        </p:nvSpPr>
        <p:spPr>
          <a:xfrm>
            <a:off x="4800600" y="3319272"/>
            <a:ext cx="457200" cy="320040"/>
          </a:xfrm>
          <a:prstGeom prst="rect">
            <a:avLst/>
          </a:prstGeom>
          <a:noFill/>
          <a:ln/>
        </p:spPr>
        <p:txBody>
          <a:bodyPr wrap="square" rtlCol="0" anchor="ctr"/>
          <a:lstStyle/>
          <a:p>
            <a:pPr indent="0" marL="0">
              <a:buNone/>
            </a:pPr>
            <a:r>
              <a:rPr lang="en-US" sz="1400" b="1" dirty="0">
                <a:solidFill>
                  <a:srgbClr val="F59E0B"/>
                </a:solidFill>
              </a:rPr>
              <a:t>04</a:t>
            </a:r>
            <a:endParaRPr lang="en-US" sz="1400" dirty="0"/>
          </a:p>
        </p:txBody>
      </p:sp>
      <p:sp>
        <p:nvSpPr>
          <p:cNvPr id="29" name="Text 27"/>
          <p:cNvSpPr/>
          <p:nvPr/>
        </p:nvSpPr>
        <p:spPr>
          <a:xfrm>
            <a:off x="5257800" y="3337560"/>
            <a:ext cx="914400" cy="256032"/>
          </a:xfrm>
          <a:prstGeom prst="rect">
            <a:avLst/>
          </a:prstGeom>
          <a:solidFill>
            <a:srgbClr val="F59E0B"/>
          </a:solidFill>
          <a:ln/>
        </p:spPr>
        <p:txBody>
          <a:bodyPr wrap="square" rtlCol="0" anchor="ctr"/>
          <a:lstStyle/>
          <a:p>
            <a:pPr algn="ctr" indent="0" marL="0">
              <a:buNone/>
            </a:pPr>
            <a:r>
              <a:rPr lang="en-US" sz="700" b="1" dirty="0">
                <a:solidFill>
                  <a:srgbClr val="0B0E1A"/>
                </a:solidFill>
              </a:rPr>
              <a:t>OPPORTUNITY</a:t>
            </a:r>
            <a:endParaRPr lang="en-US" sz="700" dirty="0"/>
          </a:p>
        </p:txBody>
      </p:sp>
      <p:sp>
        <p:nvSpPr>
          <p:cNvPr id="30" name="Text 28"/>
          <p:cNvSpPr/>
          <p:nvPr/>
        </p:nvSpPr>
        <p:spPr>
          <a:xfrm>
            <a:off x="4800600" y="3593592"/>
            <a:ext cx="3749040" cy="274320"/>
          </a:xfrm>
          <a:prstGeom prst="rect">
            <a:avLst/>
          </a:prstGeom>
          <a:noFill/>
          <a:ln/>
        </p:spPr>
        <p:txBody>
          <a:bodyPr wrap="square" rtlCol="0" anchor="ctr"/>
          <a:lstStyle/>
          <a:p>
            <a:pPr indent="0" marL="0">
              <a:buNone/>
            </a:pPr>
            <a:r>
              <a:rPr lang="en-US" sz="1050" b="1" dirty="0">
                <a:solidFill>
                  <a:srgbClr val="FFFFFF"/>
                </a:solidFill>
              </a:rPr>
              <a:t>TMSBU Can Expand into Module &amp; System</a:t>
            </a:r>
            <a:endParaRPr lang="en-US" sz="1050" dirty="0"/>
          </a:p>
        </p:txBody>
      </p:sp>
      <p:sp>
        <p:nvSpPr>
          <p:cNvPr id="31" name="Text 29"/>
          <p:cNvSpPr/>
          <p:nvPr/>
        </p:nvSpPr>
        <p:spPr>
          <a:xfrm>
            <a:off x="4800600" y="3867912"/>
            <a:ext cx="3749040" cy="457200"/>
          </a:xfrm>
          <a:prstGeom prst="rect">
            <a:avLst/>
          </a:prstGeom>
          <a:noFill/>
          <a:ln/>
        </p:spPr>
        <p:txBody>
          <a:bodyPr wrap="square" rtlCol="0" anchor="ctr"/>
          <a:lstStyle/>
          <a:p>
            <a:pPr indent="0" marL="0">
              <a:buNone/>
            </a:pPr>
            <a:r>
              <a:rPr lang="en-US" sz="850" dirty="0">
                <a:solidFill>
                  <a:srgbClr val="9CA3AF"/>
                </a:solidFill>
              </a:rPr>
              <a:t>Delta TMSBU已有Fan、HS、HP、VC、Cold Plate製造基礎。從零件供應商升級為模組與系統層級熱管理方案供應商。</a:t>
            </a:r>
            <a:endParaRPr lang="en-US" sz="850" dirty="0"/>
          </a:p>
        </p:txBody>
      </p:sp>
      <p:sp>
        <p:nvSpPr>
          <p:cNvPr id="32" name="Shape 30"/>
          <p:cNvSpPr/>
          <p:nvPr/>
        </p:nvSpPr>
        <p:spPr>
          <a:xfrm>
            <a:off x="457200" y="4498848"/>
            <a:ext cx="8229600" cy="530352"/>
          </a:xfrm>
          <a:prstGeom prst="rect">
            <a:avLst/>
          </a:prstGeom>
          <a:solidFill>
            <a:srgbClr val="111827"/>
          </a:solidFill>
          <a:ln w="19050">
            <a:solidFill>
              <a:srgbClr val="A855F7"/>
            </a:solidFill>
            <a:prstDash val="solid"/>
          </a:ln>
          <a:effectLst>
            <a:outerShdw sx="100000" sy="100000" kx="0" ky="0" algn="bl" rotWithShape="0" blurRad="101600" dist="38100" dir="8100000">
              <a:srgbClr val="000000">
                <a:alpha val="35000"/>
              </a:srgbClr>
            </a:outerShdw>
          </a:effectLst>
        </p:spPr>
      </p:sp>
      <p:sp>
        <p:nvSpPr>
          <p:cNvPr id="33" name="Shape 31"/>
          <p:cNvSpPr/>
          <p:nvPr/>
        </p:nvSpPr>
        <p:spPr>
          <a:xfrm>
            <a:off x="457200" y="4498848"/>
            <a:ext cx="64008" cy="530352"/>
          </a:xfrm>
          <a:prstGeom prst="rect">
            <a:avLst/>
          </a:prstGeom>
          <a:solidFill>
            <a:srgbClr val="A855F7"/>
          </a:solidFill>
          <a:ln/>
        </p:spPr>
      </p:sp>
      <p:sp>
        <p:nvSpPr>
          <p:cNvPr id="34" name="Text 32"/>
          <p:cNvSpPr/>
          <p:nvPr/>
        </p:nvSpPr>
        <p:spPr>
          <a:xfrm>
            <a:off x="594360" y="4572000"/>
            <a:ext cx="457200" cy="320040"/>
          </a:xfrm>
          <a:prstGeom prst="rect">
            <a:avLst/>
          </a:prstGeom>
          <a:noFill/>
          <a:ln/>
        </p:spPr>
        <p:txBody>
          <a:bodyPr wrap="square" rtlCol="0" anchor="ctr"/>
          <a:lstStyle/>
          <a:p>
            <a:pPr indent="0" marL="0">
              <a:buNone/>
            </a:pPr>
            <a:r>
              <a:rPr lang="en-US" sz="1400" b="1" dirty="0">
                <a:solidFill>
                  <a:srgbClr val="A855F7"/>
                </a:solidFill>
              </a:rPr>
              <a:t>05</a:t>
            </a:r>
            <a:endParaRPr lang="en-US" sz="1400" dirty="0"/>
          </a:p>
        </p:txBody>
      </p:sp>
      <p:sp>
        <p:nvSpPr>
          <p:cNvPr id="35" name="Text 33"/>
          <p:cNvSpPr/>
          <p:nvPr/>
        </p:nvSpPr>
        <p:spPr>
          <a:xfrm>
            <a:off x="1051560" y="4590288"/>
            <a:ext cx="914400" cy="256032"/>
          </a:xfrm>
          <a:prstGeom prst="rect">
            <a:avLst/>
          </a:prstGeom>
          <a:solidFill>
            <a:srgbClr val="A855F7"/>
          </a:solidFill>
          <a:ln/>
        </p:spPr>
        <p:txBody>
          <a:bodyPr wrap="square" rtlCol="0" anchor="ctr"/>
          <a:lstStyle/>
          <a:p>
            <a:pPr algn="ctr" indent="0" marL="0">
              <a:buNone/>
            </a:pPr>
            <a:r>
              <a:rPr lang="en-US" sz="700" b="1" dirty="0">
                <a:solidFill>
                  <a:srgbClr val="0B0E1A"/>
                </a:solidFill>
              </a:rPr>
              <a:t>ACTION</a:t>
            </a:r>
            <a:endParaRPr lang="en-US" sz="700" dirty="0"/>
          </a:p>
        </p:txBody>
      </p:sp>
      <p:sp>
        <p:nvSpPr>
          <p:cNvPr id="36" name="Text 34"/>
          <p:cNvSpPr/>
          <p:nvPr/>
        </p:nvSpPr>
        <p:spPr>
          <a:xfrm>
            <a:off x="594360" y="4846320"/>
            <a:ext cx="7955280" cy="274320"/>
          </a:xfrm>
          <a:prstGeom prst="rect">
            <a:avLst/>
          </a:prstGeom>
          <a:noFill/>
          <a:ln/>
        </p:spPr>
        <p:txBody>
          <a:bodyPr wrap="square" rtlCol="0" anchor="ctr"/>
          <a:lstStyle/>
          <a:p>
            <a:pPr indent="0" marL="0">
              <a:buNone/>
            </a:pPr>
            <a:r>
              <a:rPr lang="en-US" sz="1050" b="1" dirty="0">
                <a:solidFill>
                  <a:srgbClr val="FFFFFF"/>
                </a:solidFill>
              </a:rPr>
              <a:t>6–18 Months Are Critical</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E5FF"/>
          </a:solidFill>
          <a:ln w="12700">
            <a:solidFill>
              <a:srgbClr val="00E5FF"/>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03</a:t>
            </a:r>
            <a:endParaRPr lang="en-US" sz="1100" dirty="0"/>
          </a:p>
        </p:txBody>
      </p:sp>
      <p:sp>
        <p:nvSpPr>
          <p:cNvPr id="4" name="Text 2"/>
          <p:cNvSpPr/>
          <p:nvPr/>
        </p:nvSpPr>
        <p:spPr>
          <a:xfrm>
            <a:off x="457200" y="164592"/>
            <a:ext cx="7315200" cy="777240"/>
          </a:xfrm>
          <a:prstGeom prst="rect">
            <a:avLst/>
          </a:prstGeom>
          <a:noFill/>
          <a:ln/>
        </p:spPr>
        <p:txBody>
          <a:bodyPr wrap="square" rtlCol="0" anchor="ctr"/>
          <a:lstStyle/>
          <a:p>
            <a:pPr indent="0" marL="0">
              <a:buNone/>
            </a:pPr>
            <a:r>
              <a:rPr lang="en-US" sz="2200" b="1" dirty="0">
                <a:solidFill>
                  <a:srgbClr val="FFFFFF"/>
                </a:solidFill>
              </a:rPr>
              <a:t>Market Inflection: AI Compute Density</a:t>
            </a:r>
            <a:endParaRPr lang="en-US" sz="2200" dirty="0"/>
          </a:p>
          <a:p>
            <a:pPr indent="0" marL="0">
              <a:buNone/>
            </a:pPr>
            <a:r>
              <a:rPr lang="en-US" sz="2200" b="1" dirty="0">
                <a:solidFill>
                  <a:srgbClr val="FFFFFF"/>
                </a:solidFill>
              </a:rPr>
              <a:t>Creates Thermal Bottleneck</a:t>
            </a:r>
            <a:endParaRPr lang="en-US" sz="2200" dirty="0"/>
          </a:p>
        </p:txBody>
      </p:sp>
      <p:sp>
        <p:nvSpPr>
          <p:cNvPr id="5" name="Shape 3"/>
          <p:cNvSpPr/>
          <p:nvPr/>
        </p:nvSpPr>
        <p:spPr>
          <a:xfrm>
            <a:off x="457200" y="1325880"/>
            <a:ext cx="8229600" cy="566928"/>
          </a:xfrm>
          <a:prstGeom prst="rect">
            <a:avLst/>
          </a:prstGeom>
          <a:solidFill>
            <a:srgbClr val="00E5FF">
              <a:alpha val="12000"/>
            </a:srgbClr>
          </a:solidFill>
          <a:ln w="12700">
            <a:solidFill>
              <a:srgbClr val="00E5FF"/>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00E5FF"/>
                </a:solidFill>
              </a:rPr>
              <a:t>AI compute density is growing faster than traditional thermal architecture can support</a:t>
            </a:r>
            <a:endParaRPr lang="en-US" sz="1050" dirty="0"/>
          </a:p>
        </p:txBody>
      </p:sp>
      <p:sp>
        <p:nvSpPr>
          <p:cNvPr id="7" name="Shape 5"/>
          <p:cNvSpPr/>
          <p:nvPr/>
        </p:nvSpPr>
        <p:spPr>
          <a:xfrm>
            <a:off x="457200" y="1993392"/>
            <a:ext cx="5303520" cy="301752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502920" y="2011680"/>
            <a:ext cx="5212080" cy="2971800"/>
          </a:xfrm>
          <a:prstGeom prst="rect">
            <a:avLst/>
          </a:prstGeom>
        </p:spPr>
      </p:pic>
      <p:sp>
        <p:nvSpPr>
          <p:cNvPr id="9" name="Shape 6"/>
          <p:cNvSpPr/>
          <p:nvPr/>
        </p:nvSpPr>
        <p:spPr>
          <a:xfrm>
            <a:off x="5943600" y="1993392"/>
            <a:ext cx="2926080" cy="658368"/>
          </a:xfrm>
          <a:prstGeom prst="rect">
            <a:avLst/>
          </a:prstGeom>
          <a:solidFill>
            <a:srgbClr val="111827"/>
          </a:solidFill>
          <a:ln w="12700">
            <a:solidFill>
              <a:srgbClr val="00E5FF"/>
            </a:solidFill>
            <a:prstDash val="solid"/>
          </a:ln>
          <a:effectLst>
            <a:outerShdw sx="100000" sy="100000" kx="0" ky="0" algn="bl" rotWithShape="0" blurRad="101600" dist="38100" dir="8100000">
              <a:srgbClr val="000000">
                <a:alpha val="35000"/>
              </a:srgbClr>
            </a:outerShdw>
          </a:effectLst>
        </p:spPr>
      </p:sp>
      <p:sp>
        <p:nvSpPr>
          <p:cNvPr id="10" name="Shape 7"/>
          <p:cNvSpPr/>
          <p:nvPr/>
        </p:nvSpPr>
        <p:spPr>
          <a:xfrm>
            <a:off x="5943600" y="1993392"/>
            <a:ext cx="2926080" cy="50292"/>
          </a:xfrm>
          <a:prstGeom prst="rect">
            <a:avLst/>
          </a:prstGeom>
          <a:solidFill>
            <a:srgbClr val="00E5FF"/>
          </a:solidFill>
          <a:ln/>
        </p:spPr>
      </p:sp>
      <p:sp>
        <p:nvSpPr>
          <p:cNvPr id="11" name="Text 8"/>
          <p:cNvSpPr/>
          <p:nvPr/>
        </p:nvSpPr>
        <p:spPr>
          <a:xfrm>
            <a:off x="6035040" y="2048256"/>
            <a:ext cx="1188720" cy="274320"/>
          </a:xfrm>
          <a:prstGeom prst="rect">
            <a:avLst/>
          </a:prstGeom>
          <a:noFill/>
          <a:ln/>
        </p:spPr>
        <p:txBody>
          <a:bodyPr wrap="square" rtlCol="0" anchor="ctr"/>
          <a:lstStyle/>
          <a:p>
            <a:pPr indent="0" marL="0">
              <a:buNone/>
            </a:pPr>
            <a:r>
              <a:rPr lang="en-US" sz="800" b="1" dirty="0">
                <a:solidFill>
                  <a:srgbClr val="00E5FF"/>
                </a:solidFill>
              </a:rPr>
              <a:t>GPU TDP</a:t>
            </a:r>
            <a:endParaRPr lang="en-US" sz="800" dirty="0"/>
          </a:p>
        </p:txBody>
      </p:sp>
      <p:sp>
        <p:nvSpPr>
          <p:cNvPr id="12" name="Text 9"/>
          <p:cNvSpPr/>
          <p:nvPr/>
        </p:nvSpPr>
        <p:spPr>
          <a:xfrm>
            <a:off x="7223760" y="2048256"/>
            <a:ext cx="1554480" cy="274320"/>
          </a:xfrm>
          <a:prstGeom prst="rect">
            <a:avLst/>
          </a:prstGeom>
          <a:noFill/>
          <a:ln/>
        </p:spPr>
        <p:txBody>
          <a:bodyPr wrap="square" rtlCol="0" anchor="ctr"/>
          <a:lstStyle/>
          <a:p>
            <a:pPr algn="r" indent="0" marL="0">
              <a:buNone/>
            </a:pPr>
            <a:r>
              <a:rPr lang="en-US" sz="1000" b="1" dirty="0">
                <a:solidFill>
                  <a:srgbClr val="FFFFFF"/>
                </a:solidFill>
              </a:rPr>
              <a:t>400W → 1,400W</a:t>
            </a:r>
            <a:endParaRPr lang="en-US" sz="1000" dirty="0"/>
          </a:p>
        </p:txBody>
      </p:sp>
      <p:sp>
        <p:nvSpPr>
          <p:cNvPr id="13" name="Text 10"/>
          <p:cNvSpPr/>
          <p:nvPr/>
        </p:nvSpPr>
        <p:spPr>
          <a:xfrm>
            <a:off x="6035040" y="2322576"/>
            <a:ext cx="2743200" cy="274320"/>
          </a:xfrm>
          <a:prstGeom prst="rect">
            <a:avLst/>
          </a:prstGeom>
          <a:noFill/>
          <a:ln/>
        </p:spPr>
        <p:txBody>
          <a:bodyPr wrap="square" rtlCol="0" anchor="ctr"/>
          <a:lstStyle/>
          <a:p>
            <a:pPr indent="0" marL="0">
              <a:buNone/>
            </a:pPr>
            <a:r>
              <a:rPr lang="en-US" sz="750" dirty="0">
                <a:solidFill>
                  <a:srgbClr val="9CA3AF"/>
                </a:solidFill>
              </a:rPr>
              <a:t>Per chip, 2022–2027+</a:t>
            </a:r>
            <a:endParaRPr lang="en-US" sz="750" dirty="0"/>
          </a:p>
        </p:txBody>
      </p:sp>
      <p:sp>
        <p:nvSpPr>
          <p:cNvPr id="14" name="Shape 11"/>
          <p:cNvSpPr/>
          <p:nvPr/>
        </p:nvSpPr>
        <p:spPr>
          <a:xfrm>
            <a:off x="5943600" y="2743200"/>
            <a:ext cx="2926080" cy="658368"/>
          </a:xfrm>
          <a:prstGeom prst="rect">
            <a:avLst/>
          </a:prstGeom>
          <a:solidFill>
            <a:srgbClr val="111827"/>
          </a:solidFill>
          <a:ln w="12700">
            <a:solidFill>
              <a:srgbClr val="00E676"/>
            </a:solidFill>
            <a:prstDash val="solid"/>
          </a:ln>
          <a:effectLst>
            <a:outerShdw sx="100000" sy="100000" kx="0" ky="0" algn="bl" rotWithShape="0" blurRad="101600" dist="38100" dir="8100000">
              <a:srgbClr val="000000">
                <a:alpha val="35000"/>
              </a:srgbClr>
            </a:outerShdw>
          </a:effectLst>
        </p:spPr>
      </p:sp>
      <p:sp>
        <p:nvSpPr>
          <p:cNvPr id="15" name="Shape 12"/>
          <p:cNvSpPr/>
          <p:nvPr/>
        </p:nvSpPr>
        <p:spPr>
          <a:xfrm>
            <a:off x="5943600" y="2743200"/>
            <a:ext cx="2926080" cy="50292"/>
          </a:xfrm>
          <a:prstGeom prst="rect">
            <a:avLst/>
          </a:prstGeom>
          <a:solidFill>
            <a:srgbClr val="00E676"/>
          </a:solidFill>
          <a:ln/>
        </p:spPr>
      </p:sp>
      <p:sp>
        <p:nvSpPr>
          <p:cNvPr id="16" name="Text 13"/>
          <p:cNvSpPr/>
          <p:nvPr/>
        </p:nvSpPr>
        <p:spPr>
          <a:xfrm>
            <a:off x="6035040" y="2798064"/>
            <a:ext cx="1188720" cy="274320"/>
          </a:xfrm>
          <a:prstGeom prst="rect">
            <a:avLst/>
          </a:prstGeom>
          <a:noFill/>
          <a:ln/>
        </p:spPr>
        <p:txBody>
          <a:bodyPr wrap="square" rtlCol="0" anchor="ctr"/>
          <a:lstStyle/>
          <a:p>
            <a:pPr indent="0" marL="0">
              <a:buNone/>
            </a:pPr>
            <a:r>
              <a:rPr lang="en-US" sz="800" b="1" dirty="0">
                <a:solidFill>
                  <a:srgbClr val="00E676"/>
                </a:solidFill>
              </a:rPr>
              <a:t>Rack Power</a:t>
            </a:r>
            <a:endParaRPr lang="en-US" sz="800" dirty="0"/>
          </a:p>
        </p:txBody>
      </p:sp>
      <p:sp>
        <p:nvSpPr>
          <p:cNvPr id="17" name="Text 14"/>
          <p:cNvSpPr/>
          <p:nvPr/>
        </p:nvSpPr>
        <p:spPr>
          <a:xfrm>
            <a:off x="7223760" y="2798064"/>
            <a:ext cx="1554480" cy="274320"/>
          </a:xfrm>
          <a:prstGeom prst="rect">
            <a:avLst/>
          </a:prstGeom>
          <a:noFill/>
          <a:ln/>
        </p:spPr>
        <p:txBody>
          <a:bodyPr wrap="square" rtlCol="0" anchor="ctr"/>
          <a:lstStyle/>
          <a:p>
            <a:pPr algn="r" indent="0" marL="0">
              <a:buNone/>
            </a:pPr>
            <a:r>
              <a:rPr lang="en-US" sz="1000" b="1" dirty="0">
                <a:solidFill>
                  <a:srgbClr val="FFFFFF"/>
                </a:solidFill>
              </a:rPr>
              <a:t>10kW → 160kW</a:t>
            </a:r>
            <a:endParaRPr lang="en-US" sz="1000" dirty="0"/>
          </a:p>
        </p:txBody>
      </p:sp>
      <p:sp>
        <p:nvSpPr>
          <p:cNvPr id="18" name="Text 15"/>
          <p:cNvSpPr/>
          <p:nvPr/>
        </p:nvSpPr>
        <p:spPr>
          <a:xfrm>
            <a:off x="6035040" y="3072384"/>
            <a:ext cx="2743200" cy="274320"/>
          </a:xfrm>
          <a:prstGeom prst="rect">
            <a:avLst/>
          </a:prstGeom>
          <a:noFill/>
          <a:ln/>
        </p:spPr>
        <p:txBody>
          <a:bodyPr wrap="square" rtlCol="0" anchor="ctr"/>
          <a:lstStyle/>
          <a:p>
            <a:pPr indent="0" marL="0">
              <a:buNone/>
            </a:pPr>
            <a:r>
              <a:rPr lang="en-US" sz="750" dirty="0">
                <a:solidFill>
                  <a:srgbClr val="9CA3AF"/>
                </a:solidFill>
              </a:rPr>
              <a:t>Per rack, 2022–2027+</a:t>
            </a:r>
            <a:endParaRPr lang="en-US" sz="750" dirty="0"/>
          </a:p>
        </p:txBody>
      </p:sp>
      <p:sp>
        <p:nvSpPr>
          <p:cNvPr id="19" name="Shape 16"/>
          <p:cNvSpPr/>
          <p:nvPr/>
        </p:nvSpPr>
        <p:spPr>
          <a:xfrm>
            <a:off x="5943600" y="3493008"/>
            <a:ext cx="2926080" cy="658368"/>
          </a:xfrm>
          <a:prstGeom prst="rect">
            <a:avLst/>
          </a:prstGeom>
          <a:solidFill>
            <a:srgbClr val="111827"/>
          </a:solidFill>
          <a:ln w="12700">
            <a:solidFill>
              <a:srgbClr val="F59E0B"/>
            </a:solidFill>
            <a:prstDash val="solid"/>
          </a:ln>
          <a:effectLst>
            <a:outerShdw sx="100000" sy="100000" kx="0" ky="0" algn="bl" rotWithShape="0" blurRad="101600" dist="38100" dir="8100000">
              <a:srgbClr val="000000">
                <a:alpha val="35000"/>
              </a:srgbClr>
            </a:outerShdw>
          </a:effectLst>
        </p:spPr>
      </p:sp>
      <p:sp>
        <p:nvSpPr>
          <p:cNvPr id="20" name="Shape 17"/>
          <p:cNvSpPr/>
          <p:nvPr/>
        </p:nvSpPr>
        <p:spPr>
          <a:xfrm>
            <a:off x="5943600" y="3493008"/>
            <a:ext cx="2926080" cy="50292"/>
          </a:xfrm>
          <a:prstGeom prst="rect">
            <a:avLst/>
          </a:prstGeom>
          <a:solidFill>
            <a:srgbClr val="F59E0B"/>
          </a:solidFill>
          <a:ln/>
        </p:spPr>
      </p:sp>
      <p:sp>
        <p:nvSpPr>
          <p:cNvPr id="21" name="Text 18"/>
          <p:cNvSpPr/>
          <p:nvPr/>
        </p:nvSpPr>
        <p:spPr>
          <a:xfrm>
            <a:off x="6035040" y="3547872"/>
            <a:ext cx="1188720" cy="274320"/>
          </a:xfrm>
          <a:prstGeom prst="rect">
            <a:avLst/>
          </a:prstGeom>
          <a:noFill/>
          <a:ln/>
        </p:spPr>
        <p:txBody>
          <a:bodyPr wrap="square" rtlCol="0" anchor="ctr"/>
          <a:lstStyle/>
          <a:p>
            <a:pPr indent="0" marL="0">
              <a:buNone/>
            </a:pPr>
            <a:r>
              <a:rPr lang="en-US" sz="800" b="1" dirty="0">
                <a:solidFill>
                  <a:srgbClr val="F59E0B"/>
                </a:solidFill>
              </a:rPr>
              <a:t>Inflection</a:t>
            </a:r>
            <a:endParaRPr lang="en-US" sz="800" dirty="0"/>
          </a:p>
        </p:txBody>
      </p:sp>
      <p:sp>
        <p:nvSpPr>
          <p:cNvPr id="22" name="Text 19"/>
          <p:cNvSpPr/>
          <p:nvPr/>
        </p:nvSpPr>
        <p:spPr>
          <a:xfrm>
            <a:off x="7223760" y="3547872"/>
            <a:ext cx="1554480" cy="274320"/>
          </a:xfrm>
          <a:prstGeom prst="rect">
            <a:avLst/>
          </a:prstGeom>
          <a:noFill/>
          <a:ln/>
        </p:spPr>
        <p:txBody>
          <a:bodyPr wrap="square" rtlCol="0" anchor="ctr"/>
          <a:lstStyle/>
          <a:p>
            <a:pPr algn="r" indent="0" marL="0">
              <a:buNone/>
            </a:pPr>
            <a:r>
              <a:rPr lang="en-US" sz="1000" b="1" dirty="0">
                <a:solidFill>
                  <a:srgbClr val="FFFFFF"/>
                </a:solidFill>
              </a:rPr>
              <a:t>GB200 NVL72</a:t>
            </a:r>
            <a:endParaRPr lang="en-US" sz="1000" dirty="0"/>
          </a:p>
        </p:txBody>
      </p:sp>
      <p:sp>
        <p:nvSpPr>
          <p:cNvPr id="23" name="Text 20"/>
          <p:cNvSpPr/>
          <p:nvPr/>
        </p:nvSpPr>
        <p:spPr>
          <a:xfrm>
            <a:off x="6035040" y="3822192"/>
            <a:ext cx="2743200" cy="274320"/>
          </a:xfrm>
          <a:prstGeom prst="rect">
            <a:avLst/>
          </a:prstGeom>
          <a:noFill/>
          <a:ln/>
        </p:spPr>
        <p:txBody>
          <a:bodyPr wrap="square" rtlCol="0" anchor="ctr"/>
          <a:lstStyle/>
          <a:p>
            <a:pPr indent="0" marL="0">
              <a:buNone/>
            </a:pPr>
            <a:r>
              <a:rPr lang="en-US" sz="750" dirty="0">
                <a:solidFill>
                  <a:srgbClr val="9CA3AF"/>
                </a:solidFill>
              </a:rPr>
              <a:t>~80–130kW/rack, liquid required</a:t>
            </a:r>
            <a:endParaRPr lang="en-US" sz="750" dirty="0"/>
          </a:p>
        </p:txBody>
      </p:sp>
      <p:sp>
        <p:nvSpPr>
          <p:cNvPr id="24" name="Shape 21"/>
          <p:cNvSpPr/>
          <p:nvPr/>
        </p:nvSpPr>
        <p:spPr>
          <a:xfrm>
            <a:off x="5943600" y="4242816"/>
            <a:ext cx="2926080" cy="658368"/>
          </a:xfrm>
          <a:prstGeom prst="rect">
            <a:avLst/>
          </a:prstGeom>
          <a:solidFill>
            <a:srgbClr val="111827"/>
          </a:solidFill>
          <a:ln w="12700">
            <a:solidFill>
              <a:srgbClr val="A855F7"/>
            </a:solidFill>
            <a:prstDash val="solid"/>
          </a:ln>
          <a:effectLst>
            <a:outerShdw sx="100000" sy="100000" kx="0" ky="0" algn="bl" rotWithShape="0" blurRad="101600" dist="38100" dir="8100000">
              <a:srgbClr val="000000">
                <a:alpha val="35000"/>
              </a:srgbClr>
            </a:outerShdw>
          </a:effectLst>
        </p:spPr>
      </p:sp>
      <p:sp>
        <p:nvSpPr>
          <p:cNvPr id="25" name="Shape 22"/>
          <p:cNvSpPr/>
          <p:nvPr/>
        </p:nvSpPr>
        <p:spPr>
          <a:xfrm>
            <a:off x="5943600" y="4242816"/>
            <a:ext cx="2926080" cy="50292"/>
          </a:xfrm>
          <a:prstGeom prst="rect">
            <a:avLst/>
          </a:prstGeom>
          <a:solidFill>
            <a:srgbClr val="A855F7"/>
          </a:solidFill>
          <a:ln/>
        </p:spPr>
      </p:sp>
      <p:sp>
        <p:nvSpPr>
          <p:cNvPr id="26" name="Text 23"/>
          <p:cNvSpPr/>
          <p:nvPr/>
        </p:nvSpPr>
        <p:spPr>
          <a:xfrm>
            <a:off x="6035040" y="4297680"/>
            <a:ext cx="1188720" cy="274320"/>
          </a:xfrm>
          <a:prstGeom prst="rect">
            <a:avLst/>
          </a:prstGeom>
          <a:noFill/>
          <a:ln/>
        </p:spPr>
        <p:txBody>
          <a:bodyPr wrap="square" rtlCol="0" anchor="ctr"/>
          <a:lstStyle/>
          <a:p>
            <a:pPr indent="0" marL="0">
              <a:buNone/>
            </a:pPr>
            <a:r>
              <a:rPr lang="en-US" sz="800" b="1" dirty="0">
                <a:solidFill>
                  <a:srgbClr val="A855F7"/>
                </a:solidFill>
              </a:rPr>
              <a:t>Market</a:t>
            </a:r>
            <a:endParaRPr lang="en-US" sz="800" dirty="0"/>
          </a:p>
        </p:txBody>
      </p:sp>
      <p:sp>
        <p:nvSpPr>
          <p:cNvPr id="27" name="Text 24"/>
          <p:cNvSpPr/>
          <p:nvPr/>
        </p:nvSpPr>
        <p:spPr>
          <a:xfrm>
            <a:off x="7223760" y="4297680"/>
            <a:ext cx="1554480" cy="274320"/>
          </a:xfrm>
          <a:prstGeom prst="rect">
            <a:avLst/>
          </a:prstGeom>
          <a:noFill/>
          <a:ln/>
        </p:spPr>
        <p:txBody>
          <a:bodyPr wrap="square" rtlCol="0" anchor="ctr"/>
          <a:lstStyle/>
          <a:p>
            <a:pPr algn="r" indent="0" marL="0">
              <a:buNone/>
            </a:pPr>
            <a:r>
              <a:rPr lang="en-US" sz="1000" b="1" dirty="0">
                <a:solidFill>
                  <a:srgbClr val="FFFFFF"/>
                </a:solidFill>
              </a:rPr>
              <a:t>$4.2B → $39.1B</a:t>
            </a:r>
            <a:endParaRPr lang="en-US" sz="1000" dirty="0"/>
          </a:p>
        </p:txBody>
      </p:sp>
      <p:sp>
        <p:nvSpPr>
          <p:cNvPr id="28" name="Text 25"/>
          <p:cNvSpPr/>
          <p:nvPr/>
        </p:nvSpPr>
        <p:spPr>
          <a:xfrm>
            <a:off x="6035040" y="4572000"/>
            <a:ext cx="2743200" cy="274320"/>
          </a:xfrm>
          <a:prstGeom prst="rect">
            <a:avLst/>
          </a:prstGeom>
          <a:noFill/>
          <a:ln/>
        </p:spPr>
        <p:txBody>
          <a:bodyPr wrap="square" rtlCol="0" anchor="ctr"/>
          <a:lstStyle/>
          <a:p>
            <a:pPr indent="0" marL="0">
              <a:buNone/>
            </a:pPr>
            <a:r>
              <a:rPr lang="en-US" sz="750" dirty="0">
                <a:solidFill>
                  <a:srgbClr val="9CA3AF"/>
                </a:solidFill>
              </a:rPr>
              <a:t>Liquid cooling TAM by 2030 (M&amp;M)</a:t>
            </a:r>
            <a:endParaRPr lang="en-US" sz="750" dirty="0"/>
          </a:p>
        </p:txBody>
      </p:sp>
      <p:sp>
        <p:nvSpPr>
          <p:cNvPr id="29" name="Text 26"/>
          <p:cNvSpPr/>
          <p:nvPr/>
        </p:nvSpPr>
        <p:spPr>
          <a:xfrm>
            <a:off x="457200" y="4572000"/>
            <a:ext cx="8412480" cy="502920"/>
          </a:xfrm>
          <a:prstGeom prst="rect">
            <a:avLst/>
          </a:prstGeom>
          <a:noFill/>
          <a:ln/>
        </p:spPr>
        <p:txBody>
          <a:bodyPr wrap="square" rtlCol="0" anchor="ctr"/>
          <a:lstStyle/>
          <a:p>
            <a:pPr marL="342900" indent="-342900">
              <a:buSzPct val="100000"/>
              <a:buChar char="•"/>
            </a:pPr>
            <a:r>
              <a:rPr lang="en-US" sz="950" dirty="0">
                <a:solidFill>
                  <a:srgbClr val="9CA3AF"/>
                </a:solidFill>
              </a:rPr>
              <a:t>Rubin (2027+): GPU TDP 1,400W+，Rack power 160kW+ — 風冷已物理不可行</a:t>
            </a:r>
            <a:endParaRPr lang="en-US" sz="950" dirty="0"/>
          </a:p>
          <a:p>
            <a:pPr marL="342900" indent="-342900">
              <a:buSzPct val="100000"/>
              <a:buChar char="•"/>
            </a:pPr>
            <a:r>
              <a:rPr lang="en-US" sz="950" dirty="0">
                <a:solidFill>
                  <a:srgbClr val="9CA3AF"/>
                </a:solidFill>
              </a:rPr>
              <a:t>散熱瓶頸成為AI基礎建設擴張的硬約束，而非成本問題</a:t>
            </a:r>
            <a:endParaRPr lang="en-US" sz="950" dirty="0"/>
          </a:p>
          <a:p>
            <a:pPr marL="342900" indent="-342900">
              <a:buSzPct val="100000"/>
              <a:buChar char="•"/>
            </a:pPr>
            <a:r>
              <a:rPr lang="en-US" sz="950" dirty="0">
                <a:solidFill>
                  <a:srgbClr val="9CA3AF"/>
                </a:solidFill>
              </a:rPr>
              <a:t>誰能解決散熱問題，誰就能贏得AI基礎建設的市佔率</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891B2"/>
          </a:solidFill>
          <a:ln w="12700">
            <a:solidFill>
              <a:srgbClr val="0891B2"/>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04</a:t>
            </a:r>
            <a:endParaRPr lang="en-US" sz="1100" dirty="0"/>
          </a:p>
        </p:txBody>
      </p:sp>
      <p:sp>
        <p:nvSpPr>
          <p:cNvPr id="4" name="Text 2"/>
          <p:cNvSpPr/>
          <p:nvPr/>
        </p:nvSpPr>
        <p:spPr>
          <a:xfrm>
            <a:off x="457200" y="164592"/>
            <a:ext cx="7772400" cy="594360"/>
          </a:xfrm>
          <a:prstGeom prst="rect">
            <a:avLst/>
          </a:prstGeom>
          <a:noFill/>
          <a:ln/>
        </p:spPr>
        <p:txBody>
          <a:bodyPr wrap="square" rtlCol="0" anchor="ctr"/>
          <a:lstStyle/>
          <a:p>
            <a:pPr indent="0" marL="0">
              <a:buNone/>
            </a:pPr>
            <a:r>
              <a:rPr lang="en-US" sz="2200" b="1" dirty="0">
                <a:solidFill>
                  <a:srgbClr val="FFFFFF"/>
                </a:solidFill>
              </a:rPr>
              <a:t>Why Air Cooling Alone Is No Longer Enough</a:t>
            </a:r>
            <a:endParaRPr lang="en-US" sz="2200" dirty="0"/>
          </a:p>
        </p:txBody>
      </p:sp>
      <p:sp>
        <p:nvSpPr>
          <p:cNvPr id="5" name="Shape 3"/>
          <p:cNvSpPr/>
          <p:nvPr/>
        </p:nvSpPr>
        <p:spPr>
          <a:xfrm>
            <a:off x="457200" y="1325880"/>
            <a:ext cx="8229600" cy="566928"/>
          </a:xfrm>
          <a:prstGeom prst="rect">
            <a:avLst/>
          </a:prstGeom>
          <a:solidFill>
            <a:srgbClr val="4FC3F7">
              <a:alpha val="12000"/>
            </a:srgbClr>
          </a:solidFill>
          <a:ln w="12700">
            <a:solidFill>
              <a:srgbClr val="4FC3F7"/>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4FC3F7"/>
                </a:solidFill>
              </a:rPr>
              <a:t>Not air vs. liquid — but hybrid air + liquid is the new standard architecture</a:t>
            </a:r>
            <a:endParaRPr lang="en-US" sz="1050" dirty="0"/>
          </a:p>
        </p:txBody>
      </p:sp>
      <p:sp>
        <p:nvSpPr>
          <p:cNvPr id="7" name="Shape 5"/>
          <p:cNvSpPr/>
          <p:nvPr/>
        </p:nvSpPr>
        <p:spPr>
          <a:xfrm>
            <a:off x="457200" y="1993392"/>
            <a:ext cx="5120640" cy="301752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502920" y="2011680"/>
            <a:ext cx="5029200" cy="2971800"/>
          </a:xfrm>
          <a:prstGeom prst="rect">
            <a:avLst/>
          </a:prstGeom>
        </p:spPr>
      </p:pic>
      <p:sp>
        <p:nvSpPr>
          <p:cNvPr id="9" name="Shape 6"/>
          <p:cNvSpPr/>
          <p:nvPr/>
        </p:nvSpPr>
        <p:spPr>
          <a:xfrm>
            <a:off x="5715000" y="1993392"/>
            <a:ext cx="3154680" cy="1371600"/>
          </a:xfrm>
          <a:prstGeom prst="rect">
            <a:avLst/>
          </a:prstGeom>
          <a:solidFill>
            <a:srgbClr val="111827"/>
          </a:solidFill>
          <a:ln w="19050">
            <a:solidFill>
              <a:srgbClr val="00E676"/>
            </a:solidFill>
            <a:prstDash val="solid"/>
          </a:ln>
          <a:effectLst>
            <a:outerShdw sx="100000" sy="100000" kx="0" ky="0" algn="bl" rotWithShape="0" blurRad="101600" dist="38100" dir="8100000">
              <a:srgbClr val="000000">
                <a:alpha val="35000"/>
              </a:srgbClr>
            </a:outerShdw>
          </a:effectLst>
        </p:spPr>
      </p:sp>
      <p:sp>
        <p:nvSpPr>
          <p:cNvPr id="10" name="Shape 7"/>
          <p:cNvSpPr/>
          <p:nvPr/>
        </p:nvSpPr>
        <p:spPr>
          <a:xfrm>
            <a:off x="5715000" y="1993392"/>
            <a:ext cx="3154680" cy="50292"/>
          </a:xfrm>
          <a:prstGeom prst="rect">
            <a:avLst/>
          </a:prstGeom>
          <a:solidFill>
            <a:srgbClr val="00E676"/>
          </a:solidFill>
          <a:ln/>
        </p:spPr>
      </p:sp>
      <p:sp>
        <p:nvSpPr>
          <p:cNvPr id="11" name="Text 8"/>
          <p:cNvSpPr/>
          <p:nvPr/>
        </p:nvSpPr>
        <p:spPr>
          <a:xfrm>
            <a:off x="5806440" y="2011680"/>
            <a:ext cx="2926080" cy="320040"/>
          </a:xfrm>
          <a:prstGeom prst="rect">
            <a:avLst/>
          </a:prstGeom>
          <a:noFill/>
          <a:ln/>
        </p:spPr>
        <p:txBody>
          <a:bodyPr wrap="square" rtlCol="0" anchor="ctr"/>
          <a:lstStyle/>
          <a:p>
            <a:pPr indent="0" marL="0">
              <a:buNone/>
            </a:pPr>
            <a:r>
              <a:rPr lang="en-US" sz="1050" b="1" dirty="0">
                <a:solidFill>
                  <a:srgbClr val="00E676"/>
                </a:solidFill>
              </a:rPr>
              <a:t>Air Cooling Still Required</a:t>
            </a:r>
            <a:endParaRPr lang="en-US" sz="1050" dirty="0"/>
          </a:p>
        </p:txBody>
      </p:sp>
      <p:sp>
        <p:nvSpPr>
          <p:cNvPr id="12" name="Text 9"/>
          <p:cNvSpPr/>
          <p:nvPr/>
        </p:nvSpPr>
        <p:spPr>
          <a:xfrm>
            <a:off x="5806440" y="2331720"/>
            <a:ext cx="2926080" cy="960120"/>
          </a:xfrm>
          <a:prstGeom prst="rect">
            <a:avLst/>
          </a:prstGeom>
          <a:noFill/>
          <a:ln/>
        </p:spPr>
        <p:txBody>
          <a:bodyPr wrap="square" rtlCol="0" anchor="ctr"/>
          <a:lstStyle/>
          <a:p>
            <a:pPr marL="342900" indent="-342900">
              <a:buSzPct val="100000"/>
              <a:buChar char="•"/>
            </a:pPr>
            <a:r>
              <a:rPr lang="en-US" sz="900" dirty="0">
                <a:solidFill>
                  <a:srgbClr val="9CA3AF"/>
                </a:solidFill>
              </a:rPr>
              <a:t>Memory modules (HBM)</a:t>
            </a:r>
            <a:endParaRPr lang="en-US" sz="900" dirty="0"/>
          </a:p>
          <a:p>
            <a:pPr marL="342900" indent="-342900">
              <a:buSzPct val="100000"/>
              <a:buChar char="•"/>
            </a:pPr>
            <a:r>
              <a:rPr lang="en-US" sz="900" dirty="0">
                <a:solidFill>
                  <a:srgbClr val="9CA3AF"/>
                </a:solidFill>
              </a:rPr>
              <a:t>PCB / power delivery</a:t>
            </a:r>
            <a:endParaRPr lang="en-US" sz="900" dirty="0"/>
          </a:p>
          <a:p>
            <a:pPr marL="342900" indent="-342900">
              <a:buSzPct val="100000"/>
              <a:buChar char="•"/>
            </a:pPr>
            <a:r>
              <a:rPr lang="en-US" sz="900" dirty="0">
                <a:solidFill>
                  <a:srgbClr val="9CA3AF"/>
                </a:solidFill>
              </a:rPr>
              <a:t>Storage / networking</a:t>
            </a:r>
            <a:endParaRPr lang="en-US" sz="900" dirty="0"/>
          </a:p>
          <a:p>
            <a:pPr marL="342900" indent="-342900">
              <a:buSzPct val="100000"/>
              <a:buChar char="•"/>
            </a:pPr>
            <a:r>
              <a:rPr lang="en-US" sz="900" dirty="0">
                <a:solidFill>
                  <a:srgbClr val="9CA3AF"/>
                </a:solidFill>
              </a:rPr>
              <a:t>Low-power accessories</a:t>
            </a:r>
            <a:endParaRPr lang="en-US" sz="900" dirty="0"/>
          </a:p>
        </p:txBody>
      </p:sp>
      <p:sp>
        <p:nvSpPr>
          <p:cNvPr id="13" name="Shape 10"/>
          <p:cNvSpPr/>
          <p:nvPr/>
        </p:nvSpPr>
        <p:spPr>
          <a:xfrm>
            <a:off x="5715000" y="3493008"/>
            <a:ext cx="3154680" cy="1517904"/>
          </a:xfrm>
          <a:prstGeom prst="rect">
            <a:avLst/>
          </a:prstGeom>
          <a:solidFill>
            <a:srgbClr val="111827"/>
          </a:solidFill>
          <a:ln w="19050">
            <a:solidFill>
              <a:srgbClr val="EF4444"/>
            </a:solidFill>
            <a:prstDash val="solid"/>
          </a:ln>
          <a:effectLst>
            <a:outerShdw sx="100000" sy="100000" kx="0" ky="0" algn="bl" rotWithShape="0" blurRad="101600" dist="38100" dir="8100000">
              <a:srgbClr val="000000">
                <a:alpha val="35000"/>
              </a:srgbClr>
            </a:outerShdw>
          </a:effectLst>
        </p:spPr>
      </p:sp>
      <p:sp>
        <p:nvSpPr>
          <p:cNvPr id="14" name="Shape 11"/>
          <p:cNvSpPr/>
          <p:nvPr/>
        </p:nvSpPr>
        <p:spPr>
          <a:xfrm>
            <a:off x="5715000" y="3493008"/>
            <a:ext cx="3154680" cy="50292"/>
          </a:xfrm>
          <a:prstGeom prst="rect">
            <a:avLst/>
          </a:prstGeom>
          <a:solidFill>
            <a:srgbClr val="EF4444"/>
          </a:solidFill>
          <a:ln/>
        </p:spPr>
      </p:sp>
      <p:sp>
        <p:nvSpPr>
          <p:cNvPr id="15" name="Text 12"/>
          <p:cNvSpPr/>
          <p:nvPr/>
        </p:nvSpPr>
        <p:spPr>
          <a:xfrm>
            <a:off x="5806440" y="3511296"/>
            <a:ext cx="2926080" cy="320040"/>
          </a:xfrm>
          <a:prstGeom prst="rect">
            <a:avLst/>
          </a:prstGeom>
          <a:noFill/>
          <a:ln/>
        </p:spPr>
        <p:txBody>
          <a:bodyPr wrap="square" rtlCol="0" anchor="ctr"/>
          <a:lstStyle/>
          <a:p>
            <a:pPr indent="0" marL="0">
              <a:buNone/>
            </a:pPr>
            <a:r>
              <a:rPr lang="en-US" sz="1050" b="1" dirty="0">
                <a:solidFill>
                  <a:srgbClr val="EF4444"/>
                </a:solidFill>
              </a:rPr>
              <a:t>Air Cooling Limitations</a:t>
            </a:r>
            <a:endParaRPr lang="en-US" sz="1050" dirty="0"/>
          </a:p>
        </p:txBody>
      </p:sp>
      <p:sp>
        <p:nvSpPr>
          <p:cNvPr id="16" name="Text 13"/>
          <p:cNvSpPr/>
          <p:nvPr/>
        </p:nvSpPr>
        <p:spPr>
          <a:xfrm>
            <a:off x="5806440" y="3831336"/>
            <a:ext cx="2926080" cy="1115568"/>
          </a:xfrm>
          <a:prstGeom prst="rect">
            <a:avLst/>
          </a:prstGeom>
          <a:noFill/>
          <a:ln/>
        </p:spPr>
        <p:txBody>
          <a:bodyPr wrap="square" rtlCol="0" anchor="ctr"/>
          <a:lstStyle/>
          <a:p>
            <a:pPr marL="342900" indent="-342900">
              <a:buSzPct val="100000"/>
              <a:buChar char="•"/>
            </a:pPr>
            <a:r>
              <a:rPr lang="en-US" sz="900" dirty="0">
                <a:solidFill>
                  <a:srgbClr val="9CA3AF"/>
                </a:solidFill>
              </a:rPr>
              <a:t>Heat flux上限 ~50W/cm²，GPU已超標</a:t>
            </a:r>
            <a:endParaRPr lang="en-US" sz="900" dirty="0"/>
          </a:p>
          <a:p>
            <a:pPr marL="342900" indent="-342900">
              <a:buSzPct val="100000"/>
              <a:buChar char="•"/>
            </a:pPr>
            <a:r>
              <a:rPr lang="en-US" sz="900" dirty="0">
                <a:solidFill>
                  <a:srgbClr val="9CA3AF"/>
                </a:solidFill>
              </a:rPr>
              <a:t>Fan噪音與功耗隨密度非線性增加</a:t>
            </a:r>
            <a:endParaRPr lang="en-US" sz="900" dirty="0"/>
          </a:p>
          <a:p>
            <a:pPr marL="342900" indent="-342900">
              <a:buSzPct val="100000"/>
              <a:buChar char="•"/>
            </a:pPr>
            <a:r>
              <a:rPr lang="en-US" sz="900" dirty="0">
                <a:solidFill>
                  <a:srgbClr val="9CA3AF"/>
                </a:solidFill>
              </a:rPr>
              <a:t>Rack power &gt; 30kW時，TCO急速上升</a:t>
            </a:r>
            <a:endParaRPr lang="en-US" sz="900" dirty="0"/>
          </a:p>
          <a:p>
            <a:pPr marL="342900" indent="-342900">
              <a:buSzPct val="100000"/>
              <a:buChar char="•"/>
            </a:pPr>
            <a:r>
              <a:rPr lang="en-US" sz="900" dirty="0">
                <a:solidFill>
                  <a:srgbClr val="9CA3AF"/>
                </a:solidFill>
              </a:rPr>
              <a:t>PUE penalty：高密度風冷機房PUE &gt; 1.4</a:t>
            </a:r>
            <a:endParaRPr lang="en-US" sz="900" dirty="0"/>
          </a:p>
        </p:txBody>
      </p:sp>
      <p:sp>
        <p:nvSpPr>
          <p:cNvPr id="17" name="Shape 14"/>
          <p:cNvSpPr/>
          <p:nvPr/>
        </p:nvSpPr>
        <p:spPr>
          <a:xfrm>
            <a:off x="457200" y="4663440"/>
            <a:ext cx="8412480" cy="411480"/>
          </a:xfrm>
          <a:prstGeom prst="rect">
            <a:avLst/>
          </a:prstGeom>
          <a:solidFill>
            <a:srgbClr val="00E676">
              <a:alpha val="12000"/>
            </a:srgbClr>
          </a:solidFill>
          <a:ln w="12700">
            <a:solidFill>
              <a:srgbClr val="00E676"/>
            </a:solidFill>
            <a:prstDash val="solid"/>
          </a:ln>
        </p:spPr>
      </p:sp>
      <p:sp>
        <p:nvSpPr>
          <p:cNvPr id="18" name="Text 15"/>
          <p:cNvSpPr/>
          <p:nvPr/>
        </p:nvSpPr>
        <p:spPr>
          <a:xfrm>
            <a:off x="548640" y="4681728"/>
            <a:ext cx="8229600" cy="365760"/>
          </a:xfrm>
          <a:prstGeom prst="rect">
            <a:avLst/>
          </a:prstGeom>
          <a:noFill/>
          <a:ln/>
        </p:spPr>
        <p:txBody>
          <a:bodyPr wrap="square" rtlCol="0" anchor="ctr"/>
          <a:lstStyle/>
          <a:p>
            <a:pPr indent="0" marL="0">
              <a:buNone/>
            </a:pPr>
            <a:r>
              <a:rPr lang="en-US" sz="900" dirty="0">
                <a:solidFill>
                  <a:srgbClr val="00E676"/>
                </a:solidFill>
              </a:rPr>
              <a:t>KEY INSIGHT: Hybrid = Liquid handles GPU/CPU hotspot + Air handles memory/PCB/power. TMSBU benefits from BOTH trends.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E5FF"/>
          </a:solidFill>
          <a:ln w="12700">
            <a:solidFill>
              <a:srgbClr val="00E5FF"/>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05</a:t>
            </a:r>
            <a:endParaRPr lang="en-US" sz="1100" dirty="0"/>
          </a:p>
        </p:txBody>
      </p:sp>
      <p:sp>
        <p:nvSpPr>
          <p:cNvPr id="4" name="Text 2"/>
          <p:cNvSpPr/>
          <p:nvPr/>
        </p:nvSpPr>
        <p:spPr>
          <a:xfrm>
            <a:off x="457200" y="137160"/>
            <a:ext cx="7772400" cy="777240"/>
          </a:xfrm>
          <a:prstGeom prst="rect">
            <a:avLst/>
          </a:prstGeom>
          <a:noFill/>
          <a:ln/>
        </p:spPr>
        <p:txBody>
          <a:bodyPr wrap="square" rtlCol="0" anchor="ctr"/>
          <a:lstStyle/>
          <a:p>
            <a:pPr indent="0" marL="0">
              <a:buNone/>
            </a:pPr>
            <a:r>
              <a:rPr lang="en-US" sz="2200" b="1" dirty="0">
                <a:solidFill>
                  <a:srgbClr val="FFFFFF"/>
                </a:solidFill>
              </a:rPr>
              <a:t>Liquid Cooling Architecture Becomes</a:t>
            </a:r>
            <a:endParaRPr lang="en-US" sz="2200" dirty="0"/>
          </a:p>
          <a:p>
            <a:pPr indent="0" marL="0">
              <a:buNone/>
            </a:pPr>
            <a:r>
              <a:rPr lang="en-US" sz="2200" b="1" dirty="0">
                <a:solidFill>
                  <a:srgbClr val="FFFFFF"/>
                </a:solidFill>
              </a:rPr>
              <a:t>the New Standard</a:t>
            </a:r>
            <a:endParaRPr lang="en-US" sz="2200" dirty="0"/>
          </a:p>
        </p:txBody>
      </p:sp>
      <p:sp>
        <p:nvSpPr>
          <p:cNvPr id="5" name="Shape 3"/>
          <p:cNvSpPr/>
          <p:nvPr/>
        </p:nvSpPr>
        <p:spPr>
          <a:xfrm>
            <a:off x="457200" y="1325880"/>
            <a:ext cx="8229600" cy="566928"/>
          </a:xfrm>
          <a:prstGeom prst="rect">
            <a:avLst/>
          </a:prstGeom>
          <a:solidFill>
            <a:srgbClr val="00E676">
              <a:alpha val="12000"/>
            </a:srgbClr>
          </a:solidFill>
          <a:ln w="12700">
            <a:solidFill>
              <a:srgbClr val="00E676"/>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00E676"/>
                </a:solidFill>
              </a:rPr>
              <a:t>液冷的價值不在冷板，在於完整系統整合：Cold Plate + CDU + Manifold + Quick Connector + Leak Detection</a:t>
            </a:r>
            <a:endParaRPr lang="en-US" sz="1050" dirty="0"/>
          </a:p>
        </p:txBody>
      </p:sp>
      <p:sp>
        <p:nvSpPr>
          <p:cNvPr id="7" name="Shape 5"/>
          <p:cNvSpPr/>
          <p:nvPr/>
        </p:nvSpPr>
        <p:spPr>
          <a:xfrm>
            <a:off x="457200" y="1993392"/>
            <a:ext cx="8412480" cy="306324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502920" y="2011680"/>
            <a:ext cx="8321040" cy="3017520"/>
          </a:xfrm>
          <a:prstGeom prst="rect">
            <a:avLst/>
          </a:prstGeom>
        </p:spPr>
      </p:pic>
      <p:sp>
        <p:nvSpPr>
          <p:cNvPr id="9" name="Text 6"/>
          <p:cNvSpPr/>
          <p:nvPr/>
        </p:nvSpPr>
        <p:spPr>
          <a:xfrm>
            <a:off x="457200" y="5074920"/>
            <a:ext cx="8412480" cy="228600"/>
          </a:xfrm>
          <a:prstGeom prst="rect">
            <a:avLst/>
          </a:prstGeom>
          <a:noFill/>
          <a:ln/>
        </p:spPr>
        <p:txBody>
          <a:bodyPr wrap="square" rtlCol="0" anchor="ctr"/>
          <a:lstStyle/>
          <a:p>
            <a:pPr indent="0" marL="0">
              <a:buNone/>
            </a:pPr>
            <a:r>
              <a:rPr lang="en-US" sz="700" dirty="0">
                <a:solidFill>
                  <a:srgbClr val="6B7280"/>
                </a:solidFill>
              </a:rPr>
              <a:t>Source: Industry analysis, TMSBU thermal engineering. Cold Plate → Server CDU → Rack CDU → Facility Cooling = Full System Integration Value Chain</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E676"/>
          </a:solidFill>
          <a:ln w="12700">
            <a:solidFill>
              <a:srgbClr val="00E676"/>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06</a:t>
            </a:r>
            <a:endParaRPr lang="en-US" sz="1100" dirty="0"/>
          </a:p>
        </p:txBody>
      </p:sp>
      <p:sp>
        <p:nvSpPr>
          <p:cNvPr id="4" name="Text 2"/>
          <p:cNvSpPr/>
          <p:nvPr/>
        </p:nvSpPr>
        <p:spPr>
          <a:xfrm>
            <a:off x="457200" y="137160"/>
            <a:ext cx="7772400" cy="777240"/>
          </a:xfrm>
          <a:prstGeom prst="rect">
            <a:avLst/>
          </a:prstGeom>
          <a:noFill/>
          <a:ln/>
        </p:spPr>
        <p:txBody>
          <a:bodyPr wrap="square" rtlCol="0" anchor="ctr"/>
          <a:lstStyle/>
          <a:p>
            <a:pPr indent="0" marL="0">
              <a:buNone/>
            </a:pPr>
            <a:r>
              <a:rPr lang="en-US" sz="2100" b="1" dirty="0">
                <a:solidFill>
                  <a:srgbClr val="FFFFFF"/>
                </a:solidFill>
              </a:rPr>
              <a:t>TMSBU Portfolio Mapping:</a:t>
            </a:r>
            <a:endParaRPr lang="en-US" sz="2100" dirty="0"/>
          </a:p>
          <a:p>
            <a:pPr indent="0" marL="0">
              <a:buNone/>
            </a:pPr>
            <a:r>
              <a:rPr lang="en-US" sz="2100" b="1" dirty="0">
                <a:solidFill>
                  <a:srgbClr val="FFFFFF"/>
                </a:solidFill>
              </a:rPr>
              <a:t>From Air Cooling to Liquid Cooling</a:t>
            </a:r>
            <a:endParaRPr lang="en-US" sz="2100" dirty="0"/>
          </a:p>
        </p:txBody>
      </p:sp>
      <p:sp>
        <p:nvSpPr>
          <p:cNvPr id="5" name="Shape 3"/>
          <p:cNvSpPr/>
          <p:nvPr/>
        </p:nvSpPr>
        <p:spPr>
          <a:xfrm>
            <a:off x="457200" y="1325880"/>
            <a:ext cx="8229600" cy="566928"/>
          </a:xfrm>
          <a:prstGeom prst="rect">
            <a:avLst/>
          </a:prstGeom>
          <a:solidFill>
            <a:srgbClr val="00E676">
              <a:alpha val="12000"/>
            </a:srgbClr>
          </a:solidFill>
          <a:ln w="12700">
            <a:solidFill>
              <a:srgbClr val="00E676"/>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00E676"/>
                </a:solidFill>
              </a:rPr>
              <a:t>Delta TMSBU has a natural expansion path from existing thermal components into liquid cooling modules and systems</a:t>
            </a:r>
            <a:endParaRPr lang="en-US" sz="1050" dirty="0"/>
          </a:p>
        </p:txBody>
      </p:sp>
      <p:sp>
        <p:nvSpPr>
          <p:cNvPr id="7" name="Shape 5"/>
          <p:cNvSpPr/>
          <p:nvPr/>
        </p:nvSpPr>
        <p:spPr>
          <a:xfrm>
            <a:off x="457200" y="1993392"/>
            <a:ext cx="8412480" cy="306324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502920" y="2011680"/>
            <a:ext cx="8321040" cy="3017520"/>
          </a:xfrm>
          <a:prstGeom prst="rect">
            <a:avLst/>
          </a:prstGeom>
        </p:spPr>
      </p:pic>
      <p:sp>
        <p:nvSpPr>
          <p:cNvPr id="9" name="Shape 6"/>
          <p:cNvSpPr/>
          <p:nvPr/>
        </p:nvSpPr>
        <p:spPr>
          <a:xfrm>
            <a:off x="457200" y="4572000"/>
            <a:ext cx="4023360" cy="502920"/>
          </a:xfrm>
          <a:prstGeom prst="rect">
            <a:avLst/>
          </a:prstGeom>
          <a:solidFill>
            <a:srgbClr val="00E676">
              <a:alpha val="12000"/>
            </a:srgbClr>
          </a:solidFill>
          <a:ln w="12700">
            <a:solidFill>
              <a:srgbClr val="00E676"/>
            </a:solidFill>
            <a:prstDash val="solid"/>
          </a:ln>
        </p:spPr>
      </p:sp>
      <p:sp>
        <p:nvSpPr>
          <p:cNvPr id="10" name="Text 7"/>
          <p:cNvSpPr/>
          <p:nvPr/>
        </p:nvSpPr>
        <p:spPr>
          <a:xfrm>
            <a:off x="548640" y="4590288"/>
            <a:ext cx="3840480" cy="457200"/>
          </a:xfrm>
          <a:prstGeom prst="rect">
            <a:avLst/>
          </a:prstGeom>
          <a:noFill/>
          <a:ln/>
        </p:spPr>
        <p:txBody>
          <a:bodyPr wrap="square" rtlCol="0" anchor="ctr"/>
          <a:lstStyle/>
          <a:p>
            <a:pPr indent="0" marL="0">
              <a:buNone/>
            </a:pPr>
            <a:r>
              <a:rPr lang="en-US" sz="850" b="1" dirty="0">
                <a:solidFill>
                  <a:srgbClr val="00E676"/>
                </a:solidFill>
              </a:rPr>
              <a:t>NOW: Components  →  NEXT: Modules  →  PHASE 2: Systems  →  TARGET: Solutions</a:t>
            </a:r>
            <a:endParaRPr lang="en-US" sz="850" dirty="0"/>
          </a:p>
        </p:txBody>
      </p:sp>
      <p:sp>
        <p:nvSpPr>
          <p:cNvPr id="11" name="Shape 8"/>
          <p:cNvSpPr/>
          <p:nvPr/>
        </p:nvSpPr>
        <p:spPr>
          <a:xfrm>
            <a:off x="4617720" y="4572000"/>
            <a:ext cx="4251960" cy="502920"/>
          </a:xfrm>
          <a:prstGeom prst="rect">
            <a:avLst/>
          </a:prstGeom>
          <a:solidFill>
            <a:srgbClr val="00E5FF">
              <a:alpha val="12000"/>
            </a:srgbClr>
          </a:solidFill>
          <a:ln w="12700">
            <a:solidFill>
              <a:srgbClr val="00E5FF"/>
            </a:solidFill>
            <a:prstDash val="solid"/>
          </a:ln>
        </p:spPr>
      </p:sp>
      <p:sp>
        <p:nvSpPr>
          <p:cNvPr id="12" name="Text 9"/>
          <p:cNvSpPr/>
          <p:nvPr/>
        </p:nvSpPr>
        <p:spPr>
          <a:xfrm>
            <a:off x="4709160" y="4590288"/>
            <a:ext cx="4069080" cy="457200"/>
          </a:xfrm>
          <a:prstGeom prst="rect">
            <a:avLst/>
          </a:prstGeom>
          <a:noFill/>
          <a:ln/>
        </p:spPr>
        <p:txBody>
          <a:bodyPr wrap="square" rtlCol="0" anchor="ctr"/>
          <a:lstStyle/>
          <a:p>
            <a:pPr indent="0" marL="0">
              <a:buNone/>
            </a:pPr>
            <a:r>
              <a:rPr lang="en-US" sz="850" b="1" dirty="0">
                <a:solidFill>
                  <a:srgbClr val="00E5FF"/>
                </a:solidFill>
              </a:rPr>
              <a:t>CDU + Quick Connector + Manifold = Highest Value Extension for TMSBU</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A855F7"/>
          </a:solidFill>
          <a:ln w="12700">
            <a:solidFill>
              <a:srgbClr val="A855F7"/>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07</a:t>
            </a:r>
            <a:endParaRPr lang="en-US" sz="1100" dirty="0"/>
          </a:p>
        </p:txBody>
      </p:sp>
      <p:sp>
        <p:nvSpPr>
          <p:cNvPr id="4" name="Text 2"/>
          <p:cNvSpPr/>
          <p:nvPr/>
        </p:nvSpPr>
        <p:spPr>
          <a:xfrm>
            <a:off x="457200" y="137160"/>
            <a:ext cx="7772400" cy="777240"/>
          </a:xfrm>
          <a:prstGeom prst="rect">
            <a:avLst/>
          </a:prstGeom>
          <a:noFill/>
          <a:ln/>
        </p:spPr>
        <p:txBody>
          <a:bodyPr wrap="square" rtlCol="0" anchor="ctr"/>
          <a:lstStyle/>
          <a:p>
            <a:pPr indent="0" marL="0">
              <a:buNone/>
            </a:pPr>
            <a:r>
              <a:rPr lang="en-US" sz="2200" b="1" dirty="0">
                <a:solidFill>
                  <a:srgbClr val="FFFFFF"/>
                </a:solidFill>
              </a:rPr>
              <a:t>TAM / SAM / SOM: Market Opportunity</a:t>
            </a:r>
            <a:endParaRPr lang="en-US" sz="2200" dirty="0"/>
          </a:p>
          <a:p>
            <a:pPr indent="0" marL="0">
              <a:buNone/>
            </a:pPr>
            <a:r>
              <a:rPr lang="en-US" sz="2200" b="1" dirty="0">
                <a:solidFill>
                  <a:srgbClr val="FFFFFF"/>
                </a:solidFill>
              </a:rPr>
              <a:t>for TMSBU</a:t>
            </a:r>
            <a:endParaRPr lang="en-US" sz="2200" dirty="0"/>
          </a:p>
        </p:txBody>
      </p:sp>
      <p:sp>
        <p:nvSpPr>
          <p:cNvPr id="5" name="Shape 3"/>
          <p:cNvSpPr/>
          <p:nvPr/>
        </p:nvSpPr>
        <p:spPr>
          <a:xfrm>
            <a:off x="457200" y="1325880"/>
            <a:ext cx="8229600" cy="566928"/>
          </a:xfrm>
          <a:prstGeom prst="rect">
            <a:avLst/>
          </a:prstGeom>
          <a:solidFill>
            <a:srgbClr val="A855F7">
              <a:alpha val="12000"/>
            </a:srgbClr>
          </a:solidFill>
          <a:ln w="12700">
            <a:solidFill>
              <a:srgbClr val="A855F7"/>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A855F7"/>
                </a:solidFill>
              </a:rPr>
              <a:t>The addressable opportunity is larger than cold plates alone — system-level cooling multiplies TMSBU's reachable market</a:t>
            </a:r>
            <a:endParaRPr lang="en-US" sz="1050" dirty="0"/>
          </a:p>
        </p:txBody>
      </p:sp>
      <p:sp>
        <p:nvSpPr>
          <p:cNvPr id="7" name="Shape 5"/>
          <p:cNvSpPr/>
          <p:nvPr/>
        </p:nvSpPr>
        <p:spPr>
          <a:xfrm>
            <a:off x="457200" y="1993392"/>
            <a:ext cx="5029200" cy="306324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502920" y="2011680"/>
            <a:ext cx="4937760" cy="3017520"/>
          </a:xfrm>
          <a:prstGeom prst="rect">
            <a:avLst/>
          </a:prstGeom>
        </p:spPr>
      </p:pic>
      <p:sp>
        <p:nvSpPr>
          <p:cNvPr id="9" name="Shape 6"/>
          <p:cNvSpPr/>
          <p:nvPr/>
        </p:nvSpPr>
        <p:spPr>
          <a:xfrm>
            <a:off x="5669280" y="1993392"/>
            <a:ext cx="3200400" cy="475488"/>
          </a:xfrm>
          <a:prstGeom prst="rect">
            <a:avLst/>
          </a:prstGeom>
          <a:solidFill>
            <a:srgbClr val="111827"/>
          </a:solidFill>
          <a:ln w="12700">
            <a:solidFill>
              <a:srgbClr val="60A5FA"/>
            </a:solidFill>
            <a:prstDash val="solid"/>
          </a:ln>
        </p:spPr>
      </p:sp>
      <p:sp>
        <p:nvSpPr>
          <p:cNvPr id="10" name="Shape 7"/>
          <p:cNvSpPr/>
          <p:nvPr/>
        </p:nvSpPr>
        <p:spPr>
          <a:xfrm>
            <a:off x="5669280" y="1993392"/>
            <a:ext cx="3200400" cy="36576"/>
          </a:xfrm>
          <a:prstGeom prst="rect">
            <a:avLst/>
          </a:prstGeom>
          <a:solidFill>
            <a:srgbClr val="60A5FA"/>
          </a:solidFill>
          <a:ln/>
        </p:spPr>
      </p:sp>
      <p:sp>
        <p:nvSpPr>
          <p:cNvPr id="11" name="Text 8"/>
          <p:cNvSpPr/>
          <p:nvPr/>
        </p:nvSpPr>
        <p:spPr>
          <a:xfrm>
            <a:off x="5760720" y="2029968"/>
            <a:ext cx="1097280" cy="228600"/>
          </a:xfrm>
          <a:prstGeom prst="rect">
            <a:avLst/>
          </a:prstGeom>
          <a:noFill/>
          <a:ln/>
        </p:spPr>
        <p:txBody>
          <a:bodyPr wrap="square" rtlCol="0" anchor="ctr"/>
          <a:lstStyle/>
          <a:p>
            <a:pPr indent="0" marL="0">
              <a:buNone/>
            </a:pPr>
            <a:r>
              <a:rPr lang="en-US" sz="900" b="1" dirty="0">
                <a:solidFill>
                  <a:srgbClr val="60A5FA"/>
                </a:solidFill>
              </a:rPr>
              <a:t>TAM</a:t>
            </a:r>
            <a:endParaRPr lang="en-US" sz="900" dirty="0"/>
          </a:p>
        </p:txBody>
      </p:sp>
      <p:sp>
        <p:nvSpPr>
          <p:cNvPr id="12" name="Text 9"/>
          <p:cNvSpPr/>
          <p:nvPr/>
        </p:nvSpPr>
        <p:spPr>
          <a:xfrm>
            <a:off x="5760720" y="2240280"/>
            <a:ext cx="3017520" cy="182880"/>
          </a:xfrm>
          <a:prstGeom prst="rect">
            <a:avLst/>
          </a:prstGeom>
          <a:noFill/>
          <a:ln/>
        </p:spPr>
        <p:txBody>
          <a:bodyPr wrap="square" rtlCol="0" anchor="ctr"/>
          <a:lstStyle/>
          <a:p>
            <a:pPr indent="0" marL="0">
              <a:buNone/>
            </a:pPr>
            <a:r>
              <a:rPr lang="en-US" sz="750" dirty="0">
                <a:solidFill>
                  <a:srgbClr val="9CA3AF"/>
                </a:solidFill>
              </a:rPr>
              <a:t>Total AI Data Center Liquid Cooling</a:t>
            </a:r>
            <a:endParaRPr lang="en-US" sz="750" dirty="0"/>
          </a:p>
        </p:txBody>
      </p:sp>
      <p:sp>
        <p:nvSpPr>
          <p:cNvPr id="13" name="Text 10"/>
          <p:cNvSpPr/>
          <p:nvPr/>
        </p:nvSpPr>
        <p:spPr>
          <a:xfrm>
            <a:off x="5760720" y="2240280"/>
            <a:ext cx="1828800" cy="201168"/>
          </a:xfrm>
          <a:prstGeom prst="rect">
            <a:avLst/>
          </a:prstGeom>
          <a:noFill/>
          <a:ln/>
        </p:spPr>
        <p:txBody>
          <a:bodyPr wrap="square" rtlCol="0" anchor="ctr"/>
          <a:lstStyle/>
          <a:p>
            <a:pPr algn="r" indent="0" marL="0">
              <a:buNone/>
            </a:pPr>
            <a:r>
              <a:rPr lang="en-US" sz="1000" b="1" dirty="0">
                <a:solidFill>
                  <a:srgbClr val="FFFFFF"/>
                </a:solidFill>
              </a:rPr>
              <a:t>$39.1B</a:t>
            </a:r>
            <a:endParaRPr lang="en-US" sz="1000" dirty="0"/>
          </a:p>
        </p:txBody>
      </p:sp>
      <p:sp>
        <p:nvSpPr>
          <p:cNvPr id="14" name="Text 11"/>
          <p:cNvSpPr/>
          <p:nvPr/>
        </p:nvSpPr>
        <p:spPr>
          <a:xfrm>
            <a:off x="7680960" y="2240280"/>
            <a:ext cx="1097280" cy="201168"/>
          </a:xfrm>
          <a:prstGeom prst="rect">
            <a:avLst/>
          </a:prstGeom>
          <a:noFill/>
          <a:ln/>
        </p:spPr>
        <p:txBody>
          <a:bodyPr wrap="square" rtlCol="0" anchor="ctr"/>
          <a:lstStyle/>
          <a:p>
            <a:pPr algn="r" indent="0" marL="0">
              <a:buNone/>
            </a:pPr>
            <a:r>
              <a:rPr lang="en-US" sz="750" dirty="0">
                <a:solidFill>
                  <a:srgbClr val="6B7280"/>
                </a:solidFill>
              </a:rPr>
              <a:t>by 2030</a:t>
            </a:r>
            <a:endParaRPr lang="en-US" sz="750" dirty="0"/>
          </a:p>
        </p:txBody>
      </p:sp>
      <p:sp>
        <p:nvSpPr>
          <p:cNvPr id="15" name="Shape 12"/>
          <p:cNvSpPr/>
          <p:nvPr/>
        </p:nvSpPr>
        <p:spPr>
          <a:xfrm>
            <a:off x="5669280" y="2523744"/>
            <a:ext cx="3200400" cy="475488"/>
          </a:xfrm>
          <a:prstGeom prst="rect">
            <a:avLst/>
          </a:prstGeom>
          <a:solidFill>
            <a:srgbClr val="111827"/>
          </a:solidFill>
          <a:ln w="12700">
            <a:solidFill>
              <a:srgbClr val="00E5FF"/>
            </a:solidFill>
            <a:prstDash val="solid"/>
          </a:ln>
        </p:spPr>
      </p:sp>
      <p:sp>
        <p:nvSpPr>
          <p:cNvPr id="16" name="Shape 13"/>
          <p:cNvSpPr/>
          <p:nvPr/>
        </p:nvSpPr>
        <p:spPr>
          <a:xfrm>
            <a:off x="5669280" y="2523744"/>
            <a:ext cx="3200400" cy="36576"/>
          </a:xfrm>
          <a:prstGeom prst="rect">
            <a:avLst/>
          </a:prstGeom>
          <a:solidFill>
            <a:srgbClr val="00E5FF"/>
          </a:solidFill>
          <a:ln/>
        </p:spPr>
      </p:sp>
      <p:sp>
        <p:nvSpPr>
          <p:cNvPr id="17" name="Text 14"/>
          <p:cNvSpPr/>
          <p:nvPr/>
        </p:nvSpPr>
        <p:spPr>
          <a:xfrm>
            <a:off x="5760720" y="2560320"/>
            <a:ext cx="1097280" cy="228600"/>
          </a:xfrm>
          <a:prstGeom prst="rect">
            <a:avLst/>
          </a:prstGeom>
          <a:noFill/>
          <a:ln/>
        </p:spPr>
        <p:txBody>
          <a:bodyPr wrap="square" rtlCol="0" anchor="ctr"/>
          <a:lstStyle/>
          <a:p>
            <a:pPr indent="0" marL="0">
              <a:buNone/>
            </a:pPr>
            <a:r>
              <a:rPr lang="en-US" sz="900" b="1" dirty="0">
                <a:solidFill>
                  <a:srgbClr val="00E5FF"/>
                </a:solidFill>
              </a:rPr>
              <a:t>Cold Plate</a:t>
            </a:r>
            <a:endParaRPr lang="en-US" sz="900" dirty="0"/>
          </a:p>
        </p:txBody>
      </p:sp>
      <p:sp>
        <p:nvSpPr>
          <p:cNvPr id="18" name="Text 15"/>
          <p:cNvSpPr/>
          <p:nvPr/>
        </p:nvSpPr>
        <p:spPr>
          <a:xfrm>
            <a:off x="5760720" y="2770632"/>
            <a:ext cx="3017520" cy="182880"/>
          </a:xfrm>
          <a:prstGeom prst="rect">
            <a:avLst/>
          </a:prstGeom>
          <a:noFill/>
          <a:ln/>
        </p:spPr>
        <p:txBody>
          <a:bodyPr wrap="square" rtlCol="0" anchor="ctr"/>
          <a:lstStyle/>
          <a:p>
            <a:pPr indent="0" marL="0">
              <a:buNone/>
            </a:pPr>
            <a:r>
              <a:rPr lang="en-US" sz="750" dirty="0">
                <a:solidFill>
                  <a:srgbClr val="9CA3AF"/>
                </a:solidFill>
              </a:rPr>
              <a:t>Chip-level direct cooling</a:t>
            </a:r>
            <a:endParaRPr lang="en-US" sz="750" dirty="0"/>
          </a:p>
        </p:txBody>
      </p:sp>
      <p:sp>
        <p:nvSpPr>
          <p:cNvPr id="19" name="Text 16"/>
          <p:cNvSpPr/>
          <p:nvPr/>
        </p:nvSpPr>
        <p:spPr>
          <a:xfrm>
            <a:off x="5760720" y="2770632"/>
            <a:ext cx="1828800" cy="201168"/>
          </a:xfrm>
          <a:prstGeom prst="rect">
            <a:avLst/>
          </a:prstGeom>
          <a:noFill/>
          <a:ln/>
        </p:spPr>
        <p:txBody>
          <a:bodyPr wrap="square" rtlCol="0" anchor="ctr"/>
          <a:lstStyle/>
          <a:p>
            <a:pPr algn="r" indent="0" marL="0">
              <a:buNone/>
            </a:pPr>
            <a:r>
              <a:rPr lang="en-US" sz="1000" b="1" dirty="0">
                <a:solidFill>
                  <a:srgbClr val="FFFFFF"/>
                </a:solidFill>
              </a:rPr>
              <a:t>$5.2B</a:t>
            </a:r>
            <a:endParaRPr lang="en-US" sz="1000" dirty="0"/>
          </a:p>
        </p:txBody>
      </p:sp>
      <p:sp>
        <p:nvSpPr>
          <p:cNvPr id="20" name="Text 17"/>
          <p:cNvSpPr/>
          <p:nvPr/>
        </p:nvSpPr>
        <p:spPr>
          <a:xfrm>
            <a:off x="7680960" y="2770632"/>
            <a:ext cx="1097280" cy="201168"/>
          </a:xfrm>
          <a:prstGeom prst="rect">
            <a:avLst/>
          </a:prstGeom>
          <a:noFill/>
          <a:ln/>
        </p:spPr>
        <p:txBody>
          <a:bodyPr wrap="square" rtlCol="0" anchor="ctr"/>
          <a:lstStyle/>
          <a:p>
            <a:pPr algn="r" indent="0" marL="0">
              <a:buNone/>
            </a:pPr>
            <a:r>
              <a:rPr lang="en-US" sz="750" dirty="0">
                <a:solidFill>
                  <a:srgbClr val="6B7280"/>
                </a:solidFill>
              </a:rPr>
              <a:t>~13% of TAM</a:t>
            </a:r>
            <a:endParaRPr lang="en-US" sz="750" dirty="0"/>
          </a:p>
        </p:txBody>
      </p:sp>
      <p:sp>
        <p:nvSpPr>
          <p:cNvPr id="21" name="Shape 18"/>
          <p:cNvSpPr/>
          <p:nvPr/>
        </p:nvSpPr>
        <p:spPr>
          <a:xfrm>
            <a:off x="5669280" y="3054096"/>
            <a:ext cx="3200400" cy="475488"/>
          </a:xfrm>
          <a:prstGeom prst="rect">
            <a:avLst/>
          </a:prstGeom>
          <a:solidFill>
            <a:srgbClr val="111827"/>
          </a:solidFill>
          <a:ln w="12700">
            <a:solidFill>
              <a:srgbClr val="00E676"/>
            </a:solidFill>
            <a:prstDash val="solid"/>
          </a:ln>
        </p:spPr>
      </p:sp>
      <p:sp>
        <p:nvSpPr>
          <p:cNvPr id="22" name="Shape 19"/>
          <p:cNvSpPr/>
          <p:nvPr/>
        </p:nvSpPr>
        <p:spPr>
          <a:xfrm>
            <a:off x="5669280" y="3054096"/>
            <a:ext cx="3200400" cy="36576"/>
          </a:xfrm>
          <a:prstGeom prst="rect">
            <a:avLst/>
          </a:prstGeom>
          <a:solidFill>
            <a:srgbClr val="00E676"/>
          </a:solidFill>
          <a:ln/>
        </p:spPr>
      </p:sp>
      <p:sp>
        <p:nvSpPr>
          <p:cNvPr id="23" name="Text 20"/>
          <p:cNvSpPr/>
          <p:nvPr/>
        </p:nvSpPr>
        <p:spPr>
          <a:xfrm>
            <a:off x="5760720" y="3090672"/>
            <a:ext cx="1097280" cy="228600"/>
          </a:xfrm>
          <a:prstGeom prst="rect">
            <a:avLst/>
          </a:prstGeom>
          <a:noFill/>
          <a:ln/>
        </p:spPr>
        <p:txBody>
          <a:bodyPr wrap="square" rtlCol="0" anchor="ctr"/>
          <a:lstStyle/>
          <a:p>
            <a:pPr indent="0" marL="0">
              <a:buNone/>
            </a:pPr>
            <a:r>
              <a:rPr lang="en-US" sz="900" b="1" dirty="0">
                <a:solidFill>
                  <a:srgbClr val="00E676"/>
                </a:solidFill>
              </a:rPr>
              <a:t>CDU</a:t>
            </a:r>
            <a:endParaRPr lang="en-US" sz="900" dirty="0"/>
          </a:p>
        </p:txBody>
      </p:sp>
      <p:sp>
        <p:nvSpPr>
          <p:cNvPr id="24" name="Text 21"/>
          <p:cNvSpPr/>
          <p:nvPr/>
        </p:nvSpPr>
        <p:spPr>
          <a:xfrm>
            <a:off x="5760720" y="3300984"/>
            <a:ext cx="3017520" cy="182880"/>
          </a:xfrm>
          <a:prstGeom prst="rect">
            <a:avLst/>
          </a:prstGeom>
          <a:noFill/>
          <a:ln/>
        </p:spPr>
        <p:txBody>
          <a:bodyPr wrap="square" rtlCol="0" anchor="ctr"/>
          <a:lstStyle/>
          <a:p>
            <a:pPr indent="0" marL="0">
              <a:buNone/>
            </a:pPr>
            <a:r>
              <a:rPr lang="en-US" sz="750" dirty="0">
                <a:solidFill>
                  <a:srgbClr val="9CA3AF"/>
                </a:solidFill>
              </a:rPr>
              <a:t>Coolant distribution + heat rejection</a:t>
            </a:r>
            <a:endParaRPr lang="en-US" sz="750" dirty="0"/>
          </a:p>
        </p:txBody>
      </p:sp>
      <p:sp>
        <p:nvSpPr>
          <p:cNvPr id="25" name="Text 22"/>
          <p:cNvSpPr/>
          <p:nvPr/>
        </p:nvSpPr>
        <p:spPr>
          <a:xfrm>
            <a:off x="5760720" y="3300984"/>
            <a:ext cx="1828800" cy="201168"/>
          </a:xfrm>
          <a:prstGeom prst="rect">
            <a:avLst/>
          </a:prstGeom>
          <a:noFill/>
          <a:ln/>
        </p:spPr>
        <p:txBody>
          <a:bodyPr wrap="square" rtlCol="0" anchor="ctr"/>
          <a:lstStyle/>
          <a:p>
            <a:pPr algn="r" indent="0" marL="0">
              <a:buNone/>
            </a:pPr>
            <a:r>
              <a:rPr lang="en-US" sz="1000" b="1" dirty="0">
                <a:solidFill>
                  <a:srgbClr val="FFFFFF"/>
                </a:solidFill>
              </a:rPr>
              <a:t>$3.8B</a:t>
            </a:r>
            <a:endParaRPr lang="en-US" sz="1000" dirty="0"/>
          </a:p>
        </p:txBody>
      </p:sp>
      <p:sp>
        <p:nvSpPr>
          <p:cNvPr id="26" name="Text 23"/>
          <p:cNvSpPr/>
          <p:nvPr/>
        </p:nvSpPr>
        <p:spPr>
          <a:xfrm>
            <a:off x="7680960" y="3300984"/>
            <a:ext cx="1097280" cy="201168"/>
          </a:xfrm>
          <a:prstGeom prst="rect">
            <a:avLst/>
          </a:prstGeom>
          <a:noFill/>
          <a:ln/>
        </p:spPr>
        <p:txBody>
          <a:bodyPr wrap="square" rtlCol="0" anchor="ctr"/>
          <a:lstStyle/>
          <a:p>
            <a:pPr algn="r" indent="0" marL="0">
              <a:buNone/>
            </a:pPr>
            <a:r>
              <a:rPr lang="en-US" sz="750" dirty="0">
                <a:solidFill>
                  <a:srgbClr val="6B7280"/>
                </a:solidFill>
              </a:rPr>
              <a:t>~10% of TAM</a:t>
            </a:r>
            <a:endParaRPr lang="en-US" sz="750" dirty="0"/>
          </a:p>
        </p:txBody>
      </p:sp>
      <p:sp>
        <p:nvSpPr>
          <p:cNvPr id="27" name="Shape 24"/>
          <p:cNvSpPr/>
          <p:nvPr/>
        </p:nvSpPr>
        <p:spPr>
          <a:xfrm>
            <a:off x="5669280" y="3584448"/>
            <a:ext cx="3200400" cy="475488"/>
          </a:xfrm>
          <a:prstGeom prst="rect">
            <a:avLst/>
          </a:prstGeom>
          <a:solidFill>
            <a:srgbClr val="111827"/>
          </a:solidFill>
          <a:ln w="12700">
            <a:solidFill>
              <a:srgbClr val="4FC3F7"/>
            </a:solidFill>
            <a:prstDash val="solid"/>
          </a:ln>
        </p:spPr>
      </p:sp>
      <p:sp>
        <p:nvSpPr>
          <p:cNvPr id="28" name="Shape 25"/>
          <p:cNvSpPr/>
          <p:nvPr/>
        </p:nvSpPr>
        <p:spPr>
          <a:xfrm>
            <a:off x="5669280" y="3584448"/>
            <a:ext cx="3200400" cy="36576"/>
          </a:xfrm>
          <a:prstGeom prst="rect">
            <a:avLst/>
          </a:prstGeom>
          <a:solidFill>
            <a:srgbClr val="4FC3F7"/>
          </a:solidFill>
          <a:ln/>
        </p:spPr>
      </p:sp>
      <p:sp>
        <p:nvSpPr>
          <p:cNvPr id="29" name="Text 26"/>
          <p:cNvSpPr/>
          <p:nvPr/>
        </p:nvSpPr>
        <p:spPr>
          <a:xfrm>
            <a:off x="5760720" y="3621024"/>
            <a:ext cx="1097280" cy="228600"/>
          </a:xfrm>
          <a:prstGeom prst="rect">
            <a:avLst/>
          </a:prstGeom>
          <a:noFill/>
          <a:ln/>
        </p:spPr>
        <p:txBody>
          <a:bodyPr wrap="square" rtlCol="0" anchor="ctr"/>
          <a:lstStyle/>
          <a:p>
            <a:pPr indent="0" marL="0">
              <a:buNone/>
            </a:pPr>
            <a:r>
              <a:rPr lang="en-US" sz="900" b="1" dirty="0">
                <a:solidFill>
                  <a:srgbClr val="4FC3F7"/>
                </a:solidFill>
              </a:rPr>
              <a:t>Manifold + QC</a:t>
            </a:r>
            <a:endParaRPr lang="en-US" sz="900" dirty="0"/>
          </a:p>
        </p:txBody>
      </p:sp>
      <p:sp>
        <p:nvSpPr>
          <p:cNvPr id="30" name="Text 27"/>
          <p:cNvSpPr/>
          <p:nvPr/>
        </p:nvSpPr>
        <p:spPr>
          <a:xfrm>
            <a:off x="5760720" y="3831336"/>
            <a:ext cx="3017520" cy="182880"/>
          </a:xfrm>
          <a:prstGeom prst="rect">
            <a:avLst/>
          </a:prstGeom>
          <a:noFill/>
          <a:ln/>
        </p:spPr>
        <p:txBody>
          <a:bodyPr wrap="square" rtlCol="0" anchor="ctr"/>
          <a:lstStyle/>
          <a:p>
            <a:pPr indent="0" marL="0">
              <a:buNone/>
            </a:pPr>
            <a:r>
              <a:rPr lang="en-US" sz="750" dirty="0">
                <a:solidFill>
                  <a:srgbClr val="9CA3AF"/>
                </a:solidFill>
              </a:rPr>
              <a:t>Rack distribution + connectors</a:t>
            </a:r>
            <a:endParaRPr lang="en-US" sz="750" dirty="0"/>
          </a:p>
        </p:txBody>
      </p:sp>
      <p:sp>
        <p:nvSpPr>
          <p:cNvPr id="31" name="Text 28"/>
          <p:cNvSpPr/>
          <p:nvPr/>
        </p:nvSpPr>
        <p:spPr>
          <a:xfrm>
            <a:off x="5760720" y="3831336"/>
            <a:ext cx="1828800" cy="201168"/>
          </a:xfrm>
          <a:prstGeom prst="rect">
            <a:avLst/>
          </a:prstGeom>
          <a:noFill/>
          <a:ln/>
        </p:spPr>
        <p:txBody>
          <a:bodyPr wrap="square" rtlCol="0" anchor="ctr"/>
          <a:lstStyle/>
          <a:p>
            <a:pPr algn="r" indent="0" marL="0">
              <a:buNone/>
            </a:pPr>
            <a:r>
              <a:rPr lang="en-US" sz="1000" b="1" dirty="0">
                <a:solidFill>
                  <a:srgbClr val="FFFFFF"/>
                </a:solidFill>
              </a:rPr>
              <a:t>$3.8B</a:t>
            </a:r>
            <a:endParaRPr lang="en-US" sz="1000" dirty="0"/>
          </a:p>
        </p:txBody>
      </p:sp>
      <p:sp>
        <p:nvSpPr>
          <p:cNvPr id="32" name="Text 29"/>
          <p:cNvSpPr/>
          <p:nvPr/>
        </p:nvSpPr>
        <p:spPr>
          <a:xfrm>
            <a:off x="7680960" y="3831336"/>
            <a:ext cx="1097280" cy="201168"/>
          </a:xfrm>
          <a:prstGeom prst="rect">
            <a:avLst/>
          </a:prstGeom>
          <a:noFill/>
          <a:ln/>
        </p:spPr>
        <p:txBody>
          <a:bodyPr wrap="square" rtlCol="0" anchor="ctr"/>
          <a:lstStyle/>
          <a:p>
            <a:pPr algn="r" indent="0" marL="0">
              <a:buNone/>
            </a:pPr>
            <a:r>
              <a:rPr lang="en-US" sz="750" dirty="0">
                <a:solidFill>
                  <a:srgbClr val="6B7280"/>
                </a:solidFill>
              </a:rPr>
              <a:t>~10% of TAM</a:t>
            </a:r>
            <a:endParaRPr lang="en-US" sz="750" dirty="0"/>
          </a:p>
        </p:txBody>
      </p:sp>
      <p:sp>
        <p:nvSpPr>
          <p:cNvPr id="33" name="Shape 30"/>
          <p:cNvSpPr/>
          <p:nvPr/>
        </p:nvSpPr>
        <p:spPr>
          <a:xfrm>
            <a:off x="5669280" y="4114800"/>
            <a:ext cx="3200400" cy="475488"/>
          </a:xfrm>
          <a:prstGeom prst="rect">
            <a:avLst/>
          </a:prstGeom>
          <a:solidFill>
            <a:srgbClr val="111827"/>
          </a:solidFill>
          <a:ln w="12700">
            <a:solidFill>
              <a:srgbClr val="F59E0B"/>
            </a:solidFill>
            <a:prstDash val="solid"/>
          </a:ln>
        </p:spPr>
      </p:sp>
      <p:sp>
        <p:nvSpPr>
          <p:cNvPr id="34" name="Shape 31"/>
          <p:cNvSpPr/>
          <p:nvPr/>
        </p:nvSpPr>
        <p:spPr>
          <a:xfrm>
            <a:off x="5669280" y="4114800"/>
            <a:ext cx="3200400" cy="36576"/>
          </a:xfrm>
          <a:prstGeom prst="rect">
            <a:avLst/>
          </a:prstGeom>
          <a:solidFill>
            <a:srgbClr val="F59E0B"/>
          </a:solidFill>
          <a:ln/>
        </p:spPr>
      </p:sp>
      <p:sp>
        <p:nvSpPr>
          <p:cNvPr id="35" name="Text 32"/>
          <p:cNvSpPr/>
          <p:nvPr/>
        </p:nvSpPr>
        <p:spPr>
          <a:xfrm>
            <a:off x="5760720" y="4151376"/>
            <a:ext cx="1097280" cy="228600"/>
          </a:xfrm>
          <a:prstGeom prst="rect">
            <a:avLst/>
          </a:prstGeom>
          <a:noFill/>
          <a:ln/>
        </p:spPr>
        <p:txBody>
          <a:bodyPr wrap="square" rtlCol="0" anchor="ctr"/>
          <a:lstStyle/>
          <a:p>
            <a:pPr indent="0" marL="0">
              <a:buNone/>
            </a:pPr>
            <a:r>
              <a:rPr lang="en-US" sz="900" b="1" dirty="0">
                <a:solidFill>
                  <a:srgbClr val="F59E0B"/>
                </a:solidFill>
              </a:rPr>
              <a:t>Hybrid Air</a:t>
            </a:r>
            <a:endParaRPr lang="en-US" sz="900" dirty="0"/>
          </a:p>
        </p:txBody>
      </p:sp>
      <p:sp>
        <p:nvSpPr>
          <p:cNvPr id="36" name="Text 33"/>
          <p:cNvSpPr/>
          <p:nvPr/>
        </p:nvSpPr>
        <p:spPr>
          <a:xfrm>
            <a:off x="5760720" y="4361688"/>
            <a:ext cx="3017520" cy="182880"/>
          </a:xfrm>
          <a:prstGeom prst="rect">
            <a:avLst/>
          </a:prstGeom>
          <a:noFill/>
          <a:ln/>
        </p:spPr>
        <p:txBody>
          <a:bodyPr wrap="square" rtlCol="0" anchor="ctr"/>
          <a:lstStyle/>
          <a:p>
            <a:pPr indent="0" marL="0">
              <a:buNone/>
            </a:pPr>
            <a:r>
              <a:rPr lang="en-US" sz="750" dirty="0">
                <a:solidFill>
                  <a:srgbClr val="9CA3AF"/>
                </a:solidFill>
              </a:rPr>
              <a:t>Fan + HS + VC for non-GPU components</a:t>
            </a:r>
            <a:endParaRPr lang="en-US" sz="750" dirty="0"/>
          </a:p>
        </p:txBody>
      </p:sp>
      <p:sp>
        <p:nvSpPr>
          <p:cNvPr id="37" name="Text 34"/>
          <p:cNvSpPr/>
          <p:nvPr/>
        </p:nvSpPr>
        <p:spPr>
          <a:xfrm>
            <a:off x="5760720" y="4361688"/>
            <a:ext cx="1828800" cy="201168"/>
          </a:xfrm>
          <a:prstGeom prst="rect">
            <a:avLst/>
          </a:prstGeom>
          <a:noFill/>
          <a:ln/>
        </p:spPr>
        <p:txBody>
          <a:bodyPr wrap="square" rtlCol="0" anchor="ctr"/>
          <a:lstStyle/>
          <a:p>
            <a:pPr algn="r" indent="0" marL="0">
              <a:buNone/>
            </a:pPr>
            <a:r>
              <a:rPr lang="en-US" sz="1000" b="1" dirty="0">
                <a:solidFill>
                  <a:srgbClr val="FFFFFF"/>
                </a:solidFill>
              </a:rPr>
              <a:t>$4.5B</a:t>
            </a:r>
            <a:endParaRPr lang="en-US" sz="1000" dirty="0"/>
          </a:p>
        </p:txBody>
      </p:sp>
      <p:sp>
        <p:nvSpPr>
          <p:cNvPr id="38" name="Text 35"/>
          <p:cNvSpPr/>
          <p:nvPr/>
        </p:nvSpPr>
        <p:spPr>
          <a:xfrm>
            <a:off x="7680960" y="4361688"/>
            <a:ext cx="1097280" cy="201168"/>
          </a:xfrm>
          <a:prstGeom prst="rect">
            <a:avLst/>
          </a:prstGeom>
          <a:noFill/>
          <a:ln/>
        </p:spPr>
        <p:txBody>
          <a:bodyPr wrap="square" rtlCol="0" anchor="ctr"/>
          <a:lstStyle/>
          <a:p>
            <a:pPr algn="r" indent="0" marL="0">
              <a:buNone/>
            </a:pPr>
            <a:r>
              <a:rPr lang="en-US" sz="750" dirty="0">
                <a:solidFill>
                  <a:srgbClr val="6B7280"/>
                </a:solidFill>
              </a:rPr>
              <a:t>Additional market</a:t>
            </a:r>
            <a:endParaRPr lang="en-US" sz="750" dirty="0"/>
          </a:p>
        </p:txBody>
      </p:sp>
      <p:sp>
        <p:nvSpPr>
          <p:cNvPr id="39" name="Shape 36"/>
          <p:cNvSpPr/>
          <p:nvPr/>
        </p:nvSpPr>
        <p:spPr>
          <a:xfrm>
            <a:off x="5669280" y="4645152"/>
            <a:ext cx="3200400" cy="658368"/>
          </a:xfrm>
          <a:prstGeom prst="rect">
            <a:avLst/>
          </a:prstGeom>
          <a:solidFill>
            <a:srgbClr val="111827"/>
          </a:solidFill>
          <a:ln w="25400">
            <a:solidFill>
              <a:srgbClr val="A855F7"/>
            </a:solidFill>
            <a:prstDash val="solid"/>
          </a:ln>
        </p:spPr>
      </p:sp>
      <p:sp>
        <p:nvSpPr>
          <p:cNvPr id="40" name="Text 37"/>
          <p:cNvSpPr/>
          <p:nvPr/>
        </p:nvSpPr>
        <p:spPr>
          <a:xfrm>
            <a:off x="5760720" y="4681728"/>
            <a:ext cx="1097280" cy="228600"/>
          </a:xfrm>
          <a:prstGeom prst="rect">
            <a:avLst/>
          </a:prstGeom>
          <a:noFill/>
          <a:ln/>
        </p:spPr>
        <p:txBody>
          <a:bodyPr wrap="square" rtlCol="0" anchor="ctr"/>
          <a:lstStyle/>
          <a:p>
            <a:pPr indent="0" marL="0">
              <a:buNone/>
            </a:pPr>
            <a:r>
              <a:rPr lang="en-US" sz="900" b="1" dirty="0">
                <a:solidFill>
                  <a:srgbClr val="A855F7"/>
                </a:solidFill>
              </a:rPr>
              <a:t>SOM</a:t>
            </a:r>
            <a:endParaRPr lang="en-US" sz="900" dirty="0"/>
          </a:p>
        </p:txBody>
      </p:sp>
      <p:sp>
        <p:nvSpPr>
          <p:cNvPr id="41" name="Text 38"/>
          <p:cNvSpPr/>
          <p:nvPr/>
        </p:nvSpPr>
        <p:spPr>
          <a:xfrm>
            <a:off x="5760720" y="4965192"/>
            <a:ext cx="3017520" cy="182880"/>
          </a:xfrm>
          <a:prstGeom prst="rect">
            <a:avLst/>
          </a:prstGeom>
          <a:noFill/>
          <a:ln/>
        </p:spPr>
        <p:txBody>
          <a:bodyPr wrap="square" rtlCol="0" anchor="ctr"/>
          <a:lstStyle/>
          <a:p>
            <a:pPr indent="0" marL="0">
              <a:buNone/>
            </a:pPr>
            <a:r>
              <a:rPr lang="en-US" sz="750" dirty="0">
                <a:solidFill>
                  <a:srgbClr val="9CA3AF"/>
                </a:solidFill>
              </a:rPr>
              <a:t>TMSBU realistic addressable (×14%)</a:t>
            </a:r>
            <a:endParaRPr lang="en-US" sz="750" dirty="0"/>
          </a:p>
        </p:txBody>
      </p:sp>
      <p:sp>
        <p:nvSpPr>
          <p:cNvPr id="42" name="Text 39"/>
          <p:cNvSpPr/>
          <p:nvPr/>
        </p:nvSpPr>
        <p:spPr>
          <a:xfrm>
            <a:off x="5760720" y="4681728"/>
            <a:ext cx="1828800" cy="201168"/>
          </a:xfrm>
          <a:prstGeom prst="rect">
            <a:avLst/>
          </a:prstGeom>
          <a:noFill/>
          <a:ln/>
        </p:spPr>
        <p:txBody>
          <a:bodyPr wrap="square" rtlCol="0" anchor="ctr"/>
          <a:lstStyle/>
          <a:p>
            <a:pPr algn="r" indent="0" marL="0">
              <a:buNone/>
            </a:pPr>
            <a:r>
              <a:rPr lang="en-US" sz="1000" b="1" dirty="0">
                <a:solidFill>
                  <a:srgbClr val="FFFFFF"/>
                </a:solidFill>
              </a:rPr>
              <a:t>$1.8B</a:t>
            </a:r>
            <a:endParaRPr lang="en-US" sz="1000" dirty="0"/>
          </a:p>
        </p:txBody>
      </p:sp>
      <p:sp>
        <p:nvSpPr>
          <p:cNvPr id="43" name="Text 40"/>
          <p:cNvSpPr/>
          <p:nvPr/>
        </p:nvSpPr>
        <p:spPr>
          <a:xfrm>
            <a:off x="7680960" y="4681728"/>
            <a:ext cx="1097280" cy="201168"/>
          </a:xfrm>
          <a:prstGeom prst="rect">
            <a:avLst/>
          </a:prstGeom>
          <a:noFill/>
          <a:ln/>
        </p:spPr>
        <p:txBody>
          <a:bodyPr wrap="square" rtlCol="0" anchor="ctr"/>
          <a:lstStyle/>
          <a:p>
            <a:pPr algn="r" indent="0" marL="0">
              <a:buNone/>
            </a:pPr>
            <a:r>
              <a:rPr lang="en-US" sz="750" dirty="0">
                <a:solidFill>
                  <a:srgbClr val="6B7280"/>
                </a:solidFill>
              </a:rPr>
              <a:t>Assumption-based</a:t>
            </a:r>
            <a:endParaRPr lang="en-US" sz="750" dirty="0"/>
          </a:p>
        </p:txBody>
      </p:sp>
      <p:sp>
        <p:nvSpPr>
          <p:cNvPr id="44" name="Shape 41"/>
          <p:cNvSpPr/>
          <p:nvPr/>
        </p:nvSpPr>
        <p:spPr>
          <a:xfrm>
            <a:off x="5669280" y="5431536"/>
            <a:ext cx="3200400" cy="320040"/>
          </a:xfrm>
          <a:prstGeom prst="rect">
            <a:avLst/>
          </a:prstGeom>
          <a:solidFill>
            <a:srgbClr val="111827"/>
          </a:solidFill>
          <a:ln w="10160">
            <a:solidFill>
              <a:srgbClr val="374151"/>
            </a:solidFill>
            <a:prstDash val="solid"/>
          </a:ln>
        </p:spPr>
      </p:sp>
      <p:sp>
        <p:nvSpPr>
          <p:cNvPr id="45" name="Text 42"/>
          <p:cNvSpPr/>
          <p:nvPr/>
        </p:nvSpPr>
        <p:spPr>
          <a:xfrm>
            <a:off x="5760720" y="5449824"/>
            <a:ext cx="3017520" cy="274320"/>
          </a:xfrm>
          <a:prstGeom prst="rect">
            <a:avLst/>
          </a:prstGeom>
          <a:noFill/>
          <a:ln/>
        </p:spPr>
        <p:txBody>
          <a:bodyPr wrap="square" rtlCol="0" anchor="ctr"/>
          <a:lstStyle/>
          <a:p>
            <a:pPr indent="0" marL="0">
              <a:buNone/>
            </a:pPr>
            <a:r>
              <a:rPr lang="en-US" sz="700" dirty="0">
                <a:solidFill>
                  <a:srgbClr val="F59E0B"/>
                </a:solidFill>
              </a:rPr>
              <a:t>⚠ SOM = Assumption-based. Needs TMSBU internal validation.</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F59E0B"/>
          </a:solidFill>
          <a:ln w="12700">
            <a:solidFill>
              <a:srgbClr val="F59E0B"/>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08</a:t>
            </a:r>
            <a:endParaRPr lang="en-US" sz="1100" dirty="0"/>
          </a:p>
        </p:txBody>
      </p:sp>
      <p:sp>
        <p:nvSpPr>
          <p:cNvPr id="4" name="Text 2"/>
          <p:cNvSpPr/>
          <p:nvPr/>
        </p:nvSpPr>
        <p:spPr>
          <a:xfrm>
            <a:off x="457200" y="164592"/>
            <a:ext cx="7772400" cy="594360"/>
          </a:xfrm>
          <a:prstGeom prst="rect">
            <a:avLst/>
          </a:prstGeom>
          <a:noFill/>
          <a:ln/>
        </p:spPr>
        <p:txBody>
          <a:bodyPr wrap="square" rtlCol="0" anchor="ctr"/>
          <a:lstStyle/>
          <a:p>
            <a:pPr indent="0" marL="0">
              <a:buNone/>
            </a:pPr>
            <a:r>
              <a:rPr lang="en-US" sz="2200" b="1" dirty="0">
                <a:solidFill>
                  <a:srgbClr val="FFFFFF"/>
                </a:solidFill>
              </a:rPr>
              <a:t>Competitive Positioning &amp; Differentiation</a:t>
            </a:r>
            <a:endParaRPr lang="en-US" sz="2200" dirty="0"/>
          </a:p>
        </p:txBody>
      </p:sp>
      <p:sp>
        <p:nvSpPr>
          <p:cNvPr id="5" name="Shape 3"/>
          <p:cNvSpPr/>
          <p:nvPr/>
        </p:nvSpPr>
        <p:spPr>
          <a:xfrm>
            <a:off x="457200" y="1325880"/>
            <a:ext cx="8229600" cy="566928"/>
          </a:xfrm>
          <a:prstGeom prst="rect">
            <a:avLst/>
          </a:prstGeom>
          <a:solidFill>
            <a:srgbClr val="F59E0B">
              <a:alpha val="12000"/>
            </a:srgbClr>
          </a:solidFill>
          <a:ln w="12700">
            <a:solidFill>
              <a:srgbClr val="F59E0B"/>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F59E0B"/>
                </a:solidFill>
              </a:rPr>
              <a:t>Avoid competing as a low-margin component supplier — move toward differentiated thermal system partnership</a:t>
            </a:r>
            <a:endParaRPr lang="en-US" sz="1050" dirty="0"/>
          </a:p>
        </p:txBody>
      </p:sp>
      <p:sp>
        <p:nvSpPr>
          <p:cNvPr id="7" name="Shape 5"/>
          <p:cNvSpPr/>
          <p:nvPr/>
        </p:nvSpPr>
        <p:spPr>
          <a:xfrm>
            <a:off x="457200" y="1993392"/>
            <a:ext cx="4754880" cy="502920"/>
          </a:xfrm>
          <a:prstGeom prst="rect">
            <a:avLst/>
          </a:prstGeom>
          <a:solidFill>
            <a:srgbClr val="111827"/>
          </a:solidFill>
          <a:ln w="12700">
            <a:solidFill>
              <a:srgbClr val="6B7280"/>
            </a:solidFill>
            <a:prstDash val="solid"/>
          </a:ln>
          <a:effectLst>
            <a:outerShdw sx="100000" sy="100000" kx="0" ky="0" algn="bl" rotWithShape="0" blurRad="101600" dist="38100" dir="8100000">
              <a:srgbClr val="000000">
                <a:alpha val="35000"/>
              </a:srgbClr>
            </a:outerShdw>
          </a:effectLst>
        </p:spPr>
      </p:sp>
      <p:sp>
        <p:nvSpPr>
          <p:cNvPr id="8" name="Shape 6"/>
          <p:cNvSpPr/>
          <p:nvPr/>
        </p:nvSpPr>
        <p:spPr>
          <a:xfrm>
            <a:off x="457200" y="1993392"/>
            <a:ext cx="64008" cy="502920"/>
          </a:xfrm>
          <a:prstGeom prst="rect">
            <a:avLst/>
          </a:prstGeom>
          <a:solidFill>
            <a:srgbClr val="6B7280"/>
          </a:solidFill>
          <a:ln/>
        </p:spPr>
      </p:sp>
      <p:sp>
        <p:nvSpPr>
          <p:cNvPr id="9" name="Text 7"/>
          <p:cNvSpPr/>
          <p:nvPr/>
        </p:nvSpPr>
        <p:spPr>
          <a:xfrm>
            <a:off x="594360" y="2020824"/>
            <a:ext cx="2377440" cy="237744"/>
          </a:xfrm>
          <a:prstGeom prst="rect">
            <a:avLst/>
          </a:prstGeom>
          <a:noFill/>
          <a:ln/>
        </p:spPr>
        <p:txBody>
          <a:bodyPr wrap="square" rtlCol="0" anchor="ctr"/>
          <a:lstStyle/>
          <a:p>
            <a:pPr indent="0" marL="0">
              <a:buNone/>
            </a:pPr>
            <a:r>
              <a:rPr lang="en-US" sz="850" b="1" dirty="0">
                <a:solidFill>
                  <a:srgbClr val="6B7280"/>
                </a:solidFill>
              </a:rPr>
              <a:t>Traditional Thermal Suppliers</a:t>
            </a:r>
            <a:endParaRPr lang="en-US" sz="850" dirty="0"/>
          </a:p>
        </p:txBody>
      </p:sp>
      <p:sp>
        <p:nvSpPr>
          <p:cNvPr id="10" name="Text 8"/>
          <p:cNvSpPr/>
          <p:nvPr/>
        </p:nvSpPr>
        <p:spPr>
          <a:xfrm>
            <a:off x="594360" y="2240280"/>
            <a:ext cx="2377440" cy="201168"/>
          </a:xfrm>
          <a:prstGeom prst="rect">
            <a:avLst/>
          </a:prstGeom>
          <a:noFill/>
          <a:ln/>
        </p:spPr>
        <p:txBody>
          <a:bodyPr wrap="square" rtlCol="0" anchor="ctr"/>
          <a:lstStyle/>
          <a:p>
            <a:pPr indent="0" marL="0">
              <a:buNone/>
            </a:pPr>
            <a:r>
              <a:rPr lang="en-US" sz="700" dirty="0">
                <a:solidFill>
                  <a:srgbClr val="9CA3AF"/>
                </a:solidFill>
              </a:rPr>
              <a:t>Nidec, Sunon, Global Sunon</a:t>
            </a:r>
            <a:endParaRPr lang="en-US" sz="700" dirty="0"/>
          </a:p>
        </p:txBody>
      </p:sp>
      <p:sp>
        <p:nvSpPr>
          <p:cNvPr id="11" name="Text 9"/>
          <p:cNvSpPr/>
          <p:nvPr/>
        </p:nvSpPr>
        <p:spPr>
          <a:xfrm>
            <a:off x="3017520" y="2066544"/>
            <a:ext cx="1097280" cy="201168"/>
          </a:xfrm>
          <a:prstGeom prst="rect">
            <a:avLst/>
          </a:prstGeom>
          <a:noFill/>
          <a:ln/>
        </p:spPr>
        <p:txBody>
          <a:bodyPr wrap="square" rtlCol="0" anchor="ctr"/>
          <a:lstStyle/>
          <a:p>
            <a:pPr algn="ctr" indent="0" marL="0">
              <a:buNone/>
            </a:pPr>
            <a:r>
              <a:rPr lang="en-US" sz="700" dirty="0">
                <a:solidFill>
                  <a:srgbClr val="00E676"/>
                </a:solidFill>
              </a:rPr>
              <a:t>+ Fans, HS, VC</a:t>
            </a:r>
            <a:endParaRPr lang="en-US" sz="700" dirty="0"/>
          </a:p>
        </p:txBody>
      </p:sp>
      <p:sp>
        <p:nvSpPr>
          <p:cNvPr id="12" name="Text 10"/>
          <p:cNvSpPr/>
          <p:nvPr/>
        </p:nvSpPr>
        <p:spPr>
          <a:xfrm>
            <a:off x="4114800" y="2066544"/>
            <a:ext cx="1005840" cy="201168"/>
          </a:xfrm>
          <a:prstGeom prst="rect">
            <a:avLst/>
          </a:prstGeom>
          <a:noFill/>
          <a:ln/>
        </p:spPr>
        <p:txBody>
          <a:bodyPr wrap="square" rtlCol="0" anchor="ctr"/>
          <a:lstStyle/>
          <a:p>
            <a:pPr algn="ctr" indent="0" marL="0">
              <a:buNone/>
            </a:pPr>
            <a:r>
              <a:rPr lang="en-US" sz="700" dirty="0">
                <a:solidFill>
                  <a:srgbClr val="EF4444"/>
                </a:solidFill>
              </a:rPr>
              <a:t>− No liquid cooling system</a:t>
            </a:r>
            <a:endParaRPr lang="en-US" sz="700" dirty="0"/>
          </a:p>
        </p:txBody>
      </p:sp>
      <p:sp>
        <p:nvSpPr>
          <p:cNvPr id="13" name="Shape 11"/>
          <p:cNvSpPr/>
          <p:nvPr/>
        </p:nvSpPr>
        <p:spPr>
          <a:xfrm>
            <a:off x="457200" y="2569464"/>
            <a:ext cx="4754880" cy="502920"/>
          </a:xfrm>
          <a:prstGeom prst="rect">
            <a:avLst/>
          </a:prstGeom>
          <a:solidFill>
            <a:srgbClr val="111827"/>
          </a:solidFill>
          <a:ln w="12700">
            <a:solidFill>
              <a:srgbClr val="00E5FF"/>
            </a:solidFill>
            <a:prstDash val="solid"/>
          </a:ln>
          <a:effectLst>
            <a:outerShdw sx="100000" sy="100000" kx="0" ky="0" algn="bl" rotWithShape="0" blurRad="101600" dist="38100" dir="8100000">
              <a:srgbClr val="000000">
                <a:alpha val="35000"/>
              </a:srgbClr>
            </a:outerShdw>
          </a:effectLst>
        </p:spPr>
      </p:sp>
      <p:sp>
        <p:nvSpPr>
          <p:cNvPr id="14" name="Shape 12"/>
          <p:cNvSpPr/>
          <p:nvPr/>
        </p:nvSpPr>
        <p:spPr>
          <a:xfrm>
            <a:off x="457200" y="2569464"/>
            <a:ext cx="64008" cy="502920"/>
          </a:xfrm>
          <a:prstGeom prst="rect">
            <a:avLst/>
          </a:prstGeom>
          <a:solidFill>
            <a:srgbClr val="00E5FF"/>
          </a:solidFill>
          <a:ln/>
        </p:spPr>
      </p:sp>
      <p:sp>
        <p:nvSpPr>
          <p:cNvPr id="15" name="Text 13"/>
          <p:cNvSpPr/>
          <p:nvPr/>
        </p:nvSpPr>
        <p:spPr>
          <a:xfrm>
            <a:off x="594360" y="2596896"/>
            <a:ext cx="2377440" cy="237744"/>
          </a:xfrm>
          <a:prstGeom prst="rect">
            <a:avLst/>
          </a:prstGeom>
          <a:noFill/>
          <a:ln/>
        </p:spPr>
        <p:txBody>
          <a:bodyPr wrap="square" rtlCol="0" anchor="ctr"/>
          <a:lstStyle/>
          <a:p>
            <a:pPr indent="0" marL="0">
              <a:buNone/>
            </a:pPr>
            <a:r>
              <a:rPr lang="en-US" sz="850" b="1" dirty="0">
                <a:solidFill>
                  <a:srgbClr val="00E5FF"/>
                </a:solidFill>
              </a:rPr>
              <a:t>Liquid Cooling Specialists</a:t>
            </a:r>
            <a:endParaRPr lang="en-US" sz="850" dirty="0"/>
          </a:p>
        </p:txBody>
      </p:sp>
      <p:sp>
        <p:nvSpPr>
          <p:cNvPr id="16" name="Text 14"/>
          <p:cNvSpPr/>
          <p:nvPr/>
        </p:nvSpPr>
        <p:spPr>
          <a:xfrm>
            <a:off x="594360" y="2816352"/>
            <a:ext cx="2377440" cy="201168"/>
          </a:xfrm>
          <a:prstGeom prst="rect">
            <a:avLst/>
          </a:prstGeom>
          <a:noFill/>
          <a:ln/>
        </p:spPr>
        <p:txBody>
          <a:bodyPr wrap="square" rtlCol="0" anchor="ctr"/>
          <a:lstStyle/>
          <a:p>
            <a:pPr indent="0" marL="0">
              <a:buNone/>
            </a:pPr>
            <a:r>
              <a:rPr lang="en-US" sz="700" dirty="0">
                <a:solidFill>
                  <a:srgbClr val="9CA3AF"/>
                </a:solidFill>
              </a:rPr>
              <a:t>CoolIT, Rittal, Avery Dennison</a:t>
            </a:r>
            <a:endParaRPr lang="en-US" sz="700" dirty="0"/>
          </a:p>
        </p:txBody>
      </p:sp>
      <p:sp>
        <p:nvSpPr>
          <p:cNvPr id="17" name="Text 15"/>
          <p:cNvSpPr/>
          <p:nvPr/>
        </p:nvSpPr>
        <p:spPr>
          <a:xfrm>
            <a:off x="3017520" y="2642616"/>
            <a:ext cx="1097280" cy="201168"/>
          </a:xfrm>
          <a:prstGeom prst="rect">
            <a:avLst/>
          </a:prstGeom>
          <a:noFill/>
          <a:ln/>
        </p:spPr>
        <p:txBody>
          <a:bodyPr wrap="square" rtlCol="0" anchor="ctr"/>
          <a:lstStyle/>
          <a:p>
            <a:pPr algn="ctr" indent="0" marL="0">
              <a:buNone/>
            </a:pPr>
            <a:r>
              <a:rPr lang="en-US" sz="700" dirty="0">
                <a:solidFill>
                  <a:srgbClr val="00E676"/>
                </a:solidFill>
              </a:rPr>
              <a:t>+ CDU, cold plate, manifold</a:t>
            </a:r>
            <a:endParaRPr lang="en-US" sz="700" dirty="0"/>
          </a:p>
        </p:txBody>
      </p:sp>
      <p:sp>
        <p:nvSpPr>
          <p:cNvPr id="18" name="Text 16"/>
          <p:cNvSpPr/>
          <p:nvPr/>
        </p:nvSpPr>
        <p:spPr>
          <a:xfrm>
            <a:off x="4114800" y="2642616"/>
            <a:ext cx="1005840" cy="201168"/>
          </a:xfrm>
          <a:prstGeom prst="rect">
            <a:avLst/>
          </a:prstGeom>
          <a:noFill/>
          <a:ln/>
        </p:spPr>
        <p:txBody>
          <a:bodyPr wrap="square" rtlCol="0" anchor="ctr"/>
          <a:lstStyle/>
          <a:p>
            <a:pPr algn="ctr" indent="0" marL="0">
              <a:buNone/>
            </a:pPr>
            <a:r>
              <a:rPr lang="en-US" sz="700" dirty="0">
                <a:solidFill>
                  <a:srgbClr val="EF4444"/>
                </a:solidFill>
              </a:rPr>
              <a:t>− Limited air cooling synergy</a:t>
            </a:r>
            <a:endParaRPr lang="en-US" sz="700" dirty="0"/>
          </a:p>
        </p:txBody>
      </p:sp>
      <p:sp>
        <p:nvSpPr>
          <p:cNvPr id="19" name="Shape 17"/>
          <p:cNvSpPr/>
          <p:nvPr/>
        </p:nvSpPr>
        <p:spPr>
          <a:xfrm>
            <a:off x="457200" y="3145536"/>
            <a:ext cx="4754880" cy="502920"/>
          </a:xfrm>
          <a:prstGeom prst="rect">
            <a:avLst/>
          </a:prstGeom>
          <a:solidFill>
            <a:srgbClr val="111827"/>
          </a:solidFill>
          <a:ln w="12700">
            <a:solidFill>
              <a:srgbClr val="00E676"/>
            </a:solidFill>
            <a:prstDash val="solid"/>
          </a:ln>
          <a:effectLst>
            <a:outerShdw sx="100000" sy="100000" kx="0" ky="0" algn="bl" rotWithShape="0" blurRad="101600" dist="38100" dir="8100000">
              <a:srgbClr val="000000">
                <a:alpha val="35000"/>
              </a:srgbClr>
            </a:outerShdw>
          </a:effectLst>
        </p:spPr>
      </p:sp>
      <p:sp>
        <p:nvSpPr>
          <p:cNvPr id="20" name="Shape 18"/>
          <p:cNvSpPr/>
          <p:nvPr/>
        </p:nvSpPr>
        <p:spPr>
          <a:xfrm>
            <a:off x="457200" y="3145536"/>
            <a:ext cx="64008" cy="502920"/>
          </a:xfrm>
          <a:prstGeom prst="rect">
            <a:avLst/>
          </a:prstGeom>
          <a:solidFill>
            <a:srgbClr val="00E676"/>
          </a:solidFill>
          <a:ln/>
        </p:spPr>
      </p:sp>
      <p:sp>
        <p:nvSpPr>
          <p:cNvPr id="21" name="Text 19"/>
          <p:cNvSpPr/>
          <p:nvPr/>
        </p:nvSpPr>
        <p:spPr>
          <a:xfrm>
            <a:off x="594360" y="3172968"/>
            <a:ext cx="2377440" cy="237744"/>
          </a:xfrm>
          <a:prstGeom prst="rect">
            <a:avLst/>
          </a:prstGeom>
          <a:noFill/>
          <a:ln/>
        </p:spPr>
        <p:txBody>
          <a:bodyPr wrap="square" rtlCol="0" anchor="ctr"/>
          <a:lstStyle/>
          <a:p>
            <a:pPr indent="0" marL="0">
              <a:buNone/>
            </a:pPr>
            <a:r>
              <a:rPr lang="en-US" sz="850" b="1" dirty="0">
                <a:solidFill>
                  <a:srgbClr val="00E676"/>
                </a:solidFill>
              </a:rPr>
              <a:t>Server ODMs (In-house)</a:t>
            </a:r>
            <a:endParaRPr lang="en-US" sz="850" dirty="0"/>
          </a:p>
        </p:txBody>
      </p:sp>
      <p:sp>
        <p:nvSpPr>
          <p:cNvPr id="22" name="Text 20"/>
          <p:cNvSpPr/>
          <p:nvPr/>
        </p:nvSpPr>
        <p:spPr>
          <a:xfrm>
            <a:off x="594360" y="3392424"/>
            <a:ext cx="2377440" cy="201168"/>
          </a:xfrm>
          <a:prstGeom prst="rect">
            <a:avLst/>
          </a:prstGeom>
          <a:noFill/>
          <a:ln/>
        </p:spPr>
        <p:txBody>
          <a:bodyPr wrap="square" rtlCol="0" anchor="ctr"/>
          <a:lstStyle/>
          <a:p>
            <a:pPr indent="0" marL="0">
              <a:buNone/>
            </a:pPr>
            <a:r>
              <a:rPr lang="en-US" sz="700" dirty="0">
                <a:solidFill>
                  <a:srgbClr val="9CA3AF"/>
                </a:solidFill>
              </a:rPr>
              <a:t>Foxconn, Wistron, Inventec</a:t>
            </a:r>
            <a:endParaRPr lang="en-US" sz="700" dirty="0"/>
          </a:p>
        </p:txBody>
      </p:sp>
      <p:sp>
        <p:nvSpPr>
          <p:cNvPr id="23" name="Text 21"/>
          <p:cNvSpPr/>
          <p:nvPr/>
        </p:nvSpPr>
        <p:spPr>
          <a:xfrm>
            <a:off x="3017520" y="3218688"/>
            <a:ext cx="1097280" cy="201168"/>
          </a:xfrm>
          <a:prstGeom prst="rect">
            <a:avLst/>
          </a:prstGeom>
          <a:noFill/>
          <a:ln/>
        </p:spPr>
        <p:txBody>
          <a:bodyPr wrap="square" rtlCol="0" anchor="ctr"/>
          <a:lstStyle/>
          <a:p>
            <a:pPr algn="ctr" indent="0" marL="0">
              <a:buNone/>
            </a:pPr>
            <a:r>
              <a:rPr lang="en-US" sz="700" dirty="0">
                <a:solidFill>
                  <a:srgbClr val="00E676"/>
                </a:solidFill>
              </a:rPr>
              <a:t>+ Full system integration</a:t>
            </a:r>
            <a:endParaRPr lang="en-US" sz="700" dirty="0"/>
          </a:p>
        </p:txBody>
      </p:sp>
      <p:sp>
        <p:nvSpPr>
          <p:cNvPr id="24" name="Text 22"/>
          <p:cNvSpPr/>
          <p:nvPr/>
        </p:nvSpPr>
        <p:spPr>
          <a:xfrm>
            <a:off x="4114800" y="3218688"/>
            <a:ext cx="1005840" cy="201168"/>
          </a:xfrm>
          <a:prstGeom prst="rect">
            <a:avLst/>
          </a:prstGeom>
          <a:noFill/>
          <a:ln/>
        </p:spPr>
        <p:txBody>
          <a:bodyPr wrap="square" rtlCol="0" anchor="ctr"/>
          <a:lstStyle/>
          <a:p>
            <a:pPr algn="ctr" indent="0" marL="0">
              <a:buNone/>
            </a:pPr>
            <a:r>
              <a:rPr lang="en-US" sz="700" dirty="0">
                <a:solidFill>
                  <a:srgbClr val="EF4444"/>
                </a:solidFill>
              </a:rPr>
              <a:t>− Outsource thermal to TMSBU</a:t>
            </a:r>
            <a:endParaRPr lang="en-US" sz="700" dirty="0"/>
          </a:p>
        </p:txBody>
      </p:sp>
      <p:sp>
        <p:nvSpPr>
          <p:cNvPr id="25" name="Shape 23"/>
          <p:cNvSpPr/>
          <p:nvPr/>
        </p:nvSpPr>
        <p:spPr>
          <a:xfrm>
            <a:off x="457200" y="3721608"/>
            <a:ext cx="4754880" cy="502920"/>
          </a:xfrm>
          <a:prstGeom prst="rect">
            <a:avLst/>
          </a:prstGeom>
          <a:solidFill>
            <a:srgbClr val="111827"/>
          </a:solidFill>
          <a:ln w="12700">
            <a:solidFill>
              <a:srgbClr val="A855F7"/>
            </a:solidFill>
            <a:prstDash val="solid"/>
          </a:ln>
          <a:effectLst>
            <a:outerShdw sx="100000" sy="100000" kx="0" ky="0" algn="bl" rotWithShape="0" blurRad="101600" dist="38100" dir="8100000">
              <a:srgbClr val="000000">
                <a:alpha val="35000"/>
              </a:srgbClr>
            </a:outerShdw>
          </a:effectLst>
        </p:spPr>
      </p:sp>
      <p:sp>
        <p:nvSpPr>
          <p:cNvPr id="26" name="Shape 24"/>
          <p:cNvSpPr/>
          <p:nvPr/>
        </p:nvSpPr>
        <p:spPr>
          <a:xfrm>
            <a:off x="457200" y="3721608"/>
            <a:ext cx="64008" cy="502920"/>
          </a:xfrm>
          <a:prstGeom prst="rect">
            <a:avLst/>
          </a:prstGeom>
          <a:solidFill>
            <a:srgbClr val="A855F7"/>
          </a:solidFill>
          <a:ln/>
        </p:spPr>
      </p:sp>
      <p:sp>
        <p:nvSpPr>
          <p:cNvPr id="27" name="Text 25"/>
          <p:cNvSpPr/>
          <p:nvPr/>
        </p:nvSpPr>
        <p:spPr>
          <a:xfrm>
            <a:off x="594360" y="3749040"/>
            <a:ext cx="2377440" cy="237744"/>
          </a:xfrm>
          <a:prstGeom prst="rect">
            <a:avLst/>
          </a:prstGeom>
          <a:noFill/>
          <a:ln/>
        </p:spPr>
        <p:txBody>
          <a:bodyPr wrap="square" rtlCol="0" anchor="ctr"/>
          <a:lstStyle/>
          <a:p>
            <a:pPr indent="0" marL="0">
              <a:buNone/>
            </a:pPr>
            <a:r>
              <a:rPr lang="en-US" sz="850" b="1" dirty="0">
                <a:solidFill>
                  <a:srgbClr val="A855F7"/>
                </a:solidFill>
              </a:rPr>
              <a:t>Connector / CDU Specialists</a:t>
            </a:r>
            <a:endParaRPr lang="en-US" sz="850" dirty="0"/>
          </a:p>
        </p:txBody>
      </p:sp>
      <p:sp>
        <p:nvSpPr>
          <p:cNvPr id="28" name="Text 26"/>
          <p:cNvSpPr/>
          <p:nvPr/>
        </p:nvSpPr>
        <p:spPr>
          <a:xfrm>
            <a:off x="594360" y="3968496"/>
            <a:ext cx="2377440" cy="201168"/>
          </a:xfrm>
          <a:prstGeom prst="rect">
            <a:avLst/>
          </a:prstGeom>
          <a:noFill/>
          <a:ln/>
        </p:spPr>
        <p:txBody>
          <a:bodyPr wrap="square" rtlCol="0" anchor="ctr"/>
          <a:lstStyle/>
          <a:p>
            <a:pPr indent="0" marL="0">
              <a:buNone/>
            </a:pPr>
            <a:r>
              <a:rPr lang="en-US" sz="700" dirty="0">
                <a:solidFill>
                  <a:srgbClr val="9CA3AF"/>
                </a:solidFill>
              </a:rPr>
              <a:t>Staubli, Liiver, CPC</a:t>
            </a:r>
            <a:endParaRPr lang="en-US" sz="700" dirty="0"/>
          </a:p>
        </p:txBody>
      </p:sp>
      <p:sp>
        <p:nvSpPr>
          <p:cNvPr id="29" name="Text 27"/>
          <p:cNvSpPr/>
          <p:nvPr/>
        </p:nvSpPr>
        <p:spPr>
          <a:xfrm>
            <a:off x="3017520" y="3794760"/>
            <a:ext cx="1097280" cy="201168"/>
          </a:xfrm>
          <a:prstGeom prst="rect">
            <a:avLst/>
          </a:prstGeom>
          <a:noFill/>
          <a:ln/>
        </p:spPr>
        <p:txBody>
          <a:bodyPr wrap="square" rtlCol="0" anchor="ctr"/>
          <a:lstStyle/>
          <a:p>
            <a:pPr algn="ctr" indent="0" marL="0">
              <a:buNone/>
            </a:pPr>
            <a:r>
              <a:rPr lang="en-US" sz="700" dirty="0">
                <a:solidFill>
                  <a:srgbClr val="00E676"/>
                </a:solidFill>
              </a:rPr>
              <a:t>+ Quick connector, CDU</a:t>
            </a:r>
            <a:endParaRPr lang="en-US" sz="700" dirty="0"/>
          </a:p>
        </p:txBody>
      </p:sp>
      <p:sp>
        <p:nvSpPr>
          <p:cNvPr id="30" name="Text 28"/>
          <p:cNvSpPr/>
          <p:nvPr/>
        </p:nvSpPr>
        <p:spPr>
          <a:xfrm>
            <a:off x="4114800" y="3794760"/>
            <a:ext cx="1005840" cy="201168"/>
          </a:xfrm>
          <a:prstGeom prst="rect">
            <a:avLst/>
          </a:prstGeom>
          <a:noFill/>
          <a:ln/>
        </p:spPr>
        <p:txBody>
          <a:bodyPr wrap="square" rtlCol="0" anchor="ctr"/>
          <a:lstStyle/>
          <a:p>
            <a:pPr algn="ctr" indent="0" marL="0">
              <a:buNone/>
            </a:pPr>
            <a:r>
              <a:rPr lang="en-US" sz="700" dirty="0">
                <a:solidFill>
                  <a:srgbClr val="EF4444"/>
                </a:solidFill>
              </a:rPr>
              <a:t>− Narrow component focus</a:t>
            </a:r>
            <a:endParaRPr lang="en-US" sz="700" dirty="0"/>
          </a:p>
        </p:txBody>
      </p:sp>
      <p:sp>
        <p:nvSpPr>
          <p:cNvPr id="31" name="Shape 29"/>
          <p:cNvSpPr/>
          <p:nvPr/>
        </p:nvSpPr>
        <p:spPr>
          <a:xfrm>
            <a:off x="457200" y="4297680"/>
            <a:ext cx="4754880" cy="502920"/>
          </a:xfrm>
          <a:prstGeom prst="rect">
            <a:avLst/>
          </a:prstGeom>
          <a:solidFill>
            <a:srgbClr val="111827"/>
          </a:solidFill>
          <a:ln w="12700">
            <a:solidFill>
              <a:srgbClr val="F59E0B"/>
            </a:solidFill>
            <a:prstDash val="solid"/>
          </a:ln>
          <a:effectLst>
            <a:outerShdw sx="100000" sy="100000" kx="0" ky="0" algn="bl" rotWithShape="0" blurRad="101600" dist="38100" dir="8100000">
              <a:srgbClr val="000000">
                <a:alpha val="35000"/>
              </a:srgbClr>
            </a:outerShdw>
          </a:effectLst>
        </p:spPr>
      </p:sp>
      <p:sp>
        <p:nvSpPr>
          <p:cNvPr id="32" name="Shape 30"/>
          <p:cNvSpPr/>
          <p:nvPr/>
        </p:nvSpPr>
        <p:spPr>
          <a:xfrm>
            <a:off x="457200" y="4297680"/>
            <a:ext cx="64008" cy="502920"/>
          </a:xfrm>
          <a:prstGeom prst="rect">
            <a:avLst/>
          </a:prstGeom>
          <a:solidFill>
            <a:srgbClr val="F59E0B"/>
          </a:solidFill>
          <a:ln/>
        </p:spPr>
      </p:sp>
      <p:sp>
        <p:nvSpPr>
          <p:cNvPr id="33" name="Text 31"/>
          <p:cNvSpPr/>
          <p:nvPr/>
        </p:nvSpPr>
        <p:spPr>
          <a:xfrm>
            <a:off x="594360" y="4325112"/>
            <a:ext cx="2377440" cy="237744"/>
          </a:xfrm>
          <a:prstGeom prst="rect">
            <a:avLst/>
          </a:prstGeom>
          <a:noFill/>
          <a:ln/>
        </p:spPr>
        <p:txBody>
          <a:bodyPr wrap="square" rtlCol="0" anchor="ctr"/>
          <a:lstStyle/>
          <a:p>
            <a:pPr indent="0" marL="0">
              <a:buNone/>
            </a:pPr>
            <a:r>
              <a:rPr lang="en-US" sz="850" b="1" dirty="0">
                <a:solidFill>
                  <a:srgbClr val="F59E0B"/>
                </a:solidFill>
              </a:rPr>
              <a:t>Integrated DC Infra</a:t>
            </a:r>
            <a:endParaRPr lang="en-US" sz="850" dirty="0"/>
          </a:p>
        </p:txBody>
      </p:sp>
      <p:sp>
        <p:nvSpPr>
          <p:cNvPr id="34" name="Text 32"/>
          <p:cNvSpPr/>
          <p:nvPr/>
        </p:nvSpPr>
        <p:spPr>
          <a:xfrm>
            <a:off x="594360" y="4544568"/>
            <a:ext cx="2377440" cy="201168"/>
          </a:xfrm>
          <a:prstGeom prst="rect">
            <a:avLst/>
          </a:prstGeom>
          <a:noFill/>
          <a:ln/>
        </p:spPr>
        <p:txBody>
          <a:bodyPr wrap="square" rtlCol="0" anchor="ctr"/>
          <a:lstStyle/>
          <a:p>
            <a:pPr indent="0" marL="0">
              <a:buNone/>
            </a:pPr>
            <a:r>
              <a:rPr lang="en-US" sz="700" dirty="0">
                <a:solidFill>
                  <a:srgbClr val="9CA3AF"/>
                </a:solidFill>
              </a:rPr>
              <a:t>Schneider, Vertiv, Rittal</a:t>
            </a:r>
            <a:endParaRPr lang="en-US" sz="700" dirty="0"/>
          </a:p>
        </p:txBody>
      </p:sp>
      <p:sp>
        <p:nvSpPr>
          <p:cNvPr id="35" name="Text 33"/>
          <p:cNvSpPr/>
          <p:nvPr/>
        </p:nvSpPr>
        <p:spPr>
          <a:xfrm>
            <a:off x="3017520" y="4370832"/>
            <a:ext cx="1097280" cy="201168"/>
          </a:xfrm>
          <a:prstGeom prst="rect">
            <a:avLst/>
          </a:prstGeom>
          <a:noFill/>
          <a:ln/>
        </p:spPr>
        <p:txBody>
          <a:bodyPr wrap="square" rtlCol="0" anchor="ctr"/>
          <a:lstStyle/>
          <a:p>
            <a:pPr algn="ctr" indent="0" marL="0">
              <a:buNone/>
            </a:pPr>
            <a:r>
              <a:rPr lang="en-US" sz="700" dirty="0">
                <a:solidFill>
                  <a:srgbClr val="00E676"/>
                </a:solidFill>
              </a:rPr>
              <a:t>+ Full data center solutions</a:t>
            </a:r>
            <a:endParaRPr lang="en-US" sz="700" dirty="0"/>
          </a:p>
        </p:txBody>
      </p:sp>
      <p:sp>
        <p:nvSpPr>
          <p:cNvPr id="36" name="Text 34"/>
          <p:cNvSpPr/>
          <p:nvPr/>
        </p:nvSpPr>
        <p:spPr>
          <a:xfrm>
            <a:off x="4114800" y="4370832"/>
            <a:ext cx="1005840" cy="201168"/>
          </a:xfrm>
          <a:prstGeom prst="rect">
            <a:avLst/>
          </a:prstGeom>
          <a:noFill/>
          <a:ln/>
        </p:spPr>
        <p:txBody>
          <a:bodyPr wrap="square" rtlCol="0" anchor="ctr"/>
          <a:lstStyle/>
          <a:p>
            <a:pPr algn="ctr" indent="0" marL="0">
              <a:buNone/>
            </a:pPr>
            <a:r>
              <a:rPr lang="en-US" sz="700" dirty="0">
                <a:solidFill>
                  <a:srgbClr val="EF4444"/>
                </a:solidFill>
              </a:rPr>
              <a:t>− Not chip-level thermal</a:t>
            </a:r>
            <a:endParaRPr lang="en-US" sz="700" dirty="0"/>
          </a:p>
        </p:txBody>
      </p:sp>
      <p:sp>
        <p:nvSpPr>
          <p:cNvPr id="37" name="Shape 35"/>
          <p:cNvSpPr/>
          <p:nvPr/>
        </p:nvSpPr>
        <p:spPr>
          <a:xfrm>
            <a:off x="5394960" y="1993392"/>
            <a:ext cx="3474720" cy="3063240"/>
          </a:xfrm>
          <a:prstGeom prst="rect">
            <a:avLst/>
          </a:prstGeom>
          <a:solidFill>
            <a:srgbClr val="111827"/>
          </a:solidFill>
          <a:ln w="19050">
            <a:solidFill>
              <a:srgbClr val="00E676"/>
            </a:solidFill>
            <a:prstDash val="solid"/>
          </a:ln>
          <a:effectLst>
            <a:outerShdw sx="100000" sy="100000" kx="0" ky="0" algn="bl" rotWithShape="0" blurRad="101600" dist="38100" dir="8100000">
              <a:srgbClr val="000000">
                <a:alpha val="35000"/>
              </a:srgbClr>
            </a:outerShdw>
          </a:effectLst>
        </p:spPr>
      </p:sp>
      <p:sp>
        <p:nvSpPr>
          <p:cNvPr id="38" name="Shape 36"/>
          <p:cNvSpPr/>
          <p:nvPr/>
        </p:nvSpPr>
        <p:spPr>
          <a:xfrm>
            <a:off x="5394960" y="1993392"/>
            <a:ext cx="3474720" cy="50292"/>
          </a:xfrm>
          <a:prstGeom prst="rect">
            <a:avLst/>
          </a:prstGeom>
          <a:solidFill>
            <a:srgbClr val="00E676"/>
          </a:solidFill>
          <a:ln/>
        </p:spPr>
      </p:sp>
      <p:sp>
        <p:nvSpPr>
          <p:cNvPr id="39" name="Text 37"/>
          <p:cNvSpPr/>
          <p:nvPr/>
        </p:nvSpPr>
        <p:spPr>
          <a:xfrm>
            <a:off x="5486400" y="2029968"/>
            <a:ext cx="3291840" cy="347472"/>
          </a:xfrm>
          <a:prstGeom prst="rect">
            <a:avLst/>
          </a:prstGeom>
          <a:noFill/>
          <a:ln/>
        </p:spPr>
        <p:txBody>
          <a:bodyPr wrap="square" rtlCol="0" anchor="ctr"/>
          <a:lstStyle/>
          <a:p>
            <a:pPr indent="0" marL="0">
              <a:buNone/>
            </a:pPr>
            <a:r>
              <a:rPr lang="en-US" sz="1100" b="1" dirty="0">
                <a:solidFill>
                  <a:srgbClr val="00E676"/>
                </a:solidFill>
              </a:rPr>
              <a:t>TMSBU Differentiators</a:t>
            </a:r>
            <a:endParaRPr lang="en-US" sz="1100" dirty="0"/>
          </a:p>
        </p:txBody>
      </p:sp>
      <p:sp>
        <p:nvSpPr>
          <p:cNvPr id="40" name="Text 38"/>
          <p:cNvSpPr/>
          <p:nvPr/>
        </p:nvSpPr>
        <p:spPr>
          <a:xfrm>
            <a:off x="5486400" y="2377440"/>
            <a:ext cx="3291840" cy="2606040"/>
          </a:xfrm>
          <a:prstGeom prst="rect">
            <a:avLst/>
          </a:prstGeom>
          <a:noFill/>
          <a:ln/>
        </p:spPr>
        <p:txBody>
          <a:bodyPr wrap="square" rtlCol="0" anchor="ctr"/>
          <a:lstStyle/>
          <a:p>
            <a:pPr indent="0" marL="0">
              <a:buNone/>
            </a:pPr>
            <a:r>
              <a:rPr lang="en-US" sz="850" b="1" dirty="0">
                <a:solidFill>
                  <a:srgbClr val="FFFFFF"/>
                </a:solidFill>
              </a:rPr>
              <a:t>Air + Liquid Hybrid</a:t>
            </a:r>
            <a:endParaRPr lang="en-US" sz="850" dirty="0"/>
          </a:p>
          <a:p>
            <a:pPr indent="0" marL="0">
              <a:buNone/>
            </a:pPr>
            <a:r>
              <a:rPr lang="en-US" sz="850" dirty="0">
                <a:solidFill>
                  <a:srgbClr val="9CA3AF"/>
                </a:solidFill>
              </a:rPr>
              <a:t>唯一同時具備兩種散熱技術的供應商</a:t>
            </a:r>
            <a:endParaRPr lang="en-US" sz="850" dirty="0"/>
          </a:p>
          <a:p>
            <a:pPr indent="0" marL="0">
              <a:buNone/>
            </a:pPr>
            <a:endParaRPr lang="en-US" sz="850" dirty="0"/>
          </a:p>
          <a:p>
            <a:pPr indent="0" marL="0">
              <a:buNone/>
            </a:pPr>
            <a:r>
              <a:rPr lang="en-US" sz="850" b="1" dirty="0">
                <a:solidFill>
                  <a:srgbClr val="FFFFFF"/>
                </a:solidFill>
              </a:rPr>
              <a:t>Delta Group Synergy</a:t>
            </a:r>
            <a:endParaRPr lang="en-US" sz="850" dirty="0"/>
          </a:p>
          <a:p>
            <a:pPr indent="0" marL="0">
              <a:buNone/>
            </a:pPr>
            <a:r>
              <a:rPr lang="en-US" sz="850" dirty="0">
                <a:solidFill>
                  <a:srgbClr val="9CA3AF"/>
                </a:solidFill>
              </a:rPr>
              <a:t>Fan + Power + Control + DC Infra</a:t>
            </a:r>
            <a:endParaRPr lang="en-US" sz="850" dirty="0"/>
          </a:p>
          <a:p>
            <a:pPr indent="0" marL="0">
              <a:buNone/>
            </a:pPr>
            <a:endParaRPr lang="en-US" sz="850" dirty="0"/>
          </a:p>
          <a:p>
            <a:pPr indent="0" marL="0">
              <a:buNone/>
            </a:pPr>
            <a:r>
              <a:rPr lang="en-US" sz="850" b="1" dirty="0">
                <a:solidFill>
                  <a:srgbClr val="FFFFFF"/>
                </a:solidFill>
              </a:rPr>
              <a:t>Manufacturing Scale</a:t>
            </a:r>
            <a:endParaRPr lang="en-US" sz="850" dirty="0"/>
          </a:p>
          <a:p>
            <a:pPr indent="0" marL="0">
              <a:buNone/>
            </a:pPr>
            <a:r>
              <a:rPr lang="en-US" sz="850" dirty="0">
                <a:solidFill>
                  <a:srgbClr val="9CA3AF"/>
                </a:solidFill>
              </a:rPr>
              <a:t>現有散熱零件製造基地，快速延伸</a:t>
            </a:r>
            <a:endParaRPr lang="en-US" sz="850" dirty="0"/>
          </a:p>
          <a:p>
            <a:pPr indent="0" marL="0">
              <a:buNone/>
            </a:pPr>
            <a:endParaRPr lang="en-US" sz="850" dirty="0"/>
          </a:p>
          <a:p>
            <a:pPr indent="0" marL="0">
              <a:buNone/>
            </a:pPr>
            <a:r>
              <a:rPr lang="en-US" sz="850" b="1" dirty="0">
                <a:solidFill>
                  <a:srgbClr val="FFFFFF"/>
                </a:solidFill>
              </a:rPr>
              <a:t>Chip to Rack Capability</a:t>
            </a:r>
            <a:endParaRPr lang="en-US" sz="850" dirty="0"/>
          </a:p>
          <a:p>
            <a:pPr indent="0" marL="0">
              <a:buNone/>
            </a:pPr>
            <a:r>
              <a:rPr lang="en-US" sz="850" dirty="0">
                <a:solidFill>
                  <a:srgbClr val="9CA3AF"/>
                </a:solidFill>
              </a:rPr>
              <a:t>VC/HP → Cold Plate → Rack CDU 全段覆蓋</a:t>
            </a:r>
            <a:endParaRPr lang="en-US" sz="850" dirty="0"/>
          </a:p>
          <a:p>
            <a:pPr indent="0" marL="0">
              <a:buNone/>
            </a:pPr>
            <a:endParaRPr lang="en-US" sz="850" dirty="0"/>
          </a:p>
          <a:p>
            <a:pPr indent="0" marL="0">
              <a:buNone/>
            </a:pPr>
            <a:r>
              <a:rPr lang="en-US" sz="850" b="1" dirty="0">
                <a:solidFill>
                  <a:srgbClr val="FFFFFF"/>
                </a:solidFill>
              </a:rPr>
              <a:t>Customer Relationships</a:t>
            </a:r>
            <a:endParaRPr lang="en-US" sz="850" dirty="0"/>
          </a:p>
          <a:p>
            <a:pPr indent="0" marL="0">
              <a:buNone/>
            </a:pPr>
            <a:r>
              <a:rPr lang="en-US" sz="850" dirty="0">
                <a:solidFill>
                  <a:srgbClr val="9CA3AF"/>
                </a:solidFill>
              </a:rPr>
              <a:t>現有服務服務器ODM/OEM的客戶基礎</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EF4444"/>
          </a:solidFill>
          <a:ln w="12700">
            <a:solidFill>
              <a:srgbClr val="EF4444"/>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09</a:t>
            </a:r>
            <a:endParaRPr lang="en-US" sz="1100" dirty="0"/>
          </a:p>
        </p:txBody>
      </p:sp>
      <p:sp>
        <p:nvSpPr>
          <p:cNvPr id="4" name="Text 2"/>
          <p:cNvSpPr/>
          <p:nvPr/>
        </p:nvSpPr>
        <p:spPr>
          <a:xfrm>
            <a:off x="457200" y="164592"/>
            <a:ext cx="7772400" cy="594360"/>
          </a:xfrm>
          <a:prstGeom prst="rect">
            <a:avLst/>
          </a:prstGeom>
          <a:noFill/>
          <a:ln/>
        </p:spPr>
        <p:txBody>
          <a:bodyPr wrap="square" rtlCol="0" anchor="ctr"/>
          <a:lstStyle/>
          <a:p>
            <a:pPr indent="0" marL="0">
              <a:buNone/>
            </a:pPr>
            <a:r>
              <a:rPr lang="en-US" sz="2200" b="1" dirty="0">
                <a:solidFill>
                  <a:srgbClr val="FFFFFF"/>
                </a:solidFill>
              </a:rPr>
              <a:t>Capability Gap &amp; Risk Assessment</a:t>
            </a:r>
            <a:endParaRPr lang="en-US" sz="2200" dirty="0"/>
          </a:p>
        </p:txBody>
      </p:sp>
      <p:sp>
        <p:nvSpPr>
          <p:cNvPr id="5" name="Shape 3"/>
          <p:cNvSpPr/>
          <p:nvPr/>
        </p:nvSpPr>
        <p:spPr>
          <a:xfrm>
            <a:off x="457200" y="1325880"/>
            <a:ext cx="8229600" cy="566928"/>
          </a:xfrm>
          <a:prstGeom prst="rect">
            <a:avLst/>
          </a:prstGeom>
          <a:solidFill>
            <a:srgbClr val="EF4444">
              <a:alpha val="12000"/>
            </a:srgbClr>
          </a:solidFill>
          <a:ln w="12700">
            <a:solidFill>
              <a:srgbClr val="EF4444"/>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EF4444"/>
                </a:solidFill>
              </a:rPr>
              <a:t>The opportunity is attractive, but TMSBU must close key capability gaps before scaling</a:t>
            </a:r>
            <a:endParaRPr lang="en-US" sz="1050" dirty="0"/>
          </a:p>
        </p:txBody>
      </p:sp>
      <p:sp>
        <p:nvSpPr>
          <p:cNvPr id="7" name="Shape 5"/>
          <p:cNvSpPr/>
          <p:nvPr/>
        </p:nvSpPr>
        <p:spPr>
          <a:xfrm>
            <a:off x="457200" y="1993392"/>
            <a:ext cx="8412480" cy="347472"/>
          </a:xfrm>
          <a:prstGeom prst="rect">
            <a:avLst/>
          </a:prstGeom>
          <a:solidFill>
            <a:srgbClr val="1E293B"/>
          </a:solidFill>
          <a:ln w="6350">
            <a:solidFill>
              <a:srgbClr val="374151"/>
            </a:solidFill>
            <a:prstDash val="solid"/>
          </a:ln>
        </p:spPr>
      </p:sp>
      <p:sp>
        <p:nvSpPr>
          <p:cNvPr id="8" name="Text 6"/>
          <p:cNvSpPr/>
          <p:nvPr/>
        </p:nvSpPr>
        <p:spPr>
          <a:xfrm>
            <a:off x="502920" y="1993392"/>
            <a:ext cx="3017520" cy="347472"/>
          </a:xfrm>
          <a:prstGeom prst="rect">
            <a:avLst/>
          </a:prstGeom>
          <a:noFill/>
          <a:ln/>
        </p:spPr>
        <p:txBody>
          <a:bodyPr wrap="square" rtlCol="0" anchor="ctr"/>
          <a:lstStyle/>
          <a:p>
            <a:pPr indent="0" marL="0">
              <a:buNone/>
            </a:pPr>
            <a:r>
              <a:rPr lang="en-US" sz="850" b="1" dirty="0">
                <a:solidFill>
                  <a:srgbClr val="00E5FF"/>
                </a:solidFill>
              </a:rPr>
              <a:t>Risk Item</a:t>
            </a:r>
            <a:endParaRPr lang="en-US" sz="850" dirty="0"/>
          </a:p>
        </p:txBody>
      </p:sp>
      <p:sp>
        <p:nvSpPr>
          <p:cNvPr id="9" name="Text 7"/>
          <p:cNvSpPr/>
          <p:nvPr/>
        </p:nvSpPr>
        <p:spPr>
          <a:xfrm>
            <a:off x="3566160" y="1993392"/>
            <a:ext cx="822960" cy="347472"/>
          </a:xfrm>
          <a:prstGeom prst="rect">
            <a:avLst/>
          </a:prstGeom>
          <a:noFill/>
          <a:ln/>
        </p:spPr>
        <p:txBody>
          <a:bodyPr wrap="square" rtlCol="0" anchor="ctr"/>
          <a:lstStyle/>
          <a:p>
            <a:pPr indent="0" marL="0">
              <a:buNone/>
            </a:pPr>
            <a:r>
              <a:rPr lang="en-US" sz="850" b="1" dirty="0">
                <a:solidFill>
                  <a:srgbClr val="00E5FF"/>
                </a:solidFill>
              </a:rPr>
              <a:t>Impact</a:t>
            </a:r>
            <a:endParaRPr lang="en-US" sz="850" dirty="0"/>
          </a:p>
        </p:txBody>
      </p:sp>
      <p:sp>
        <p:nvSpPr>
          <p:cNvPr id="10" name="Text 8"/>
          <p:cNvSpPr/>
          <p:nvPr/>
        </p:nvSpPr>
        <p:spPr>
          <a:xfrm>
            <a:off x="4434840" y="1993392"/>
            <a:ext cx="960120" cy="347472"/>
          </a:xfrm>
          <a:prstGeom prst="rect">
            <a:avLst/>
          </a:prstGeom>
          <a:noFill/>
          <a:ln/>
        </p:spPr>
        <p:txBody>
          <a:bodyPr wrap="square" rtlCol="0" anchor="ctr"/>
          <a:lstStyle/>
          <a:p>
            <a:pPr indent="0" marL="0">
              <a:buNone/>
            </a:pPr>
            <a:r>
              <a:rPr lang="en-US" sz="850" b="1" dirty="0">
                <a:solidFill>
                  <a:srgbClr val="00E5FF"/>
                </a:solidFill>
              </a:rPr>
              <a:t>Urgency</a:t>
            </a:r>
            <a:endParaRPr lang="en-US" sz="850" dirty="0"/>
          </a:p>
        </p:txBody>
      </p:sp>
      <p:sp>
        <p:nvSpPr>
          <p:cNvPr id="11" name="Text 9"/>
          <p:cNvSpPr/>
          <p:nvPr/>
        </p:nvSpPr>
        <p:spPr>
          <a:xfrm>
            <a:off x="5440680" y="1993392"/>
            <a:ext cx="3383280" cy="347472"/>
          </a:xfrm>
          <a:prstGeom prst="rect">
            <a:avLst/>
          </a:prstGeom>
          <a:noFill/>
          <a:ln/>
        </p:spPr>
        <p:txBody>
          <a:bodyPr wrap="square" rtlCol="0" anchor="ctr"/>
          <a:lstStyle/>
          <a:p>
            <a:pPr indent="0" marL="0">
              <a:buNone/>
            </a:pPr>
            <a:r>
              <a:rPr lang="en-US" sz="850" b="1" dirty="0">
                <a:solidFill>
                  <a:srgbClr val="00E5FF"/>
                </a:solidFill>
              </a:rPr>
              <a:t>Key Action</a:t>
            </a:r>
            <a:endParaRPr lang="en-US" sz="850" dirty="0"/>
          </a:p>
        </p:txBody>
      </p:sp>
      <p:sp>
        <p:nvSpPr>
          <p:cNvPr id="12" name="Shape 10"/>
          <p:cNvSpPr/>
          <p:nvPr/>
        </p:nvSpPr>
        <p:spPr>
          <a:xfrm>
            <a:off x="457200" y="2340864"/>
            <a:ext cx="8412480" cy="274320"/>
          </a:xfrm>
          <a:prstGeom prst="rect">
            <a:avLst/>
          </a:prstGeom>
          <a:solidFill>
            <a:srgbClr val="111827"/>
          </a:solidFill>
          <a:ln w="3810">
            <a:solidFill>
              <a:srgbClr val="1E293B"/>
            </a:solidFill>
            <a:prstDash val="solid"/>
          </a:ln>
        </p:spPr>
      </p:sp>
      <p:sp>
        <p:nvSpPr>
          <p:cNvPr id="13" name="Text 11"/>
          <p:cNvSpPr/>
          <p:nvPr/>
        </p:nvSpPr>
        <p:spPr>
          <a:xfrm>
            <a:off x="502920" y="2340864"/>
            <a:ext cx="3017520" cy="274320"/>
          </a:xfrm>
          <a:prstGeom prst="rect">
            <a:avLst/>
          </a:prstGeom>
          <a:noFill/>
          <a:ln/>
        </p:spPr>
        <p:txBody>
          <a:bodyPr wrap="square" rtlCol="0" anchor="ctr"/>
          <a:lstStyle/>
          <a:p>
            <a:pPr indent="0" marL="0">
              <a:buNone/>
            </a:pPr>
            <a:r>
              <a:rPr lang="en-US" sz="800" dirty="0">
                <a:solidFill>
                  <a:srgbClr val="FFFFFF"/>
                </a:solidFill>
              </a:rPr>
              <a:t>CDU Design &amp; Manufacturing</a:t>
            </a:r>
            <a:endParaRPr lang="en-US" sz="800" dirty="0"/>
          </a:p>
        </p:txBody>
      </p:sp>
      <p:sp>
        <p:nvSpPr>
          <p:cNvPr id="14" name="Shape 12"/>
          <p:cNvSpPr/>
          <p:nvPr/>
        </p:nvSpPr>
        <p:spPr>
          <a:xfrm>
            <a:off x="3566160" y="2386584"/>
            <a:ext cx="731520" cy="182880"/>
          </a:xfrm>
          <a:prstGeom prst="rect">
            <a:avLst/>
          </a:prstGeom>
          <a:solidFill>
            <a:srgbClr val="EF4444">
              <a:alpha val="30000"/>
            </a:srgbClr>
          </a:solidFill>
          <a:ln w="10160">
            <a:solidFill>
              <a:srgbClr val="EF4444"/>
            </a:solidFill>
            <a:prstDash val="solid"/>
          </a:ln>
        </p:spPr>
      </p:sp>
      <p:sp>
        <p:nvSpPr>
          <p:cNvPr id="15" name="Text 13"/>
          <p:cNvSpPr/>
          <p:nvPr/>
        </p:nvSpPr>
        <p:spPr>
          <a:xfrm>
            <a:off x="3566160" y="2340864"/>
            <a:ext cx="82296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16" name="Shape 14"/>
          <p:cNvSpPr/>
          <p:nvPr/>
        </p:nvSpPr>
        <p:spPr>
          <a:xfrm>
            <a:off x="4434840" y="2386584"/>
            <a:ext cx="822960" cy="182880"/>
          </a:xfrm>
          <a:prstGeom prst="rect">
            <a:avLst/>
          </a:prstGeom>
          <a:solidFill>
            <a:srgbClr val="EF4444">
              <a:alpha val="30000"/>
            </a:srgbClr>
          </a:solidFill>
          <a:ln w="10160">
            <a:solidFill>
              <a:srgbClr val="EF4444"/>
            </a:solidFill>
            <a:prstDash val="solid"/>
          </a:ln>
        </p:spPr>
      </p:sp>
      <p:sp>
        <p:nvSpPr>
          <p:cNvPr id="17" name="Text 15"/>
          <p:cNvSpPr/>
          <p:nvPr/>
        </p:nvSpPr>
        <p:spPr>
          <a:xfrm>
            <a:off x="4434840" y="2340864"/>
            <a:ext cx="96012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18" name="Text 16"/>
          <p:cNvSpPr/>
          <p:nvPr/>
        </p:nvSpPr>
        <p:spPr>
          <a:xfrm>
            <a:off x="5440680" y="2340864"/>
            <a:ext cx="3383280" cy="274320"/>
          </a:xfrm>
          <a:prstGeom prst="rect">
            <a:avLst/>
          </a:prstGeom>
          <a:noFill/>
          <a:ln/>
        </p:spPr>
        <p:txBody>
          <a:bodyPr wrap="square" rtlCol="0" anchor="ctr"/>
          <a:lstStyle/>
          <a:p>
            <a:pPr indent="0" marL="0">
              <a:buNone/>
            </a:pPr>
            <a:r>
              <a:rPr lang="en-US" sz="750" dirty="0">
                <a:solidFill>
                  <a:srgbClr val="9CA3AF"/>
                </a:solidFill>
              </a:rPr>
              <a:t>Core system component. Partner or acquire.</a:t>
            </a:r>
            <a:endParaRPr lang="en-US" sz="750" dirty="0"/>
          </a:p>
        </p:txBody>
      </p:sp>
      <p:sp>
        <p:nvSpPr>
          <p:cNvPr id="19" name="Shape 17"/>
          <p:cNvSpPr/>
          <p:nvPr/>
        </p:nvSpPr>
        <p:spPr>
          <a:xfrm>
            <a:off x="457200" y="2615184"/>
            <a:ext cx="8412480" cy="274320"/>
          </a:xfrm>
          <a:prstGeom prst="rect">
            <a:avLst/>
          </a:prstGeom>
          <a:solidFill>
            <a:srgbClr val="0D1117"/>
          </a:solidFill>
          <a:ln w="3810">
            <a:solidFill>
              <a:srgbClr val="1E293B"/>
            </a:solidFill>
            <a:prstDash val="solid"/>
          </a:ln>
        </p:spPr>
      </p:sp>
      <p:sp>
        <p:nvSpPr>
          <p:cNvPr id="20" name="Text 18"/>
          <p:cNvSpPr/>
          <p:nvPr/>
        </p:nvSpPr>
        <p:spPr>
          <a:xfrm>
            <a:off x="502920" y="2615184"/>
            <a:ext cx="3017520" cy="274320"/>
          </a:xfrm>
          <a:prstGeom prst="rect">
            <a:avLst/>
          </a:prstGeom>
          <a:noFill/>
          <a:ln/>
        </p:spPr>
        <p:txBody>
          <a:bodyPr wrap="square" rtlCol="0" anchor="ctr"/>
          <a:lstStyle/>
          <a:p>
            <a:pPr indent="0" marL="0">
              <a:buNone/>
            </a:pPr>
            <a:r>
              <a:rPr lang="en-US" sz="800" dirty="0">
                <a:solidFill>
                  <a:srgbClr val="FFFFFF"/>
                </a:solidFill>
              </a:rPr>
              <a:t>Quick Connector Qualification</a:t>
            </a:r>
            <a:endParaRPr lang="en-US" sz="800" dirty="0"/>
          </a:p>
        </p:txBody>
      </p:sp>
      <p:sp>
        <p:nvSpPr>
          <p:cNvPr id="21" name="Shape 19"/>
          <p:cNvSpPr/>
          <p:nvPr/>
        </p:nvSpPr>
        <p:spPr>
          <a:xfrm>
            <a:off x="3566160" y="2660904"/>
            <a:ext cx="731520" cy="182880"/>
          </a:xfrm>
          <a:prstGeom prst="rect">
            <a:avLst/>
          </a:prstGeom>
          <a:solidFill>
            <a:srgbClr val="EF4444">
              <a:alpha val="30000"/>
            </a:srgbClr>
          </a:solidFill>
          <a:ln w="10160">
            <a:solidFill>
              <a:srgbClr val="EF4444"/>
            </a:solidFill>
            <a:prstDash val="solid"/>
          </a:ln>
        </p:spPr>
      </p:sp>
      <p:sp>
        <p:nvSpPr>
          <p:cNvPr id="22" name="Text 20"/>
          <p:cNvSpPr/>
          <p:nvPr/>
        </p:nvSpPr>
        <p:spPr>
          <a:xfrm>
            <a:off x="3566160" y="2615184"/>
            <a:ext cx="82296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23" name="Shape 21"/>
          <p:cNvSpPr/>
          <p:nvPr/>
        </p:nvSpPr>
        <p:spPr>
          <a:xfrm>
            <a:off x="4434840" y="2660904"/>
            <a:ext cx="822960" cy="182880"/>
          </a:xfrm>
          <a:prstGeom prst="rect">
            <a:avLst/>
          </a:prstGeom>
          <a:solidFill>
            <a:srgbClr val="F59E0B">
              <a:alpha val="30000"/>
            </a:srgbClr>
          </a:solidFill>
          <a:ln w="10160">
            <a:solidFill>
              <a:srgbClr val="F59E0B"/>
            </a:solidFill>
            <a:prstDash val="solid"/>
          </a:ln>
        </p:spPr>
      </p:sp>
      <p:sp>
        <p:nvSpPr>
          <p:cNvPr id="24" name="Text 22"/>
          <p:cNvSpPr/>
          <p:nvPr/>
        </p:nvSpPr>
        <p:spPr>
          <a:xfrm>
            <a:off x="4434840" y="2615184"/>
            <a:ext cx="96012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25" name="Text 23"/>
          <p:cNvSpPr/>
          <p:nvPr/>
        </p:nvSpPr>
        <p:spPr>
          <a:xfrm>
            <a:off x="5440680" y="2615184"/>
            <a:ext cx="3383280" cy="274320"/>
          </a:xfrm>
          <a:prstGeom prst="rect">
            <a:avLst/>
          </a:prstGeom>
          <a:noFill/>
          <a:ln/>
        </p:spPr>
        <p:txBody>
          <a:bodyPr wrap="square" rtlCol="0" anchor="ctr"/>
          <a:lstStyle/>
          <a:p>
            <a:pPr indent="0" marL="0">
              <a:buNone/>
            </a:pPr>
            <a:r>
              <a:rPr lang="en-US" sz="750" dirty="0">
                <a:solidFill>
                  <a:srgbClr val="9CA3AF"/>
                </a:solidFill>
              </a:rPr>
              <a:t>Reliability is critical. Staubli/Liiver partnership.</a:t>
            </a:r>
            <a:endParaRPr lang="en-US" sz="750" dirty="0"/>
          </a:p>
        </p:txBody>
      </p:sp>
      <p:sp>
        <p:nvSpPr>
          <p:cNvPr id="26" name="Shape 24"/>
          <p:cNvSpPr/>
          <p:nvPr/>
        </p:nvSpPr>
        <p:spPr>
          <a:xfrm>
            <a:off x="457200" y="2889504"/>
            <a:ext cx="8412480" cy="274320"/>
          </a:xfrm>
          <a:prstGeom prst="rect">
            <a:avLst/>
          </a:prstGeom>
          <a:solidFill>
            <a:srgbClr val="111827"/>
          </a:solidFill>
          <a:ln w="3810">
            <a:solidFill>
              <a:srgbClr val="1E293B"/>
            </a:solidFill>
            <a:prstDash val="solid"/>
          </a:ln>
        </p:spPr>
      </p:sp>
      <p:sp>
        <p:nvSpPr>
          <p:cNvPr id="27" name="Text 25"/>
          <p:cNvSpPr/>
          <p:nvPr/>
        </p:nvSpPr>
        <p:spPr>
          <a:xfrm>
            <a:off x="502920" y="2889504"/>
            <a:ext cx="3017520" cy="274320"/>
          </a:xfrm>
          <a:prstGeom prst="rect">
            <a:avLst/>
          </a:prstGeom>
          <a:noFill/>
          <a:ln/>
        </p:spPr>
        <p:txBody>
          <a:bodyPr wrap="square" rtlCol="0" anchor="ctr"/>
          <a:lstStyle/>
          <a:p>
            <a:pPr indent="0" marL="0">
              <a:buNone/>
            </a:pPr>
            <a:r>
              <a:rPr lang="en-US" sz="800" dirty="0">
                <a:solidFill>
                  <a:srgbClr val="FFFFFF"/>
                </a:solidFill>
              </a:rPr>
              <a:t>Leak Detection &amp; Reliability</a:t>
            </a:r>
            <a:endParaRPr lang="en-US" sz="800" dirty="0"/>
          </a:p>
        </p:txBody>
      </p:sp>
      <p:sp>
        <p:nvSpPr>
          <p:cNvPr id="28" name="Shape 26"/>
          <p:cNvSpPr/>
          <p:nvPr/>
        </p:nvSpPr>
        <p:spPr>
          <a:xfrm>
            <a:off x="3566160" y="2935224"/>
            <a:ext cx="731520" cy="182880"/>
          </a:xfrm>
          <a:prstGeom prst="rect">
            <a:avLst/>
          </a:prstGeom>
          <a:solidFill>
            <a:srgbClr val="EF4444">
              <a:alpha val="30000"/>
            </a:srgbClr>
          </a:solidFill>
          <a:ln w="10160">
            <a:solidFill>
              <a:srgbClr val="EF4444"/>
            </a:solidFill>
            <a:prstDash val="solid"/>
          </a:ln>
        </p:spPr>
      </p:sp>
      <p:sp>
        <p:nvSpPr>
          <p:cNvPr id="29" name="Text 27"/>
          <p:cNvSpPr/>
          <p:nvPr/>
        </p:nvSpPr>
        <p:spPr>
          <a:xfrm>
            <a:off x="3566160" y="2889504"/>
            <a:ext cx="82296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30" name="Shape 28"/>
          <p:cNvSpPr/>
          <p:nvPr/>
        </p:nvSpPr>
        <p:spPr>
          <a:xfrm>
            <a:off x="4434840" y="2935224"/>
            <a:ext cx="822960" cy="182880"/>
          </a:xfrm>
          <a:prstGeom prst="rect">
            <a:avLst/>
          </a:prstGeom>
          <a:solidFill>
            <a:srgbClr val="EF4444">
              <a:alpha val="30000"/>
            </a:srgbClr>
          </a:solidFill>
          <a:ln w="10160">
            <a:solidFill>
              <a:srgbClr val="EF4444"/>
            </a:solidFill>
            <a:prstDash val="solid"/>
          </a:ln>
        </p:spPr>
      </p:sp>
      <p:sp>
        <p:nvSpPr>
          <p:cNvPr id="31" name="Text 29"/>
          <p:cNvSpPr/>
          <p:nvPr/>
        </p:nvSpPr>
        <p:spPr>
          <a:xfrm>
            <a:off x="4434840" y="2889504"/>
            <a:ext cx="96012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32" name="Text 30"/>
          <p:cNvSpPr/>
          <p:nvPr/>
        </p:nvSpPr>
        <p:spPr>
          <a:xfrm>
            <a:off x="5440680" y="2889504"/>
            <a:ext cx="3383280" cy="274320"/>
          </a:xfrm>
          <a:prstGeom prst="rect">
            <a:avLst/>
          </a:prstGeom>
          <a:noFill/>
          <a:ln/>
        </p:spPr>
        <p:txBody>
          <a:bodyPr wrap="square" rtlCol="0" anchor="ctr"/>
          <a:lstStyle/>
          <a:p>
            <a:pPr indent="0" marL="0">
              <a:buNone/>
            </a:pPr>
            <a:r>
              <a:rPr lang="en-US" sz="750" dirty="0">
                <a:solidFill>
                  <a:srgbClr val="9CA3AF"/>
                </a:solidFill>
              </a:rPr>
              <a:t>CDU failure = server damage. Must be bulletproof.</a:t>
            </a:r>
            <a:endParaRPr lang="en-US" sz="750" dirty="0"/>
          </a:p>
        </p:txBody>
      </p:sp>
      <p:sp>
        <p:nvSpPr>
          <p:cNvPr id="33" name="Shape 31"/>
          <p:cNvSpPr/>
          <p:nvPr/>
        </p:nvSpPr>
        <p:spPr>
          <a:xfrm>
            <a:off x="457200" y="3163824"/>
            <a:ext cx="8412480" cy="274320"/>
          </a:xfrm>
          <a:prstGeom prst="rect">
            <a:avLst/>
          </a:prstGeom>
          <a:solidFill>
            <a:srgbClr val="0D1117"/>
          </a:solidFill>
          <a:ln w="3810">
            <a:solidFill>
              <a:srgbClr val="1E293B"/>
            </a:solidFill>
            <a:prstDash val="solid"/>
          </a:ln>
        </p:spPr>
      </p:sp>
      <p:sp>
        <p:nvSpPr>
          <p:cNvPr id="34" name="Text 32"/>
          <p:cNvSpPr/>
          <p:nvPr/>
        </p:nvSpPr>
        <p:spPr>
          <a:xfrm>
            <a:off x="502920" y="3163824"/>
            <a:ext cx="3017520" cy="274320"/>
          </a:xfrm>
          <a:prstGeom prst="rect">
            <a:avLst/>
          </a:prstGeom>
          <a:noFill/>
          <a:ln/>
        </p:spPr>
        <p:txBody>
          <a:bodyPr wrap="square" rtlCol="0" anchor="ctr"/>
          <a:lstStyle/>
          <a:p>
            <a:pPr indent="0" marL="0">
              <a:buNone/>
            </a:pPr>
            <a:r>
              <a:rPr lang="en-US" sz="800" dirty="0">
                <a:solidFill>
                  <a:srgbClr val="FFFFFF"/>
                </a:solidFill>
              </a:rPr>
              <a:t>Coolant Compatibility</a:t>
            </a:r>
            <a:endParaRPr lang="en-US" sz="800" dirty="0"/>
          </a:p>
        </p:txBody>
      </p:sp>
      <p:sp>
        <p:nvSpPr>
          <p:cNvPr id="35" name="Shape 33"/>
          <p:cNvSpPr/>
          <p:nvPr/>
        </p:nvSpPr>
        <p:spPr>
          <a:xfrm>
            <a:off x="3566160" y="3209544"/>
            <a:ext cx="731520" cy="182880"/>
          </a:xfrm>
          <a:prstGeom prst="rect">
            <a:avLst/>
          </a:prstGeom>
          <a:solidFill>
            <a:srgbClr val="F59E0B">
              <a:alpha val="30000"/>
            </a:srgbClr>
          </a:solidFill>
          <a:ln w="10160">
            <a:solidFill>
              <a:srgbClr val="F59E0B"/>
            </a:solidFill>
            <a:prstDash val="solid"/>
          </a:ln>
        </p:spPr>
      </p:sp>
      <p:sp>
        <p:nvSpPr>
          <p:cNvPr id="36" name="Text 34"/>
          <p:cNvSpPr/>
          <p:nvPr/>
        </p:nvSpPr>
        <p:spPr>
          <a:xfrm>
            <a:off x="3566160" y="3163824"/>
            <a:ext cx="82296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37" name="Shape 35"/>
          <p:cNvSpPr/>
          <p:nvPr/>
        </p:nvSpPr>
        <p:spPr>
          <a:xfrm>
            <a:off x="4434840" y="3209544"/>
            <a:ext cx="822960" cy="182880"/>
          </a:xfrm>
          <a:prstGeom prst="rect">
            <a:avLst/>
          </a:prstGeom>
          <a:solidFill>
            <a:srgbClr val="F59E0B">
              <a:alpha val="30000"/>
            </a:srgbClr>
          </a:solidFill>
          <a:ln w="10160">
            <a:solidFill>
              <a:srgbClr val="F59E0B"/>
            </a:solidFill>
            <a:prstDash val="solid"/>
          </a:ln>
        </p:spPr>
      </p:sp>
      <p:sp>
        <p:nvSpPr>
          <p:cNvPr id="38" name="Text 36"/>
          <p:cNvSpPr/>
          <p:nvPr/>
        </p:nvSpPr>
        <p:spPr>
          <a:xfrm>
            <a:off x="4434840" y="3163824"/>
            <a:ext cx="96012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39" name="Text 37"/>
          <p:cNvSpPr/>
          <p:nvPr/>
        </p:nvSpPr>
        <p:spPr>
          <a:xfrm>
            <a:off x="5440680" y="3163824"/>
            <a:ext cx="3383280" cy="274320"/>
          </a:xfrm>
          <a:prstGeom prst="rect">
            <a:avLst/>
          </a:prstGeom>
          <a:noFill/>
          <a:ln/>
        </p:spPr>
        <p:txBody>
          <a:bodyPr wrap="square" rtlCol="0" anchor="ctr"/>
          <a:lstStyle/>
          <a:p>
            <a:pPr indent="0" marL="0">
              <a:buNone/>
            </a:pPr>
            <a:r>
              <a:rPr lang="en-US" sz="750" dirty="0">
                <a:solidFill>
                  <a:srgbClr val="9CA3AF"/>
                </a:solidFill>
              </a:rPr>
              <a:t>OEM-specific coolant specs. Early engagement needed.</a:t>
            </a:r>
            <a:endParaRPr lang="en-US" sz="750" dirty="0"/>
          </a:p>
        </p:txBody>
      </p:sp>
      <p:sp>
        <p:nvSpPr>
          <p:cNvPr id="40" name="Shape 38"/>
          <p:cNvSpPr/>
          <p:nvPr/>
        </p:nvSpPr>
        <p:spPr>
          <a:xfrm>
            <a:off x="457200" y="3438144"/>
            <a:ext cx="8412480" cy="274320"/>
          </a:xfrm>
          <a:prstGeom prst="rect">
            <a:avLst/>
          </a:prstGeom>
          <a:solidFill>
            <a:srgbClr val="111827"/>
          </a:solidFill>
          <a:ln w="3810">
            <a:solidFill>
              <a:srgbClr val="1E293B"/>
            </a:solidFill>
            <a:prstDash val="solid"/>
          </a:ln>
        </p:spPr>
      </p:sp>
      <p:sp>
        <p:nvSpPr>
          <p:cNvPr id="41" name="Text 39"/>
          <p:cNvSpPr/>
          <p:nvPr/>
        </p:nvSpPr>
        <p:spPr>
          <a:xfrm>
            <a:off x="502920" y="3438144"/>
            <a:ext cx="3017520" cy="274320"/>
          </a:xfrm>
          <a:prstGeom prst="rect">
            <a:avLst/>
          </a:prstGeom>
          <a:noFill/>
          <a:ln/>
        </p:spPr>
        <p:txBody>
          <a:bodyPr wrap="square" rtlCol="0" anchor="ctr"/>
          <a:lstStyle/>
          <a:p>
            <a:pPr indent="0" marL="0">
              <a:buNone/>
            </a:pPr>
            <a:r>
              <a:rPr lang="en-US" sz="800" dirty="0">
                <a:solidFill>
                  <a:srgbClr val="FFFFFF"/>
                </a:solidFill>
              </a:rPr>
              <a:t>System-Level Validation</a:t>
            </a:r>
            <a:endParaRPr lang="en-US" sz="800" dirty="0"/>
          </a:p>
        </p:txBody>
      </p:sp>
      <p:sp>
        <p:nvSpPr>
          <p:cNvPr id="42" name="Shape 40"/>
          <p:cNvSpPr/>
          <p:nvPr/>
        </p:nvSpPr>
        <p:spPr>
          <a:xfrm>
            <a:off x="3566160" y="3483864"/>
            <a:ext cx="731520" cy="182880"/>
          </a:xfrm>
          <a:prstGeom prst="rect">
            <a:avLst/>
          </a:prstGeom>
          <a:solidFill>
            <a:srgbClr val="EF4444">
              <a:alpha val="30000"/>
            </a:srgbClr>
          </a:solidFill>
          <a:ln w="10160">
            <a:solidFill>
              <a:srgbClr val="EF4444"/>
            </a:solidFill>
            <a:prstDash val="solid"/>
          </a:ln>
        </p:spPr>
      </p:sp>
      <p:sp>
        <p:nvSpPr>
          <p:cNvPr id="43" name="Text 41"/>
          <p:cNvSpPr/>
          <p:nvPr/>
        </p:nvSpPr>
        <p:spPr>
          <a:xfrm>
            <a:off x="3566160" y="3438144"/>
            <a:ext cx="82296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44" name="Shape 42"/>
          <p:cNvSpPr/>
          <p:nvPr/>
        </p:nvSpPr>
        <p:spPr>
          <a:xfrm>
            <a:off x="4434840" y="3483864"/>
            <a:ext cx="822960" cy="182880"/>
          </a:xfrm>
          <a:prstGeom prst="rect">
            <a:avLst/>
          </a:prstGeom>
          <a:solidFill>
            <a:srgbClr val="EF4444">
              <a:alpha val="30000"/>
            </a:srgbClr>
          </a:solidFill>
          <a:ln w="10160">
            <a:solidFill>
              <a:srgbClr val="EF4444"/>
            </a:solidFill>
            <a:prstDash val="solid"/>
          </a:ln>
        </p:spPr>
      </p:sp>
      <p:sp>
        <p:nvSpPr>
          <p:cNvPr id="45" name="Text 43"/>
          <p:cNvSpPr/>
          <p:nvPr/>
        </p:nvSpPr>
        <p:spPr>
          <a:xfrm>
            <a:off x="4434840" y="3438144"/>
            <a:ext cx="96012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46" name="Text 44"/>
          <p:cNvSpPr/>
          <p:nvPr/>
        </p:nvSpPr>
        <p:spPr>
          <a:xfrm>
            <a:off x="5440680" y="3438144"/>
            <a:ext cx="3383280" cy="274320"/>
          </a:xfrm>
          <a:prstGeom prst="rect">
            <a:avLst/>
          </a:prstGeom>
          <a:noFill/>
          <a:ln/>
        </p:spPr>
        <p:txBody>
          <a:bodyPr wrap="square" rtlCol="0" anchor="ctr"/>
          <a:lstStyle/>
          <a:p>
            <a:pPr indent="0" marL="0">
              <a:buNone/>
            </a:pPr>
            <a:r>
              <a:rPr lang="en-US" sz="750" dirty="0">
                <a:solidFill>
                  <a:srgbClr val="9CA3AF"/>
                </a:solidFill>
              </a:rPr>
              <a:t>Need rack-level thermal testing capability.</a:t>
            </a:r>
            <a:endParaRPr lang="en-US" sz="750" dirty="0"/>
          </a:p>
        </p:txBody>
      </p:sp>
      <p:sp>
        <p:nvSpPr>
          <p:cNvPr id="47" name="Shape 45"/>
          <p:cNvSpPr/>
          <p:nvPr/>
        </p:nvSpPr>
        <p:spPr>
          <a:xfrm>
            <a:off x="457200" y="3712464"/>
            <a:ext cx="8412480" cy="274320"/>
          </a:xfrm>
          <a:prstGeom prst="rect">
            <a:avLst/>
          </a:prstGeom>
          <a:solidFill>
            <a:srgbClr val="0D1117"/>
          </a:solidFill>
          <a:ln w="3810">
            <a:solidFill>
              <a:srgbClr val="1E293B"/>
            </a:solidFill>
            <a:prstDash val="solid"/>
          </a:ln>
        </p:spPr>
      </p:sp>
      <p:sp>
        <p:nvSpPr>
          <p:cNvPr id="48" name="Text 46"/>
          <p:cNvSpPr/>
          <p:nvPr/>
        </p:nvSpPr>
        <p:spPr>
          <a:xfrm>
            <a:off x="502920" y="3712464"/>
            <a:ext cx="3017520" cy="274320"/>
          </a:xfrm>
          <a:prstGeom prst="rect">
            <a:avLst/>
          </a:prstGeom>
          <a:noFill/>
          <a:ln/>
        </p:spPr>
        <p:txBody>
          <a:bodyPr wrap="square" rtlCol="0" anchor="ctr"/>
          <a:lstStyle/>
          <a:p>
            <a:pPr indent="0" marL="0">
              <a:buNone/>
            </a:pPr>
            <a:r>
              <a:rPr lang="en-US" sz="800" dirty="0">
                <a:solidFill>
                  <a:srgbClr val="FFFFFF"/>
                </a:solidFill>
              </a:rPr>
              <a:t>Thermal Simulation Tools</a:t>
            </a:r>
            <a:endParaRPr lang="en-US" sz="800" dirty="0"/>
          </a:p>
        </p:txBody>
      </p:sp>
      <p:sp>
        <p:nvSpPr>
          <p:cNvPr id="49" name="Shape 47"/>
          <p:cNvSpPr/>
          <p:nvPr/>
        </p:nvSpPr>
        <p:spPr>
          <a:xfrm>
            <a:off x="3566160" y="3758184"/>
            <a:ext cx="731520" cy="182880"/>
          </a:xfrm>
          <a:prstGeom prst="rect">
            <a:avLst/>
          </a:prstGeom>
          <a:solidFill>
            <a:srgbClr val="F59E0B">
              <a:alpha val="30000"/>
            </a:srgbClr>
          </a:solidFill>
          <a:ln w="10160">
            <a:solidFill>
              <a:srgbClr val="F59E0B"/>
            </a:solidFill>
            <a:prstDash val="solid"/>
          </a:ln>
        </p:spPr>
      </p:sp>
      <p:sp>
        <p:nvSpPr>
          <p:cNvPr id="50" name="Text 48"/>
          <p:cNvSpPr/>
          <p:nvPr/>
        </p:nvSpPr>
        <p:spPr>
          <a:xfrm>
            <a:off x="3566160" y="3712464"/>
            <a:ext cx="82296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51" name="Shape 49"/>
          <p:cNvSpPr/>
          <p:nvPr/>
        </p:nvSpPr>
        <p:spPr>
          <a:xfrm>
            <a:off x="4434840" y="3758184"/>
            <a:ext cx="822960" cy="182880"/>
          </a:xfrm>
          <a:prstGeom prst="rect">
            <a:avLst/>
          </a:prstGeom>
          <a:solidFill>
            <a:srgbClr val="F59E0B">
              <a:alpha val="30000"/>
            </a:srgbClr>
          </a:solidFill>
          <a:ln w="10160">
            <a:solidFill>
              <a:srgbClr val="F59E0B"/>
            </a:solidFill>
            <a:prstDash val="solid"/>
          </a:ln>
        </p:spPr>
      </p:sp>
      <p:sp>
        <p:nvSpPr>
          <p:cNvPr id="52" name="Text 50"/>
          <p:cNvSpPr/>
          <p:nvPr/>
        </p:nvSpPr>
        <p:spPr>
          <a:xfrm>
            <a:off x="4434840" y="3712464"/>
            <a:ext cx="96012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53" name="Text 51"/>
          <p:cNvSpPr/>
          <p:nvPr/>
        </p:nvSpPr>
        <p:spPr>
          <a:xfrm>
            <a:off x="5440680" y="3712464"/>
            <a:ext cx="3383280" cy="274320"/>
          </a:xfrm>
          <a:prstGeom prst="rect">
            <a:avLst/>
          </a:prstGeom>
          <a:noFill/>
          <a:ln/>
        </p:spPr>
        <p:txBody>
          <a:bodyPr wrap="square" rtlCol="0" anchor="ctr"/>
          <a:lstStyle/>
          <a:p>
            <a:pPr indent="0" marL="0">
              <a:buNone/>
            </a:pPr>
            <a:r>
              <a:rPr lang="en-US" sz="750" dirty="0">
                <a:solidFill>
                  <a:srgbClr val="9CA3AF"/>
                </a:solidFill>
              </a:rPr>
              <a:t>Chip-to-rack multi-physics simulation required.</a:t>
            </a:r>
            <a:endParaRPr lang="en-US" sz="750" dirty="0"/>
          </a:p>
        </p:txBody>
      </p:sp>
      <p:sp>
        <p:nvSpPr>
          <p:cNvPr id="54" name="Shape 52"/>
          <p:cNvSpPr/>
          <p:nvPr/>
        </p:nvSpPr>
        <p:spPr>
          <a:xfrm>
            <a:off x="457200" y="3986784"/>
            <a:ext cx="8412480" cy="274320"/>
          </a:xfrm>
          <a:prstGeom prst="rect">
            <a:avLst/>
          </a:prstGeom>
          <a:solidFill>
            <a:srgbClr val="111827"/>
          </a:solidFill>
          <a:ln w="3810">
            <a:solidFill>
              <a:srgbClr val="1E293B"/>
            </a:solidFill>
            <a:prstDash val="solid"/>
          </a:ln>
        </p:spPr>
      </p:sp>
      <p:sp>
        <p:nvSpPr>
          <p:cNvPr id="55" name="Text 53"/>
          <p:cNvSpPr/>
          <p:nvPr/>
        </p:nvSpPr>
        <p:spPr>
          <a:xfrm>
            <a:off x="502920" y="3986784"/>
            <a:ext cx="3017520" cy="274320"/>
          </a:xfrm>
          <a:prstGeom prst="rect">
            <a:avLst/>
          </a:prstGeom>
          <a:noFill/>
          <a:ln/>
        </p:spPr>
        <p:txBody>
          <a:bodyPr wrap="square" rtlCol="0" anchor="ctr"/>
          <a:lstStyle/>
          <a:p>
            <a:pPr indent="0" marL="0">
              <a:buNone/>
            </a:pPr>
            <a:r>
              <a:rPr lang="en-US" sz="800" dirty="0">
                <a:solidFill>
                  <a:srgbClr val="FFFFFF"/>
                </a:solidFill>
              </a:rPr>
              <a:t>Customer Qualification Cycle</a:t>
            </a:r>
            <a:endParaRPr lang="en-US" sz="800" dirty="0"/>
          </a:p>
        </p:txBody>
      </p:sp>
      <p:sp>
        <p:nvSpPr>
          <p:cNvPr id="56" name="Shape 54"/>
          <p:cNvSpPr/>
          <p:nvPr/>
        </p:nvSpPr>
        <p:spPr>
          <a:xfrm>
            <a:off x="3566160" y="4032504"/>
            <a:ext cx="731520" cy="182880"/>
          </a:xfrm>
          <a:prstGeom prst="rect">
            <a:avLst/>
          </a:prstGeom>
          <a:solidFill>
            <a:srgbClr val="F59E0B">
              <a:alpha val="30000"/>
            </a:srgbClr>
          </a:solidFill>
          <a:ln w="10160">
            <a:solidFill>
              <a:srgbClr val="F59E0B"/>
            </a:solidFill>
            <a:prstDash val="solid"/>
          </a:ln>
        </p:spPr>
      </p:sp>
      <p:sp>
        <p:nvSpPr>
          <p:cNvPr id="57" name="Text 55"/>
          <p:cNvSpPr/>
          <p:nvPr/>
        </p:nvSpPr>
        <p:spPr>
          <a:xfrm>
            <a:off x="3566160" y="3986784"/>
            <a:ext cx="82296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58" name="Shape 56"/>
          <p:cNvSpPr/>
          <p:nvPr/>
        </p:nvSpPr>
        <p:spPr>
          <a:xfrm>
            <a:off x="4434840" y="4032504"/>
            <a:ext cx="822960" cy="182880"/>
          </a:xfrm>
          <a:prstGeom prst="rect">
            <a:avLst/>
          </a:prstGeom>
          <a:solidFill>
            <a:srgbClr val="EF4444">
              <a:alpha val="30000"/>
            </a:srgbClr>
          </a:solidFill>
          <a:ln w="10160">
            <a:solidFill>
              <a:srgbClr val="EF4444"/>
            </a:solidFill>
            <a:prstDash val="solid"/>
          </a:ln>
        </p:spPr>
      </p:sp>
      <p:sp>
        <p:nvSpPr>
          <p:cNvPr id="59" name="Text 57"/>
          <p:cNvSpPr/>
          <p:nvPr/>
        </p:nvSpPr>
        <p:spPr>
          <a:xfrm>
            <a:off x="4434840" y="3986784"/>
            <a:ext cx="96012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60" name="Text 58"/>
          <p:cNvSpPr/>
          <p:nvPr/>
        </p:nvSpPr>
        <p:spPr>
          <a:xfrm>
            <a:off x="5440680" y="3986784"/>
            <a:ext cx="3383280" cy="274320"/>
          </a:xfrm>
          <a:prstGeom prst="rect">
            <a:avLst/>
          </a:prstGeom>
          <a:noFill/>
          <a:ln/>
        </p:spPr>
        <p:txBody>
          <a:bodyPr wrap="square" rtlCol="0" anchor="ctr"/>
          <a:lstStyle/>
          <a:p>
            <a:pPr indent="0" marL="0">
              <a:buNone/>
            </a:pPr>
            <a:r>
              <a:rPr lang="en-US" sz="750" dirty="0">
                <a:solidFill>
                  <a:srgbClr val="9CA3AF"/>
                </a:solidFill>
              </a:rPr>
              <a:t>12-18 month design-in cycles. Start NOW.</a:t>
            </a:r>
            <a:endParaRPr lang="en-US" sz="750" dirty="0"/>
          </a:p>
        </p:txBody>
      </p:sp>
      <p:sp>
        <p:nvSpPr>
          <p:cNvPr id="61" name="Shape 59"/>
          <p:cNvSpPr/>
          <p:nvPr/>
        </p:nvSpPr>
        <p:spPr>
          <a:xfrm>
            <a:off x="457200" y="4261104"/>
            <a:ext cx="8412480" cy="274320"/>
          </a:xfrm>
          <a:prstGeom prst="rect">
            <a:avLst/>
          </a:prstGeom>
          <a:solidFill>
            <a:srgbClr val="0D1117"/>
          </a:solidFill>
          <a:ln w="3810">
            <a:solidFill>
              <a:srgbClr val="1E293B"/>
            </a:solidFill>
            <a:prstDash val="solid"/>
          </a:ln>
        </p:spPr>
      </p:sp>
      <p:sp>
        <p:nvSpPr>
          <p:cNvPr id="62" name="Text 60"/>
          <p:cNvSpPr/>
          <p:nvPr/>
        </p:nvSpPr>
        <p:spPr>
          <a:xfrm>
            <a:off x="502920" y="4261104"/>
            <a:ext cx="3017520" cy="274320"/>
          </a:xfrm>
          <a:prstGeom prst="rect">
            <a:avLst/>
          </a:prstGeom>
          <a:noFill/>
          <a:ln/>
        </p:spPr>
        <p:txBody>
          <a:bodyPr wrap="square" rtlCol="0" anchor="ctr"/>
          <a:lstStyle/>
          <a:p>
            <a:pPr indent="0" marL="0">
              <a:buNone/>
            </a:pPr>
            <a:r>
              <a:rPr lang="en-US" sz="800" dirty="0">
                <a:solidFill>
                  <a:srgbClr val="FFFFFF"/>
                </a:solidFill>
              </a:rPr>
              <a:t>Price Competition (China)</a:t>
            </a:r>
            <a:endParaRPr lang="en-US" sz="800" dirty="0"/>
          </a:p>
        </p:txBody>
      </p:sp>
      <p:sp>
        <p:nvSpPr>
          <p:cNvPr id="63" name="Shape 61"/>
          <p:cNvSpPr/>
          <p:nvPr/>
        </p:nvSpPr>
        <p:spPr>
          <a:xfrm>
            <a:off x="3566160" y="4306824"/>
            <a:ext cx="731520" cy="182880"/>
          </a:xfrm>
          <a:prstGeom prst="rect">
            <a:avLst/>
          </a:prstGeom>
          <a:solidFill>
            <a:srgbClr val="F59E0B">
              <a:alpha val="30000"/>
            </a:srgbClr>
          </a:solidFill>
          <a:ln w="10160">
            <a:solidFill>
              <a:srgbClr val="F59E0B"/>
            </a:solidFill>
            <a:prstDash val="solid"/>
          </a:ln>
        </p:spPr>
      </p:sp>
      <p:sp>
        <p:nvSpPr>
          <p:cNvPr id="64" name="Text 62"/>
          <p:cNvSpPr/>
          <p:nvPr/>
        </p:nvSpPr>
        <p:spPr>
          <a:xfrm>
            <a:off x="3566160" y="4261104"/>
            <a:ext cx="82296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65" name="Shape 63"/>
          <p:cNvSpPr/>
          <p:nvPr/>
        </p:nvSpPr>
        <p:spPr>
          <a:xfrm>
            <a:off x="4434840" y="4306824"/>
            <a:ext cx="822960" cy="182880"/>
          </a:xfrm>
          <a:prstGeom prst="rect">
            <a:avLst/>
          </a:prstGeom>
          <a:solidFill>
            <a:srgbClr val="F59E0B">
              <a:alpha val="30000"/>
            </a:srgbClr>
          </a:solidFill>
          <a:ln w="10160">
            <a:solidFill>
              <a:srgbClr val="F59E0B"/>
            </a:solidFill>
            <a:prstDash val="solid"/>
          </a:ln>
        </p:spPr>
      </p:sp>
      <p:sp>
        <p:nvSpPr>
          <p:cNvPr id="66" name="Text 64"/>
          <p:cNvSpPr/>
          <p:nvPr/>
        </p:nvSpPr>
        <p:spPr>
          <a:xfrm>
            <a:off x="4434840" y="4261104"/>
            <a:ext cx="96012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67" name="Text 65"/>
          <p:cNvSpPr/>
          <p:nvPr/>
        </p:nvSpPr>
        <p:spPr>
          <a:xfrm>
            <a:off x="5440680" y="4261104"/>
            <a:ext cx="3383280" cy="274320"/>
          </a:xfrm>
          <a:prstGeom prst="rect">
            <a:avLst/>
          </a:prstGeom>
          <a:noFill/>
          <a:ln/>
        </p:spPr>
        <p:txBody>
          <a:bodyPr wrap="square" rtlCol="0" anchor="ctr"/>
          <a:lstStyle/>
          <a:p>
            <a:pPr indent="0" marL="0">
              <a:buNone/>
            </a:pPr>
            <a:r>
              <a:rPr lang="en-US" sz="750" dirty="0">
                <a:solidFill>
                  <a:srgbClr val="9CA3AF"/>
                </a:solidFill>
              </a:rPr>
              <a:t>Cost-down pressure on cold plates. Differentiate on quality.</a:t>
            </a:r>
            <a:endParaRPr lang="en-US" sz="750" dirty="0"/>
          </a:p>
        </p:txBody>
      </p:sp>
      <p:sp>
        <p:nvSpPr>
          <p:cNvPr id="68" name="Shape 66"/>
          <p:cNvSpPr/>
          <p:nvPr/>
        </p:nvSpPr>
        <p:spPr>
          <a:xfrm>
            <a:off x="457200" y="4535424"/>
            <a:ext cx="8412480" cy="274320"/>
          </a:xfrm>
          <a:prstGeom prst="rect">
            <a:avLst/>
          </a:prstGeom>
          <a:solidFill>
            <a:srgbClr val="111827"/>
          </a:solidFill>
          <a:ln w="3810">
            <a:solidFill>
              <a:srgbClr val="1E293B"/>
            </a:solidFill>
            <a:prstDash val="solid"/>
          </a:ln>
        </p:spPr>
      </p:sp>
      <p:sp>
        <p:nvSpPr>
          <p:cNvPr id="69" name="Text 67"/>
          <p:cNvSpPr/>
          <p:nvPr/>
        </p:nvSpPr>
        <p:spPr>
          <a:xfrm>
            <a:off x="502920" y="4535424"/>
            <a:ext cx="3017520" cy="274320"/>
          </a:xfrm>
          <a:prstGeom prst="rect">
            <a:avLst/>
          </a:prstGeom>
          <a:noFill/>
          <a:ln/>
        </p:spPr>
        <p:txBody>
          <a:bodyPr wrap="square" rtlCol="0" anchor="ctr"/>
          <a:lstStyle/>
          <a:p>
            <a:pPr indent="0" marL="0">
              <a:buNone/>
            </a:pPr>
            <a:r>
              <a:rPr lang="en-US" sz="800" dirty="0">
                <a:solidFill>
                  <a:srgbClr val="FFFFFF"/>
                </a:solidFill>
              </a:rPr>
              <a:t>Integration Responsibility</a:t>
            </a:r>
            <a:endParaRPr lang="en-US" sz="800" dirty="0"/>
          </a:p>
        </p:txBody>
      </p:sp>
      <p:sp>
        <p:nvSpPr>
          <p:cNvPr id="70" name="Shape 68"/>
          <p:cNvSpPr/>
          <p:nvPr/>
        </p:nvSpPr>
        <p:spPr>
          <a:xfrm>
            <a:off x="3566160" y="4581144"/>
            <a:ext cx="731520" cy="182880"/>
          </a:xfrm>
          <a:prstGeom prst="rect">
            <a:avLst/>
          </a:prstGeom>
          <a:solidFill>
            <a:srgbClr val="EF4444">
              <a:alpha val="30000"/>
            </a:srgbClr>
          </a:solidFill>
          <a:ln w="10160">
            <a:solidFill>
              <a:srgbClr val="EF4444"/>
            </a:solidFill>
            <a:prstDash val="solid"/>
          </a:ln>
        </p:spPr>
      </p:sp>
      <p:sp>
        <p:nvSpPr>
          <p:cNvPr id="71" name="Text 69"/>
          <p:cNvSpPr/>
          <p:nvPr/>
        </p:nvSpPr>
        <p:spPr>
          <a:xfrm>
            <a:off x="3566160" y="4535424"/>
            <a:ext cx="822960" cy="274320"/>
          </a:xfrm>
          <a:prstGeom prst="rect">
            <a:avLst/>
          </a:prstGeom>
          <a:noFill/>
          <a:ln/>
        </p:spPr>
        <p:txBody>
          <a:bodyPr wrap="square" rtlCol="0" anchor="ctr"/>
          <a:lstStyle/>
          <a:p>
            <a:pPr algn="ctr" indent="0" marL="0">
              <a:buNone/>
            </a:pPr>
            <a:r>
              <a:rPr lang="en-US" sz="750" b="1" dirty="0">
                <a:solidFill>
                  <a:srgbClr val="EF4444"/>
                </a:solidFill>
              </a:rPr>
              <a:t>HIGH</a:t>
            </a:r>
            <a:endParaRPr lang="en-US" sz="750" dirty="0"/>
          </a:p>
        </p:txBody>
      </p:sp>
      <p:sp>
        <p:nvSpPr>
          <p:cNvPr id="72" name="Shape 70"/>
          <p:cNvSpPr/>
          <p:nvPr/>
        </p:nvSpPr>
        <p:spPr>
          <a:xfrm>
            <a:off x="4434840" y="4581144"/>
            <a:ext cx="822960" cy="182880"/>
          </a:xfrm>
          <a:prstGeom prst="rect">
            <a:avLst/>
          </a:prstGeom>
          <a:solidFill>
            <a:srgbClr val="F59E0B">
              <a:alpha val="30000"/>
            </a:srgbClr>
          </a:solidFill>
          <a:ln w="10160">
            <a:solidFill>
              <a:srgbClr val="F59E0B"/>
            </a:solidFill>
            <a:prstDash val="solid"/>
          </a:ln>
        </p:spPr>
      </p:sp>
      <p:sp>
        <p:nvSpPr>
          <p:cNvPr id="73" name="Text 71"/>
          <p:cNvSpPr/>
          <p:nvPr/>
        </p:nvSpPr>
        <p:spPr>
          <a:xfrm>
            <a:off x="4434840" y="4535424"/>
            <a:ext cx="96012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74" name="Text 72"/>
          <p:cNvSpPr/>
          <p:nvPr/>
        </p:nvSpPr>
        <p:spPr>
          <a:xfrm>
            <a:off x="5440680" y="4535424"/>
            <a:ext cx="3383280" cy="274320"/>
          </a:xfrm>
          <a:prstGeom prst="rect">
            <a:avLst/>
          </a:prstGeom>
          <a:noFill/>
          <a:ln/>
        </p:spPr>
        <p:txBody>
          <a:bodyPr wrap="square" rtlCol="0" anchor="ctr"/>
          <a:lstStyle/>
          <a:p>
            <a:pPr indent="0" marL="0">
              <a:buNone/>
            </a:pPr>
            <a:r>
              <a:rPr lang="en-US" sz="750" dirty="0">
                <a:solidFill>
                  <a:srgbClr val="9CA3AF"/>
                </a:solidFill>
              </a:rPr>
              <a:t>Warranty boundary unclear in system selling.</a:t>
            </a:r>
            <a:endParaRPr lang="en-US" sz="750" dirty="0"/>
          </a:p>
        </p:txBody>
      </p:sp>
      <p:sp>
        <p:nvSpPr>
          <p:cNvPr id="75" name="Shape 73"/>
          <p:cNvSpPr/>
          <p:nvPr/>
        </p:nvSpPr>
        <p:spPr>
          <a:xfrm>
            <a:off x="457200" y="4809744"/>
            <a:ext cx="8412480" cy="274320"/>
          </a:xfrm>
          <a:prstGeom prst="rect">
            <a:avLst/>
          </a:prstGeom>
          <a:solidFill>
            <a:srgbClr val="0D1117"/>
          </a:solidFill>
          <a:ln w="3810">
            <a:solidFill>
              <a:srgbClr val="1E293B"/>
            </a:solidFill>
            <a:prstDash val="solid"/>
          </a:ln>
        </p:spPr>
      </p:sp>
      <p:sp>
        <p:nvSpPr>
          <p:cNvPr id="76" name="Text 74"/>
          <p:cNvSpPr/>
          <p:nvPr/>
        </p:nvSpPr>
        <p:spPr>
          <a:xfrm>
            <a:off x="502920" y="4809744"/>
            <a:ext cx="3017520" cy="274320"/>
          </a:xfrm>
          <a:prstGeom prst="rect">
            <a:avLst/>
          </a:prstGeom>
          <a:noFill/>
          <a:ln/>
        </p:spPr>
        <p:txBody>
          <a:bodyPr wrap="square" rtlCol="0" anchor="ctr"/>
          <a:lstStyle/>
          <a:p>
            <a:pPr indent="0" marL="0">
              <a:buNone/>
            </a:pPr>
            <a:r>
              <a:rPr lang="en-US" sz="800" dirty="0">
                <a:solidFill>
                  <a:srgbClr val="FFFFFF"/>
                </a:solidFill>
              </a:rPr>
              <a:t>Global Support Network</a:t>
            </a:r>
            <a:endParaRPr lang="en-US" sz="800" dirty="0"/>
          </a:p>
        </p:txBody>
      </p:sp>
      <p:sp>
        <p:nvSpPr>
          <p:cNvPr id="77" name="Shape 75"/>
          <p:cNvSpPr/>
          <p:nvPr/>
        </p:nvSpPr>
        <p:spPr>
          <a:xfrm>
            <a:off x="3566160" y="4855464"/>
            <a:ext cx="731520" cy="182880"/>
          </a:xfrm>
          <a:prstGeom prst="rect">
            <a:avLst/>
          </a:prstGeom>
          <a:solidFill>
            <a:srgbClr val="F59E0B">
              <a:alpha val="30000"/>
            </a:srgbClr>
          </a:solidFill>
          <a:ln w="10160">
            <a:solidFill>
              <a:srgbClr val="F59E0B"/>
            </a:solidFill>
            <a:prstDash val="solid"/>
          </a:ln>
        </p:spPr>
      </p:sp>
      <p:sp>
        <p:nvSpPr>
          <p:cNvPr id="78" name="Text 76"/>
          <p:cNvSpPr/>
          <p:nvPr/>
        </p:nvSpPr>
        <p:spPr>
          <a:xfrm>
            <a:off x="3566160" y="4809744"/>
            <a:ext cx="822960" cy="274320"/>
          </a:xfrm>
          <a:prstGeom prst="rect">
            <a:avLst/>
          </a:prstGeom>
          <a:noFill/>
          <a:ln/>
        </p:spPr>
        <p:txBody>
          <a:bodyPr wrap="square" rtlCol="0" anchor="ctr"/>
          <a:lstStyle/>
          <a:p>
            <a:pPr algn="ctr" indent="0" marL="0">
              <a:buNone/>
            </a:pPr>
            <a:r>
              <a:rPr lang="en-US" sz="750" b="1" dirty="0">
                <a:solidFill>
                  <a:srgbClr val="F59E0B"/>
                </a:solidFill>
              </a:rPr>
              <a:t>MED</a:t>
            </a:r>
            <a:endParaRPr lang="en-US" sz="750" dirty="0"/>
          </a:p>
        </p:txBody>
      </p:sp>
      <p:sp>
        <p:nvSpPr>
          <p:cNvPr id="79" name="Shape 77"/>
          <p:cNvSpPr/>
          <p:nvPr/>
        </p:nvSpPr>
        <p:spPr>
          <a:xfrm>
            <a:off x="4434840" y="4855464"/>
            <a:ext cx="822960" cy="182880"/>
          </a:xfrm>
          <a:prstGeom prst="rect">
            <a:avLst/>
          </a:prstGeom>
          <a:solidFill>
            <a:srgbClr val="00E676">
              <a:alpha val="30000"/>
            </a:srgbClr>
          </a:solidFill>
          <a:ln w="10160">
            <a:solidFill>
              <a:srgbClr val="00E676"/>
            </a:solidFill>
            <a:prstDash val="solid"/>
          </a:ln>
        </p:spPr>
      </p:sp>
      <p:sp>
        <p:nvSpPr>
          <p:cNvPr id="80" name="Text 78"/>
          <p:cNvSpPr/>
          <p:nvPr/>
        </p:nvSpPr>
        <p:spPr>
          <a:xfrm>
            <a:off x="4434840" y="4809744"/>
            <a:ext cx="960120" cy="274320"/>
          </a:xfrm>
          <a:prstGeom prst="rect">
            <a:avLst/>
          </a:prstGeom>
          <a:noFill/>
          <a:ln/>
        </p:spPr>
        <p:txBody>
          <a:bodyPr wrap="square" rtlCol="0" anchor="ctr"/>
          <a:lstStyle/>
          <a:p>
            <a:pPr algn="ctr" indent="0" marL="0">
              <a:buNone/>
            </a:pPr>
            <a:r>
              <a:rPr lang="en-US" sz="750" b="1" dirty="0">
                <a:solidFill>
                  <a:srgbClr val="00E676"/>
                </a:solidFill>
              </a:rPr>
              <a:t>LOW</a:t>
            </a:r>
            <a:endParaRPr lang="en-US" sz="750" dirty="0"/>
          </a:p>
        </p:txBody>
      </p:sp>
      <p:sp>
        <p:nvSpPr>
          <p:cNvPr id="81" name="Text 79"/>
          <p:cNvSpPr/>
          <p:nvPr/>
        </p:nvSpPr>
        <p:spPr>
          <a:xfrm>
            <a:off x="5440680" y="4809744"/>
            <a:ext cx="3383280" cy="274320"/>
          </a:xfrm>
          <a:prstGeom prst="rect">
            <a:avLst/>
          </a:prstGeom>
          <a:noFill/>
          <a:ln/>
        </p:spPr>
        <p:txBody>
          <a:bodyPr wrap="square" rtlCol="0" anchor="ctr"/>
          <a:lstStyle/>
          <a:p>
            <a:pPr indent="0" marL="0">
              <a:buNone/>
            </a:pPr>
            <a:r>
              <a:rPr lang="en-US" sz="750" dirty="0">
                <a:solidFill>
                  <a:srgbClr val="9CA3AF"/>
                </a:solidFill>
              </a:rPr>
              <a:t>Needed for Tier-1 hyperscaler contracts.</a:t>
            </a:r>
            <a:endParaRPr lang="en-US" sz="750" dirty="0"/>
          </a:p>
        </p:txBody>
      </p:sp>
      <p:sp>
        <p:nvSpPr>
          <p:cNvPr id="82" name="Shape 80"/>
          <p:cNvSpPr/>
          <p:nvPr/>
        </p:nvSpPr>
        <p:spPr>
          <a:xfrm>
            <a:off x="457200" y="5102352"/>
            <a:ext cx="8412480" cy="45720"/>
          </a:xfrm>
          <a:prstGeom prst="rect">
            <a:avLst/>
          </a:prstGeom>
          <a:solidFill>
            <a:srgbClr val="EF4444"/>
          </a:solidFill>
          <a:ln/>
        </p:spPr>
      </p:sp>
      <p:sp>
        <p:nvSpPr>
          <p:cNvPr id="83" name="Text 81"/>
          <p:cNvSpPr/>
          <p:nvPr/>
        </p:nvSpPr>
        <p:spPr>
          <a:xfrm>
            <a:off x="457200" y="4937760"/>
            <a:ext cx="8412480" cy="182880"/>
          </a:xfrm>
          <a:prstGeom prst="rect">
            <a:avLst/>
          </a:prstGeom>
          <a:noFill/>
          <a:ln/>
        </p:spPr>
        <p:txBody>
          <a:bodyPr wrap="square" rtlCol="0" anchor="ctr"/>
          <a:lstStyle/>
          <a:p>
            <a:pPr indent="0" marL="0">
              <a:buNone/>
            </a:pPr>
            <a:r>
              <a:rPr lang="en-US" sz="800" b="1" dirty="0">
                <a:solidFill>
                  <a:srgbClr val="EF4444"/>
                </a:solidFill>
              </a:rPr>
              <a:t>BOTTOM LINE: Highest priority risks are CDU capability, leak reliability, and customer qualification cycle. All three must be addressed in Phase 1 (0-3 months).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00E676"/>
          </a:solidFill>
          <a:ln w="12700">
            <a:solidFill>
              <a:srgbClr val="00E676"/>
            </a:solidFill>
            <a:prstDash val="solid"/>
          </a:ln>
        </p:spPr>
      </p:sp>
      <p:sp>
        <p:nvSpPr>
          <p:cNvPr id="3" name="Text 1"/>
          <p:cNvSpPr/>
          <p:nvPr/>
        </p:nvSpPr>
        <p:spPr>
          <a:xfrm>
            <a:off x="8412480" y="91440"/>
            <a:ext cx="548640" cy="347472"/>
          </a:xfrm>
          <a:prstGeom prst="rect">
            <a:avLst/>
          </a:prstGeom>
          <a:noFill/>
          <a:ln/>
        </p:spPr>
        <p:txBody>
          <a:bodyPr wrap="square" rtlCol="0" anchor="ctr"/>
          <a:lstStyle/>
          <a:p>
            <a:pPr algn="r" indent="0" marL="0">
              <a:buNone/>
            </a:pPr>
            <a:r>
              <a:rPr lang="en-US" sz="1100" dirty="0">
                <a:solidFill>
                  <a:srgbClr val="6B7280"/>
                </a:solidFill>
              </a:rPr>
              <a:t>10</a:t>
            </a:r>
            <a:endParaRPr lang="en-US" sz="1100" dirty="0"/>
          </a:p>
        </p:txBody>
      </p:sp>
      <p:sp>
        <p:nvSpPr>
          <p:cNvPr id="4" name="Text 2"/>
          <p:cNvSpPr/>
          <p:nvPr/>
        </p:nvSpPr>
        <p:spPr>
          <a:xfrm>
            <a:off x="457200" y="137160"/>
            <a:ext cx="7772400" cy="777240"/>
          </a:xfrm>
          <a:prstGeom prst="rect">
            <a:avLst/>
          </a:prstGeom>
          <a:noFill/>
          <a:ln/>
        </p:spPr>
        <p:txBody>
          <a:bodyPr wrap="square" rtlCol="0" anchor="ctr"/>
          <a:lstStyle/>
          <a:p>
            <a:pPr indent="0" marL="0">
              <a:buNone/>
            </a:pPr>
            <a:r>
              <a:rPr lang="en-US" sz="2100" b="1" dirty="0">
                <a:solidFill>
                  <a:srgbClr val="FFFFFF"/>
                </a:solidFill>
              </a:rPr>
              <a:t>Strategic Roadmap &amp; Recommended Actions</a:t>
            </a:r>
            <a:endParaRPr lang="en-US" sz="2100" dirty="0"/>
          </a:p>
          <a:p>
            <a:pPr indent="0" marL="0">
              <a:buNone/>
            </a:pPr>
            <a:r>
              <a:rPr lang="en-US" sz="2100" b="1" dirty="0">
                <a:solidFill>
                  <a:srgbClr val="FFFFFF"/>
                </a:solidFill>
              </a:rPr>
              <a:t>(6–18 Months)</a:t>
            </a:r>
            <a:endParaRPr lang="en-US" sz="2100" dirty="0"/>
          </a:p>
        </p:txBody>
      </p:sp>
      <p:sp>
        <p:nvSpPr>
          <p:cNvPr id="5" name="Shape 3"/>
          <p:cNvSpPr/>
          <p:nvPr/>
        </p:nvSpPr>
        <p:spPr>
          <a:xfrm>
            <a:off x="457200" y="1325880"/>
            <a:ext cx="8229600" cy="566928"/>
          </a:xfrm>
          <a:prstGeom prst="rect">
            <a:avLst/>
          </a:prstGeom>
          <a:solidFill>
            <a:srgbClr val="00E676">
              <a:alpha val="12000"/>
            </a:srgbClr>
          </a:solidFill>
          <a:ln w="12700">
            <a:solidFill>
              <a:srgbClr val="00E676"/>
            </a:solidFill>
            <a:prstDash val="solid"/>
          </a:ln>
        </p:spPr>
      </p:sp>
      <p:sp>
        <p:nvSpPr>
          <p:cNvPr id="6" name="Text 4"/>
          <p:cNvSpPr/>
          <p:nvPr/>
        </p:nvSpPr>
        <p:spPr>
          <a:xfrm>
            <a:off x="548640" y="1353312"/>
            <a:ext cx="8046720" cy="502920"/>
          </a:xfrm>
          <a:prstGeom prst="rect">
            <a:avLst/>
          </a:prstGeom>
          <a:noFill/>
          <a:ln/>
        </p:spPr>
        <p:txBody>
          <a:bodyPr wrap="square" rtlCol="0" anchor="ctr"/>
          <a:lstStyle/>
          <a:p>
            <a:pPr indent="0" marL="0">
              <a:buNone/>
            </a:pPr>
            <a:r>
              <a:rPr lang="en-US" sz="1050" i="1" dirty="0">
                <a:solidFill>
                  <a:srgbClr val="00E676"/>
                </a:solidFill>
              </a:rPr>
              <a:t>Execute a phased roadmap: Component expansion → Module development → System integration → Solution business</a:t>
            </a:r>
            <a:endParaRPr lang="en-US" sz="1050" dirty="0"/>
          </a:p>
        </p:txBody>
      </p:sp>
      <p:sp>
        <p:nvSpPr>
          <p:cNvPr id="7" name="Shape 5"/>
          <p:cNvSpPr/>
          <p:nvPr/>
        </p:nvSpPr>
        <p:spPr>
          <a:xfrm>
            <a:off x="457200" y="1993392"/>
            <a:ext cx="8412480" cy="3063240"/>
          </a:xfrm>
          <a:prstGeom prst="rect">
            <a:avLst/>
          </a:prstGeom>
          <a:solidFill>
            <a:srgbClr val="111827"/>
          </a:solidFill>
          <a:ln w="12700">
            <a:solidFill>
              <a:srgbClr val="1E293B"/>
            </a:solidFill>
            <a:prstDash val="solid"/>
          </a:ln>
        </p:spPr>
      </p:sp>
      <p:pic>
        <p:nvPicPr>
          <p:cNvPr id="8" name="Image 0" descr="preencoded.png">    </p:cNvPr>
          <p:cNvPicPr>
            <a:picLocks noChangeAspect="1"/>
          </p:cNvPicPr>
          <p:nvPr/>
        </p:nvPicPr>
        <p:blipFill>
          <a:blip r:embed="rId1"/>
          <a:srcRect l="0" r="0" t="0" b="0"/>
          <a:stretch/>
        </p:blipFill>
        <p:spPr>
          <a:xfrm>
            <a:off x="502920" y="2011680"/>
            <a:ext cx="8321040" cy="3017520"/>
          </a:xfrm>
          <a:prstGeom prst="rect">
            <a:avLst/>
          </a:prstGeom>
        </p:spPr>
      </p:pic>
      <p:sp>
        <p:nvSpPr>
          <p:cNvPr id="9" name="Shape 6"/>
          <p:cNvSpPr/>
          <p:nvPr/>
        </p:nvSpPr>
        <p:spPr>
          <a:xfrm>
            <a:off x="457200" y="4663440"/>
            <a:ext cx="2011680" cy="73152"/>
          </a:xfrm>
          <a:prstGeom prst="rect">
            <a:avLst/>
          </a:prstGeom>
          <a:solidFill>
            <a:srgbClr val="0891B2"/>
          </a:solidFill>
          <a:ln/>
        </p:spPr>
      </p:sp>
      <p:sp>
        <p:nvSpPr>
          <p:cNvPr id="10" name="Text 7"/>
          <p:cNvSpPr/>
          <p:nvPr/>
        </p:nvSpPr>
        <p:spPr>
          <a:xfrm>
            <a:off x="457200" y="4754880"/>
            <a:ext cx="2011680" cy="347472"/>
          </a:xfrm>
          <a:prstGeom prst="rect">
            <a:avLst/>
          </a:prstGeom>
          <a:noFill/>
          <a:ln/>
        </p:spPr>
        <p:txBody>
          <a:bodyPr wrap="square" rtlCol="0" anchor="ctr"/>
          <a:lstStyle/>
          <a:p>
            <a:pPr indent="0" marL="0">
              <a:buNone/>
            </a:pPr>
            <a:r>
              <a:rPr lang="en-US" sz="850" b="1" dirty="0">
                <a:solidFill>
                  <a:srgbClr val="0891B2"/>
                </a:solidFill>
              </a:rPr>
              <a:t>Phase 1</a:t>
            </a:r>
            <a:endParaRPr lang="en-US" sz="850" dirty="0"/>
          </a:p>
          <a:p>
            <a:pPr indent="0" marL="0">
              <a:buNone/>
            </a:pPr>
            <a:r>
              <a:rPr lang="en-US" sz="850" b="1" dirty="0">
                <a:solidFill>
                  <a:srgbClr val="0891B2"/>
                </a:solidFill>
              </a:rPr>
              <a:t>0–3 mo</a:t>
            </a:r>
            <a:endParaRPr lang="en-US" sz="850" dirty="0"/>
          </a:p>
        </p:txBody>
      </p:sp>
      <p:sp>
        <p:nvSpPr>
          <p:cNvPr id="11" name="Shape 8"/>
          <p:cNvSpPr/>
          <p:nvPr/>
        </p:nvSpPr>
        <p:spPr>
          <a:xfrm>
            <a:off x="2606040" y="4663440"/>
            <a:ext cx="2011680" cy="73152"/>
          </a:xfrm>
          <a:prstGeom prst="rect">
            <a:avLst/>
          </a:prstGeom>
          <a:solidFill>
            <a:srgbClr val="00E5FF"/>
          </a:solidFill>
          <a:ln/>
        </p:spPr>
      </p:sp>
      <p:sp>
        <p:nvSpPr>
          <p:cNvPr id="12" name="Text 9"/>
          <p:cNvSpPr/>
          <p:nvPr/>
        </p:nvSpPr>
        <p:spPr>
          <a:xfrm>
            <a:off x="2606040" y="4754880"/>
            <a:ext cx="2011680" cy="347472"/>
          </a:xfrm>
          <a:prstGeom prst="rect">
            <a:avLst/>
          </a:prstGeom>
          <a:noFill/>
          <a:ln/>
        </p:spPr>
        <p:txBody>
          <a:bodyPr wrap="square" rtlCol="0" anchor="ctr"/>
          <a:lstStyle/>
          <a:p>
            <a:pPr indent="0" marL="0">
              <a:buNone/>
            </a:pPr>
            <a:r>
              <a:rPr lang="en-US" sz="850" b="1" dirty="0">
                <a:solidFill>
                  <a:srgbClr val="00E5FF"/>
                </a:solidFill>
              </a:rPr>
              <a:t>Phase 2</a:t>
            </a:r>
            <a:endParaRPr lang="en-US" sz="850" dirty="0"/>
          </a:p>
          <a:p>
            <a:pPr indent="0" marL="0">
              <a:buNone/>
            </a:pPr>
            <a:r>
              <a:rPr lang="en-US" sz="850" b="1" dirty="0">
                <a:solidFill>
                  <a:srgbClr val="00E5FF"/>
                </a:solidFill>
              </a:rPr>
              <a:t>3–6 mo</a:t>
            </a:r>
            <a:endParaRPr lang="en-US" sz="850" dirty="0"/>
          </a:p>
        </p:txBody>
      </p:sp>
      <p:sp>
        <p:nvSpPr>
          <p:cNvPr id="13" name="Shape 10"/>
          <p:cNvSpPr/>
          <p:nvPr/>
        </p:nvSpPr>
        <p:spPr>
          <a:xfrm>
            <a:off x="4754880" y="4663440"/>
            <a:ext cx="2011680" cy="73152"/>
          </a:xfrm>
          <a:prstGeom prst="rect">
            <a:avLst/>
          </a:prstGeom>
          <a:solidFill>
            <a:srgbClr val="00E676"/>
          </a:solidFill>
          <a:ln/>
        </p:spPr>
      </p:sp>
      <p:sp>
        <p:nvSpPr>
          <p:cNvPr id="14" name="Text 11"/>
          <p:cNvSpPr/>
          <p:nvPr/>
        </p:nvSpPr>
        <p:spPr>
          <a:xfrm>
            <a:off x="4754880" y="4754880"/>
            <a:ext cx="2011680" cy="347472"/>
          </a:xfrm>
          <a:prstGeom prst="rect">
            <a:avLst/>
          </a:prstGeom>
          <a:noFill/>
          <a:ln/>
        </p:spPr>
        <p:txBody>
          <a:bodyPr wrap="square" rtlCol="0" anchor="ctr"/>
          <a:lstStyle/>
          <a:p>
            <a:pPr indent="0" marL="0">
              <a:buNone/>
            </a:pPr>
            <a:r>
              <a:rPr lang="en-US" sz="850" b="1" dirty="0">
                <a:solidFill>
                  <a:srgbClr val="00E676"/>
                </a:solidFill>
              </a:rPr>
              <a:t>Phase 3</a:t>
            </a:r>
            <a:endParaRPr lang="en-US" sz="850" dirty="0"/>
          </a:p>
          <a:p>
            <a:pPr indent="0" marL="0">
              <a:buNone/>
            </a:pPr>
            <a:r>
              <a:rPr lang="en-US" sz="850" b="1" dirty="0">
                <a:solidFill>
                  <a:srgbClr val="00E676"/>
                </a:solidFill>
              </a:rPr>
              <a:t>6–12 mo</a:t>
            </a:r>
            <a:endParaRPr lang="en-US" sz="850" dirty="0"/>
          </a:p>
        </p:txBody>
      </p:sp>
      <p:sp>
        <p:nvSpPr>
          <p:cNvPr id="15" name="Shape 12"/>
          <p:cNvSpPr/>
          <p:nvPr/>
        </p:nvSpPr>
        <p:spPr>
          <a:xfrm>
            <a:off x="6903720" y="4663440"/>
            <a:ext cx="2011680" cy="73152"/>
          </a:xfrm>
          <a:prstGeom prst="rect">
            <a:avLst/>
          </a:prstGeom>
          <a:solidFill>
            <a:srgbClr val="76FF03"/>
          </a:solidFill>
          <a:ln/>
        </p:spPr>
      </p:sp>
      <p:sp>
        <p:nvSpPr>
          <p:cNvPr id="16" name="Text 13"/>
          <p:cNvSpPr/>
          <p:nvPr/>
        </p:nvSpPr>
        <p:spPr>
          <a:xfrm>
            <a:off x="6903720" y="4754880"/>
            <a:ext cx="2011680" cy="347472"/>
          </a:xfrm>
          <a:prstGeom prst="rect">
            <a:avLst/>
          </a:prstGeom>
          <a:noFill/>
          <a:ln/>
        </p:spPr>
        <p:txBody>
          <a:bodyPr wrap="square" rtlCol="0" anchor="ctr"/>
          <a:lstStyle/>
          <a:p>
            <a:pPr indent="0" marL="0">
              <a:buNone/>
            </a:pPr>
            <a:r>
              <a:rPr lang="en-US" sz="850" b="1" dirty="0">
                <a:solidFill>
                  <a:srgbClr val="76FF03"/>
                </a:solidFill>
              </a:rPr>
              <a:t>Phase 4</a:t>
            </a:r>
            <a:endParaRPr lang="en-US" sz="850" dirty="0"/>
          </a:p>
          <a:p>
            <a:pPr indent="0" marL="0">
              <a:buNone/>
            </a:pPr>
            <a:r>
              <a:rPr lang="en-US" sz="850" b="1" dirty="0">
                <a:solidFill>
                  <a:srgbClr val="76FF03"/>
                </a:solidFill>
              </a:rPr>
              <a:t>12–18 mo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Server Liquid Cooling: TMSBU Commercial Opportunity and Strategic Roadmap</dc:title>
  <dc:subject>PptxGenJS Presentation</dc:subject>
  <dc:creator>James Chen / TMSBU</dc:creator>
  <cp:lastModifiedBy>James Chen / TMSBU</cp:lastModifiedBy>
  <cp:revision>1</cp:revision>
  <dcterms:created xsi:type="dcterms:W3CDTF">2026-05-03T18:49:42Z</dcterms:created>
  <dcterms:modified xsi:type="dcterms:W3CDTF">2026-05-03T18:49:42Z</dcterms:modified>
</cp:coreProperties>
</file>