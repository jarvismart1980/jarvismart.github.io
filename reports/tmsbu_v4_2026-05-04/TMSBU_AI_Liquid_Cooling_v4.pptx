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AI Server Liquid Cooling is the defining thermal challenge of AI infrastructure era. V4 is typography-corrected for executive readability. Target audience: TMSBU leadership, Delta Group executives, key customers/partners. Core message: Liquid cooling is a business model transformation, not just a product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5 key messages in 5 cards. (1) GPU TDP trend: 400W→700W→1,400W by 2027+. (2) Liquid cooling adoption: 20%→60%+ by 2026. (3) Hybrid architecture: Air handles non-GPU; liquid handles GPU/CPU. TMSBU benefits from both. (4) SOM $1.8B = assumption, 14% share of SAM $12.8B — needs internal validation. (5) 6-18 month critical window — Tier-1 qualification cycles take 12-18 months, starting NOW is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Rack power density doubling each generation — from 10kW in 2022 to projected 160kW+ in 2027+. GB200 NVL72 at 80-130kW/rack is the key inflection where liquid cooling shifts from optional to mandatory. By Rubin (2027+), air cooling alone cannot handle the thermal load. Key inflection: (1) 2024 H100 = 40kW/rack, air still viable; (2) 2025 GB200 = 80-130kW/rack, liquid required; (3) 2027+ Rubin = 160kW+/rack, immersion cooling becomes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NOT 'air vs liquid' — it is 'air AND liquid.' Liquid handles GPU/CPU thermal load. Air remains essential for HBM memory (~1kW per module), PCBs, power delivery, and low-power accessories. This means TMSBU's fan business does NOT decline with liquid cooling — it grows. Radar chart compares air vs liquid across heat flux, rack power, energy efficiency, system complexity, capital cost, and service frequency. No single technology wins — the hybrid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Liquid cooling = system with 5 components. (1) Cold Plates: chip-level direct contact, thermal resistance &lt;0.1°C-in²/W. (2) CDUs: 130kW+ capacity per unit. (3) Manifolds: distribute coolant to multiple servers. (4) Quick Connectors: hot-swap without draining, leak rate &lt;0.5g/year. (5) Leak detection and monitoring. Temperature gradient: hot coolant 60°C+ from GPU exits cold plate, cooled to 5-10°C by CDU/chiller, returns to cold 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ladder: 4 layers. NOW (Component): Fan, HS, HP, VC — existing products. NEXT (Module): Cold Plate, Liquid Block, Hybrid Air+Liquid — natural from VC/HP expertise. PHASE 2 (System): CDU, Manifold, Quick Connector, Rack Cooling Kit — requires new capabilities. TARGET (Solution): Turn-key Thermal, PUE Optimization, Thermal TI, AMC Service — business model transformation. Highest value capture at Solution Layer, but each layer builds capability for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synergistic pillars: (1) Power Electronics — Delta's leading power supply means thermal integrated with power architecture from day one. (2) Thermal Management — TMSBU core business. (3) Control &amp; Monitoring — Delta sensor/control systems enable intelligent thermal management. (4) DC Infrastructure — Delta rack PDU, cooling towers enable facility-level integration. Center circle = compound advantage of all 4 working together — no competitor can replicate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funnel: TAM $39.1B by 2030 (entire AI DC liquid cooling market). SAM ~$12.8B (cold plates + CDU + manifolds + quick connectors). SOM $0.8B-$3.2B based on TMSBU market share assumptions. 3 scenarios: Conservative (8% share): $0.8B. Base case (14%): $1.8B. Aggressive (25%): $3.2B. SOM = 14% of SAM based on Delta's current share in server thermal components — needs internal validation from James and TMSBU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heatmap: 8 risks scored by Impact × Urgency. RED (HIGH×HIGH): Top 3 immediate priorities. (1) CDU capability: partner (CoolIT, Condair), acquire, or develop in-house — decision needed in Phase 1. (2) Leak reliability: quick connector qualification and leak detection non-negotiable. (3) Customer qualification cycle: 12-18 months — start NOW. ORANGE (HIGH×MED or MED×HIGH): Phase 2. GREEN (MED×LOW): Phase 3-4. China supply chain risk (cold plate/manifold price competition) is real but can be addressed through quality differentiation, not price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4-lane roadmap: Technology / Customer / Product / Business Model across 4 phases. Phase 1 (0-3M): Foundation — confirm target customers/platforms, benchmark thermal architectures, build product gap list, identify CDU/quick connector partners. Phase 2 (3-6M): Development — cold plate + hybrid module proto, establish thermal validation, start TI discussions, finalize TAM/SAM business case. Phase 3 (6-12M): Prototype &amp; Engage — CDU/manifold kit proto, qualify connectors, create rack-level demo, engage Tier-1. Phase 4 (12-18M): Scale — solution selling model, annual maintenance design, first reference customer, mass production preparation. KEY: Every phase builds toward becoming the customer's indispensable Thermal System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0"/>
            <a:ext cx="5303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2"/>
          <p:cNvSpPr/>
          <p:nvPr/>
        </p:nvSpPr>
        <p:spPr>
          <a:xfrm>
            <a:off x="320040" y="1005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Server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20040" y="16002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FF"/>
                </a:solidFill>
              </a:rPr>
              <a:t>Liquid Cooling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20040" y="21762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Strategic Roadmap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004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TMSBU Commercial Opportunity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617720"/>
            <a:ext cx="3840480" cy="52578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4663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Delta Electronics  ·  TMSBU  ·  Confidential  · 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46120" y="4709160"/>
            <a:ext cx="502920" cy="347472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A"/>
                </a:solidFill>
              </a:rPr>
              <a:t>V4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液冷是商業模式轉型，不是產品升級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41248"/>
            <a:ext cx="2697480" cy="144475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841248"/>
            <a:ext cx="2697480" cy="6400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932688"/>
            <a:ext cx="2514600" cy="201168"/>
          </a:xfrm>
          <a:prstGeom prst="rect">
            <a:avLst/>
          </a:prstGeom>
          <a:solidFill>
            <a:srgbClr val="00E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A"/>
                </a:solidFill>
              </a:rPr>
              <a:t>TREND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188720"/>
            <a:ext cx="2697480" cy="60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1,400W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8912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GPU TDP @ 2027+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841248"/>
            <a:ext cx="2697480" cy="1444752"/>
          </a:xfrm>
          <a:prstGeom prst="rect">
            <a:avLst/>
          </a:prstGeom>
          <a:solidFill>
            <a:srgbClr val="111827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841248"/>
            <a:ext cx="269748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932688"/>
            <a:ext cx="2514600" cy="201168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A"/>
                </a:solidFill>
              </a:rPr>
              <a:t>MARKET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8688" y="1188720"/>
            <a:ext cx="2697480" cy="60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60%+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10128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new AI DC by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841248"/>
            <a:ext cx="2697480" cy="1444752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841248"/>
            <a:ext cx="2697480" cy="6400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932688"/>
            <a:ext cx="2514600" cy="201168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A"/>
                </a:solidFill>
              </a:rPr>
              <a:t>HYBRID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9904" y="1188720"/>
            <a:ext cx="2697480" cy="60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BOTH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81344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TMSBU 風冷液冷皆受益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83080" y="2423160"/>
            <a:ext cx="2788920" cy="144475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2423160"/>
            <a:ext cx="2788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874520" y="2514600"/>
            <a:ext cx="26060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A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2770632"/>
            <a:ext cx="2788920" cy="60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$1.8B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74520" y="3456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SOM（需內部驗證）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2788920" cy="1444752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423160"/>
            <a:ext cx="278892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514600"/>
            <a:ext cx="2606040" cy="201168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A"/>
                </a:solidFill>
              </a:rPr>
              <a:t>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70632"/>
            <a:ext cx="2788920" cy="60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</a:rPr>
              <a:t>NOW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846320" y="3456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6-18M 關鍵窗口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5FF">
              <a:alpha val="7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FF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散熱瓶頸是 AI 基礎建設擴張的硬約束 — 誰能解決、誰就能贏得市佔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液冷市場 TAM $39.1B（CAGR 45%），現在是佈局關鍵時刻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Delta 集團唯一同時具備風冷+液冷+Power+Control 全段整合能力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Sources: MarketsandMarkets · Gartner · NVIDIA official specs · TMSBU analysis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Market Inflection: AI Compute Density Creates Thermal Bottleneck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GPU TDP 突破風冷散熱上限，散熱瓶頸成為 AI 基礎建設擴張的硬約束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171998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16285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2634386"/>
            <a:ext cx="2697480" cy="749808"/>
          </a:xfrm>
          <a:prstGeom prst="rect">
            <a:avLst/>
          </a:prstGeom>
          <a:solidFill>
            <a:srgbClr val="00E5FF">
              <a:alpha val="9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2634386"/>
            <a:ext cx="269748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" y="270753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</a:rPr>
              <a:t>1,400W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47472" y="307329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GPU TDP @ 2027+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18688" y="2634386"/>
            <a:ext cx="2697480" cy="749808"/>
          </a:xfrm>
          <a:prstGeom prst="rect">
            <a:avLst/>
          </a:prstGeom>
          <a:solidFill>
            <a:srgbClr val="00E676">
              <a:alpha val="9000"/>
            </a:srgbClr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2634386"/>
            <a:ext cx="2697480" cy="457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5" name="Text 12"/>
          <p:cNvSpPr/>
          <p:nvPr/>
        </p:nvSpPr>
        <p:spPr>
          <a:xfrm>
            <a:off x="3218688" y="270753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676"/>
                </a:solidFill>
              </a:rPr>
              <a:t>160kW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218688" y="307329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Rack Power @ 2027+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9904" y="2634386"/>
            <a:ext cx="2697480" cy="749808"/>
          </a:xfrm>
          <a:prstGeom prst="rect">
            <a:avLst/>
          </a:prstGeom>
          <a:solidFill>
            <a:srgbClr val="F59E0B">
              <a:alpha val="9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9904" y="2634386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089904" y="270753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$39.1B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6089904" y="307329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Liquid Cooling TAM by 2030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5FF">
              <a:alpha val="7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FF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GB200 NVL72（80–130kW/rack）是風冷物理瓶頸的轉捩點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Rubin（2027+）功率密度挑戰 160kW+，浸沒式冷卻可能是下一個轉折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散熱瓶頸等於誰能解決、誰就能贏得 AI 基礎建設市佔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Sources: NVIDIA GB200 specs · TrendForce · MarketsandMarkets · Rubin = AnandTech projection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Air Cooling Alone Is No Longer Enough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Not Air vs. Liquid — The Future Is Hybrid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502920"/>
          </a:xfrm>
          <a:prstGeom prst="rect">
            <a:avLst/>
          </a:prstGeom>
          <a:solidFill>
            <a:srgbClr val="4FC3F7">
              <a:alpha val="7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05072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💡 TMSBU BENEFIT: Fan / VC / HS demand rises with liquid cooling adoption — more non-GPU components need air cooling in liquid-cooled servers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Source: TMSBU thermal engineering analysis · NVIDIA GB200 architecture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Liquid Cooling Architecture Becomes the New Standard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液冷的價值在完整系統整合：Cold Plate → CDU → Manifold → Quick Connector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676">
              <a:alpha val="7000"/>
            </a:srgbClr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Cold Plate + CDU + Manifold + Quick Connector + Leak Detection = 完整液冷系統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系統整合複雜度是最高附加價值來源 — 不是單一零件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能提供完整系統的Vendor，才能拿下最高市佔與毛利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Source: Industry analysis · TMSBU thermal engineering · CoolIT / Rittal / Staubli public specs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TMSBU Portfolio Mapping: From Component to System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自然擴張路徑：零件 → 模組 → 系統 → 解決方案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676">
              <a:alpha val="7000"/>
            </a:srgbClr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CDU + Quick Connector + Manifold = TMSBU 最高價值的擴張方向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從零件報價升級到系統方案統包報價，改變商業模式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目標：成為客戶不可或缺的 Thermal System Partner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Source: TMSBU internal product portfolio analysis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Delta Group Synergy: Why TMSBU Can Win in Liquid Cooling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唯一同時具備風冷與液冷能力的供應商 + Delta 集團層級綜效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A855F7">
              <a:alpha val="7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55F7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Delta 集團唯一能 Chip-level → Rack-level → Facility-level 全段熱管理整合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Fan + Power + Control + DC Infra 集團綜效是競爭對手無法快速複製的護城河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Manufacturing scale + Global support network 支撐 Tier-1 客戶信任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Source: Delta Electronics public information · TMSBU analysis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Market Opportunity: TAM / SAM / SOM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系統層級解決方案擴大 TMSBU 可觸及市場規模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A855F7">
              <a:alpha val="7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55F7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TAM $39.1B（M&amp;M 2024）涵蓋整個 AI 資料中心液冷市場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SOM = 假設 TMSBU 滲透率 14% of SAM，需要 James 內部驗證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三情境：保守 $0.8B / 基準 $1.8B / 積極 $3.2B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⚠ SOM = assumption, needs internal TMSBU validation. TAM: MarketsandMarkets. SAM: analyst estimate. Scenarios: TMSBU analysis.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Capability Gap &amp; Risk Assessment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3 項最高優先風險：CDU 能力 / 洩漏可靠性 / 客戶認證週期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EF4444">
              <a:alpha val="7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CDU Strategy 是 Phase 1 最關鍵決策 — 合作 / 併購 / 自製，90 天內鎖定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洩漏可靠性是紅線：單次洩漏可摧毀 $50 萬 server，不可妥協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客戶認證週期 12-18 個月，現在啟動才能趕上 GB300/Rubin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Source: TMSBU internal risk assessment. Urgency = time sensitivity. Impact = business consequence if risk materializes.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Roadmap &amp; Recommended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46634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4 階段 6-18 個月 Roadmap：Phase 1 基礎 → Phase 4 規模化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731520"/>
            <a:ext cx="8449056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8449056" cy="3127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50392"/>
            <a:ext cx="8357616" cy="3035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676">
              <a:alpha val="7000"/>
            </a:srgbClr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4050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5488" y="4215384"/>
            <a:ext cx="81747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Phase 1 最關鍵決策：CDU 是內部開發 / 合作夥伴 / 併購？這將決定 TMSBU 液冷成敗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所有 Phase 終極目標：從 Component Supplier 轉型為 Thermal System Solution Provider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落後代價：失去 GB300/Rubin 平台供應商資格，影響未來 5-10 年競爭地位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Source: TMSBU strategic planning. Timelines indicative, subject to internal alignment.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Server Liquid Cooling: TMSBU Strategic Roadmap V4</dc:title>
  <dc:subject>PptxGenJS Presentation</dc:subject>
  <dc:creator>James Chen / TMSBU</dc:creator>
  <cp:lastModifiedBy>James Chen / TMSBU</cp:lastModifiedBy>
  <cp:revision>1</cp:revision>
  <dcterms:created xsi:type="dcterms:W3CDTF">2026-05-03T19:24:29Z</dcterms:created>
  <dcterms:modified xsi:type="dcterms:W3CDTF">2026-05-03T19:24:29Z</dcterms:modified>
</cp:coreProperties>
</file>