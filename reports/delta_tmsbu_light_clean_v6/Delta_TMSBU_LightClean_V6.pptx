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Cover: Left text panel + right cover image. Clean white + Delta Blue. No dark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Summary: 5 KPI cards — white background, Delta Blue numbers, clean consulting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Market Trends: Bar + line dual-axis chart, clean white bg. GB200 inflection annotated.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Delta Transformation: Revenue mix stacked bars + platform capability icons. Light clean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HVDC Architecture: 5-stage flow diagram + 5 capability cards. Clean corporate engineering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Portfolio: 4-layer ladder + revenue mix horizontal bars. Apple-style product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Projection: Revenue bar chart ($B) + Gross Margin line. Delta Blue bars, green line.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Competitive Advantages: Radar chart (Delta vs. Schneider vs. Vertiv) + 5 strength cards. Clean consulting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Assessment: Impact × Urgency heatmap + 3 immediate priorities. No long tables.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Strategic Roadmap: 4-lane × 5-phase horizontal timeline. Clean corporate future vision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0"/>
            <a:ext cx="59436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502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EB8"/>
                </a:solidFill>
              </a:rPr>
              <a:t>Delta Electronics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11480" y="804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TMSBU Strategy Report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1480" y="14173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1A1A2E"/>
                </a:solidFill>
              </a:rPr>
              <a:t>Powering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1A1A2E"/>
                </a:solidFill>
              </a:rPr>
              <a:t>the AI Era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1148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5EB8"/>
                </a:solidFill>
              </a:rPr>
              <a:t>HVDC Leadership &amp; AI Server Thermal Solutions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Light Clean Executive Report — May 2026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1480" y="3657600"/>
            <a:ext cx="2743200" cy="0"/>
          </a:xfrm>
          <a:prstGeom prst="line">
            <a:avLst/>
          </a:prstGeom>
          <a:noFill/>
          <a:ln w="25400">
            <a:solidFill>
              <a:srgbClr val="005E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794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Delta Electronics | TMSBU |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Delta Electronics | TMSBU 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64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Executive Summary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Five strategic imperatives for Delta TMSBU in the AI-powered data center era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353312"/>
            <a:ext cx="8138160" cy="320040"/>
          </a:xfrm>
          <a:prstGeom prst="rect">
            <a:avLst/>
          </a:prstGeom>
          <a:solidFill>
            <a:srgbClr val="EAF4FF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533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EB8"/>
                </a:solidFill>
              </a:rPr>
              <a:t>HVDC leadership + liquid cooling capability = strategic differentiator for Delta TMSBU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" y="187452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000000">
              <a:alpha val="400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175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82880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175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828800"/>
            <a:ext cx="1554480" cy="7315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084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EB8"/>
                </a:solidFill>
              </a:rPr>
              <a:t>$39.1B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AI Power TAM 2028E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3063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7280"/>
                </a:solidFill>
              </a:rPr>
              <a:t>Global AI server power</a:t>
            </a:r>
            <a:endParaRPr lang="en-US" sz="7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7280"/>
                </a:solidFill>
              </a:rPr>
              <a:t>infrastructure market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2920" y="3794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05EB8"/>
                </a:solidFill>
              </a:rPr>
              <a:t>▲ 24% CAGR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304288" y="187452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000000">
              <a:alpha val="400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175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67712" y="182880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175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67712" y="1828800"/>
            <a:ext cx="1554480" cy="7315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2084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5EB8"/>
                </a:solidFill>
              </a:rPr>
              <a:t>700W+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359152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GPU TDP Threshold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59152" y="3063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7280"/>
                </a:solidFill>
              </a:rPr>
              <a:t>GB200 NVL72 pushes</a:t>
            </a:r>
            <a:endParaRPr lang="en-US" sz="7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7280"/>
                </a:solidFill>
              </a:rPr>
              <a:t>thermal limits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267712" y="3794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05EB8"/>
                </a:solidFill>
              </a:rPr>
              <a:t>Stable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069080" y="187452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000000">
              <a:alpha val="400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175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032504" y="182880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175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032504" y="1828800"/>
            <a:ext cx="1554480" cy="73152"/>
          </a:xfrm>
          <a:prstGeom prst="rect">
            <a:avLst/>
          </a:prstGeom>
          <a:solidFill>
            <a:srgbClr val="0073D4"/>
          </a:solidFill>
          <a:ln w="12700">
            <a:solidFill>
              <a:srgbClr val="0073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32504" y="2084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3D4"/>
                </a:solidFill>
              </a:rPr>
              <a:t>60%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123944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Liquid Cooling 2026E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23944" y="3063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7280"/>
                </a:solidFill>
              </a:rPr>
              <a:t>Air cooling reaches</a:t>
            </a:r>
            <a:endParaRPr lang="en-US" sz="7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7280"/>
                </a:solidFill>
              </a:rPr>
              <a:t>physical ceiling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032504" y="3794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073D4"/>
                </a:solidFill>
              </a:rPr>
              <a:t>▲ from 20% in 2023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833872" y="187452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000000">
              <a:alpha val="400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175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97296" y="182880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175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97296" y="1828800"/>
            <a:ext cx="1554480" cy="73152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97296" y="2084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B85C"/>
                </a:solidFill>
              </a:rPr>
              <a:t>$3.2B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888736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TMSBU SOM (High)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88736" y="3063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7280"/>
                </a:solidFill>
              </a:rPr>
              <a:t>Serviceable opportunity</a:t>
            </a:r>
            <a:endParaRPr lang="en-US" sz="7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7280"/>
                </a:solidFill>
              </a:rPr>
              <a:t>for Delta TMSBU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797296" y="3794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CB85C"/>
                </a:solidFill>
              </a:rPr>
              <a:t>Scenario-based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598664" y="187452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000000">
              <a:alpha val="4000"/>
            </a:srgbClr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175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62088" y="1828800"/>
            <a:ext cx="1554480" cy="22860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3175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562088" y="1828800"/>
            <a:ext cx="1554480" cy="73152"/>
          </a:xfrm>
          <a:prstGeom prst="rect">
            <a:avLst/>
          </a:prstGeom>
          <a:solidFill>
            <a:srgbClr val="1A6BAA"/>
          </a:solidFill>
          <a:ln w="12700">
            <a:solidFill>
              <a:srgbClr val="1A6B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62088" y="20848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6BAA"/>
                </a:solidFill>
              </a:rPr>
              <a:t>BBB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653528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2E"/>
                </a:solidFill>
              </a:rPr>
              <a:t>Credit Rating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653528" y="3063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7280"/>
                </a:solidFill>
              </a:rPr>
              <a:t>Delta investment-grade</a:t>
            </a:r>
            <a:endParaRPr lang="en-US" sz="7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750" dirty="0">
                <a:solidFill>
                  <a:srgbClr val="6B7280"/>
                </a:solidFill>
              </a:rPr>
              <a:t>financial strength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562088" y="3794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1A6BAA"/>
                </a:solidFill>
              </a:rPr>
              <a:t>Stable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02920" y="4251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A3AF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Delta Electronics | TMSBU 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64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AI Market Trends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Rack power density accelerating — liquid cooling adoption follows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813816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498848"/>
            <a:ext cx="8412480" cy="475488"/>
          </a:xfrm>
          <a:prstGeom prst="rect">
            <a:avLst/>
          </a:prstGeom>
          <a:solidFill>
            <a:srgbClr val="EAF4FF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4498848"/>
            <a:ext cx="91440" cy="47548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4988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EB8"/>
                </a:solidFill>
              </a:rPr>
              <a:t>GB200 inflection (2025E): GPU TDP 1,000W+ triggers rack power &gt;80kW — liquid cooling is the only viable path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Delta Electronics | TMSBU 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64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Delta Transformation Journey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From power supply to AI infrastructure total solutions provider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325880"/>
            <a:ext cx="832104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498848"/>
            <a:ext cx="8412480" cy="475488"/>
          </a:xfrm>
          <a:prstGeom prst="rect">
            <a:avLst/>
          </a:prstGeom>
          <a:solidFill>
            <a:srgbClr val="EAF4FF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4498848"/>
            <a:ext cx="91440" cy="47548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4988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EB8"/>
                </a:solidFill>
              </a:rPr>
              <a:t>2021–2026E: Thermal Solutions share nearly doubles from 18% to 48% of Delta TMSBU portfolio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Delta Electronics | TMSBU 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64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HVDC Architecture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From grid to chip — Delta's integrated power-to-thermal value chain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325880"/>
            <a:ext cx="832104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498848"/>
            <a:ext cx="8412480" cy="475488"/>
          </a:xfrm>
          <a:prstGeom prst="rect">
            <a:avLst/>
          </a:prstGeom>
          <a:solidFill>
            <a:srgbClr val="EAF4FF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4498848"/>
            <a:ext cx="91440" cy="47548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4988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EB8"/>
                </a:solidFill>
              </a:rPr>
              <a:t>Delta's HVDC architecture enables 130kW+ rack power with industry-leading 99.1% efficiency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Delta Electronics | TMSBU 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64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Product Portfolio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Four-layer value ladder: Component → Module → System → Solution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325880"/>
            <a:ext cx="832104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498848"/>
            <a:ext cx="8412480" cy="475488"/>
          </a:xfrm>
          <a:prstGeom prst="rect">
            <a:avLst/>
          </a:prstGeom>
          <a:solidFill>
            <a:srgbClr val="EAF4FF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4498848"/>
            <a:ext cx="91440" cy="47548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4988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EB8"/>
                </a:solidFill>
              </a:rPr>
              <a:t>Each layer adds customer value: Components (30%) → Modules (35%) → Systems (25%) → Solutions (10%)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Delta Electronics | TMSBU 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64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Financial Projection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Revenue growth driven by AI thermal solutions; margin expansion from system mix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80160"/>
            <a:ext cx="813816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498848"/>
            <a:ext cx="8412480" cy="475488"/>
          </a:xfrm>
          <a:prstGeom prst="rect">
            <a:avLst/>
          </a:prstGeom>
          <a:solidFill>
            <a:srgbClr val="EAF4FF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4498848"/>
            <a:ext cx="91440" cy="47548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4988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EB8"/>
                </a:solidFill>
              </a:rPr>
              <a:t>Revenue: $3.8B (2022) → $7.2B (2027E) | Gross Margin: 33% → 41% | EPS growth +125%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Delta Electronics | TMSBU 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64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Competitive Advantages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Delta TMSBU vs. global competitors — six-dimension strategic positioning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325880"/>
            <a:ext cx="8366760" cy="3154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498848"/>
            <a:ext cx="8412480" cy="475488"/>
          </a:xfrm>
          <a:prstGeom prst="rect">
            <a:avLst/>
          </a:prstGeom>
          <a:solidFill>
            <a:srgbClr val="EAF4FF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4498848"/>
            <a:ext cx="91440" cy="47548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4988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EB8"/>
                </a:solidFill>
              </a:rPr>
              <a:t>Delta's competitive moat: integrated power + thermal + control across the full AI infrastructure stack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Delta Electronics | TMSBU 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64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Capability Gap &amp; Risk Assessment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Impact × Urgency matrix — strategic risk prioritization for TMSBU leadership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325880"/>
            <a:ext cx="8366760" cy="3154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498848"/>
            <a:ext cx="8412480" cy="475488"/>
          </a:xfrm>
          <a:prstGeom prst="rect">
            <a:avLst/>
          </a:prstGeom>
          <a:solidFill>
            <a:srgbClr val="EAF4FF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4498848"/>
            <a:ext cx="91440" cy="47548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4988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EB8"/>
                </a:solidFill>
              </a:rPr>
              <a:t>Top risk: CDU strategy (90-day decision window) | Leak reliability (6-month qualification) | Tier-1 pipeline (12-month)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Delta Electronics | TMSBU Strategy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64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Strategic Roadmap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2026–2030: Four-lane execution plan — Technology, Customer, Product, Business Model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325880"/>
            <a:ext cx="8366760" cy="3154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4498848"/>
            <a:ext cx="8412480" cy="475488"/>
          </a:xfrm>
          <a:prstGeom prst="rect">
            <a:avLst/>
          </a:prstGeom>
          <a:solidFill>
            <a:srgbClr val="EAF4FF"/>
          </a:solidFill>
          <a:ln w="6350">
            <a:solidFill>
              <a:srgbClr val="005E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4498848"/>
            <a:ext cx="91440" cy="475488"/>
          </a:xfrm>
          <a:prstGeom prst="rect">
            <a:avLst/>
          </a:prstGeom>
          <a:solidFill>
            <a:srgbClr val="005EB8"/>
          </a:solidFill>
          <a:ln w="12700">
            <a:solidFill>
              <a:srgbClr val="005E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49884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5EB8"/>
                </a:solidFill>
              </a:rPr>
              <a:t>Milestones: 2026 CDU launch → 2028 system solution → 2030 complete AI infrastructure portfolio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Delta TMSBU Strategy — Light Clean Executive V6</dc:title>
  <dc:subject>PptxGenJS Presentation</dc:subject>
  <dc:creator>Delta Electronics TMSBU</dc:creator>
  <cp:lastModifiedBy>Delta Electronics TMSBU</cp:lastModifiedBy>
  <cp:revision>1</cp:revision>
  <dcterms:created xsi:type="dcterms:W3CDTF">2026-05-09T08:29:46Z</dcterms:created>
  <dcterms:modified xsi:type="dcterms:W3CDTF">2026-05-09T08:29:46Z</dcterms:modified>
</cp:coreProperties>
</file>